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</p:sldMasterIdLst>
  <p:notesMasterIdLst>
    <p:notesMasterId r:id="rId33"/>
  </p:notesMasterIdLst>
  <p:sldIdLst>
    <p:sldId id="306" r:id="rId3"/>
    <p:sldId id="28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7" r:id="rId13"/>
    <p:sldId id="272" r:id="rId14"/>
    <p:sldId id="274" r:id="rId15"/>
    <p:sldId id="275" r:id="rId16"/>
    <p:sldId id="281" r:id="rId17"/>
    <p:sldId id="282" r:id="rId18"/>
    <p:sldId id="289" r:id="rId19"/>
    <p:sldId id="287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7" r:id="rId31"/>
    <p:sldId id="308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2" autoAdjust="0"/>
    <p:restoredTop sz="94660"/>
  </p:normalViewPr>
  <p:slideViewPr>
    <p:cSldViewPr>
      <p:cViewPr>
        <p:scale>
          <a:sx n="76" d="100"/>
          <a:sy n="76" d="100"/>
        </p:scale>
        <p:origin x="-1242" y="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388B8-F9EC-4D93-8269-E4BEDAA0591F}" type="datetimeFigureOut">
              <a:rPr lang="en-US" smtClean="0"/>
              <a:pPr/>
              <a:t>12/28/2020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F3239-8E07-423F-895D-25CB5BAEC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16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416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124744"/>
            <a:ext cx="9144000" cy="5733256"/>
          </a:xfrm>
          <a:prstGeom prst="rect">
            <a:avLst/>
          </a:prstGeom>
          <a:solidFill>
            <a:schemeClr val="bg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16778"/>
            <a:ext cx="9144000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 smtClean="0"/>
              <a:t> Free PPT _ Click to add title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67544" y="2276872"/>
            <a:ext cx="8229600" cy="3600400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401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19672" y="0"/>
            <a:ext cx="7524328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 smtClean="0"/>
              <a:t>Free PPT _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123728" y="1268760"/>
            <a:ext cx="6563072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2134072" y="1844824"/>
            <a:ext cx="6563072" cy="4147865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6818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12/28/2020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86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12/28/2020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86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12/28/2020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33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12/28/2020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90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12/28/2020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11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12/28/2020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19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12/28/2020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1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12/28/2020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84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12/28/2020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35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12/28/2020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7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12/28/2020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5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33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spcBef>
          <a:spcPct val="0"/>
        </a:spcBef>
        <a:buNone/>
        <a:defRPr sz="40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CCD61-643D-44A5-A450-3A42A50CBC1E}" type="datetimeFigureOut">
              <a:rPr lang="en-US" smtClean="0"/>
              <a:pPr/>
              <a:t>12/28/2020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5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Syntactic </a:t>
            </a:r>
            <a:r>
              <a:rPr lang="en-US" dirty="0" smtClean="0"/>
              <a:t>&amp; statistical parsing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4786" y="18197"/>
            <a:ext cx="2322861" cy="173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96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1769660" y="205237"/>
            <a:ext cx="5638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600" smtClean="0"/>
              <a:t>Syntactic &amp; statistical Parsing</a:t>
            </a:r>
            <a:endParaRPr lang="en-US"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885" y="1284738"/>
            <a:ext cx="3891279" cy="42601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6235" algn="l"/>
              </a:tabLst>
            </a:pPr>
            <a:r>
              <a:rPr sz="2400" dirty="0">
                <a:latin typeface="Arial"/>
                <a:cs typeface="Arial"/>
              </a:rPr>
              <a:t>What </a:t>
            </a:r>
            <a:r>
              <a:rPr sz="2400" spc="-10" dirty="0" smtClean="0">
                <a:latin typeface="Arial"/>
                <a:cs typeface="Arial"/>
              </a:rPr>
              <a:t>is</a:t>
            </a:r>
            <a:r>
              <a:rPr lang="en-US" sz="2400" spc="-10" dirty="0" smtClean="0">
                <a:latin typeface="Arial"/>
                <a:cs typeface="Arial"/>
              </a:rPr>
              <a:t> Syntactic parsing</a:t>
            </a:r>
            <a:r>
              <a:rPr sz="2400" spc="-5" dirty="0" smtClean="0">
                <a:latin typeface="Arial"/>
                <a:cs typeface="Arial"/>
              </a:rPr>
              <a:t>,</a:t>
            </a:r>
            <a:endParaRPr sz="2400" dirty="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Wingdings"/>
              <a:buChar char=""/>
              <a:tabLst>
                <a:tab pos="356235" algn="l"/>
              </a:tabLst>
            </a:pPr>
            <a:r>
              <a:rPr lang="en-US" sz="2400" dirty="0" smtClean="0">
                <a:latin typeface="Arial"/>
                <a:cs typeface="Arial"/>
              </a:rPr>
              <a:t>Ambiguity</a:t>
            </a:r>
            <a:r>
              <a:rPr sz="2400" spc="-85" dirty="0" smtClean="0">
                <a:latin typeface="Arial"/>
                <a:cs typeface="Arial"/>
              </a:rPr>
              <a:t>,</a:t>
            </a:r>
            <a:endParaRPr sz="2400" dirty="0">
              <a:latin typeface="Arial"/>
              <a:cs typeface="Arial"/>
            </a:endParaRPr>
          </a:p>
          <a:p>
            <a:pPr marL="415290" lvl="1" indent="-148590">
              <a:lnSpc>
                <a:spcPct val="100000"/>
              </a:lnSpc>
              <a:spcBef>
                <a:spcPts val="470"/>
              </a:spcBef>
              <a:buChar char="-"/>
              <a:tabLst>
                <a:tab pos="415925" algn="l"/>
              </a:tabLst>
            </a:pPr>
            <a:r>
              <a:rPr lang="en-US" sz="2000" spc="-5" dirty="0" smtClean="0">
                <a:latin typeface="Times New Roman"/>
                <a:cs typeface="Times New Roman"/>
              </a:rPr>
              <a:t>Attachment Ambiguity</a:t>
            </a:r>
            <a:r>
              <a:rPr sz="2000" spc="-5" dirty="0" smtClean="0">
                <a:latin typeface="Times New Roman"/>
                <a:cs typeface="Times New Roman"/>
              </a:rPr>
              <a:t>,</a:t>
            </a:r>
            <a:endParaRPr sz="2000" dirty="0">
              <a:latin typeface="Times New Roman"/>
              <a:cs typeface="Times New Roman"/>
            </a:endParaRPr>
          </a:p>
          <a:p>
            <a:pPr marL="415290" lvl="1" indent="-148590">
              <a:lnSpc>
                <a:spcPct val="100000"/>
              </a:lnSpc>
              <a:spcBef>
                <a:spcPts val="480"/>
              </a:spcBef>
              <a:buChar char="-"/>
              <a:tabLst>
                <a:tab pos="415925" algn="l"/>
              </a:tabLst>
            </a:pPr>
            <a:r>
              <a:rPr lang="en-US" sz="2000" spc="-5" dirty="0" smtClean="0">
                <a:latin typeface="Times New Roman"/>
                <a:cs typeface="Times New Roman"/>
              </a:rPr>
              <a:t>Coordination Ambiguity.</a:t>
            </a:r>
            <a:endParaRPr sz="2000" dirty="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585"/>
              </a:spcBef>
              <a:buFont typeface="Wingdings"/>
              <a:buChar char=""/>
              <a:tabLst>
                <a:tab pos="356235" algn="l"/>
              </a:tabLst>
            </a:pPr>
            <a:r>
              <a:rPr lang="en-US" sz="2400" dirty="0" smtClean="0">
                <a:latin typeface="Arial"/>
                <a:cs typeface="Arial"/>
              </a:rPr>
              <a:t>CKY Parsing</a:t>
            </a:r>
            <a:endParaRPr sz="2400" dirty="0" smtClean="0">
              <a:latin typeface="Arial"/>
              <a:cs typeface="Arial"/>
            </a:endParaRPr>
          </a:p>
          <a:p>
            <a:pPr marL="410209" lvl="1" indent="-143510">
              <a:lnSpc>
                <a:spcPct val="100000"/>
              </a:lnSpc>
              <a:spcBef>
                <a:spcPts val="480"/>
              </a:spcBef>
              <a:buChar char="-"/>
              <a:tabLst>
                <a:tab pos="410845" algn="l"/>
              </a:tabLst>
            </a:pPr>
            <a:r>
              <a:rPr lang="en-US" sz="2000" spc="-35" dirty="0" smtClean="0">
                <a:latin typeface="Times New Roman"/>
                <a:cs typeface="Times New Roman"/>
              </a:rPr>
              <a:t>Conversion to Chomsky Normal Form, </a:t>
            </a:r>
          </a:p>
          <a:p>
            <a:pPr marL="410209" lvl="1" indent="-143510">
              <a:lnSpc>
                <a:spcPct val="100000"/>
              </a:lnSpc>
              <a:spcBef>
                <a:spcPts val="480"/>
              </a:spcBef>
              <a:buChar char="-"/>
              <a:tabLst>
                <a:tab pos="410845" algn="l"/>
              </a:tabLst>
            </a:pPr>
            <a:r>
              <a:rPr lang="en-US" sz="2000" dirty="0" smtClean="0">
                <a:latin typeface="Times New Roman"/>
                <a:cs typeface="Times New Roman"/>
              </a:rPr>
              <a:t>CKY Recognition.</a:t>
            </a:r>
            <a:endParaRPr sz="2000" dirty="0">
              <a:latin typeface="Times New Roman"/>
              <a:cs typeface="Times New Roman"/>
            </a:endParaRPr>
          </a:p>
          <a:p>
            <a:pPr marL="415290" lvl="1" indent="-148590">
              <a:lnSpc>
                <a:spcPct val="100000"/>
              </a:lnSpc>
              <a:spcBef>
                <a:spcPts val="480"/>
              </a:spcBef>
              <a:buChar char="-"/>
              <a:tabLst>
                <a:tab pos="415925" algn="l"/>
              </a:tabLst>
            </a:pPr>
            <a:r>
              <a:rPr lang="en-US" sz="2000" dirty="0" smtClean="0">
                <a:latin typeface="Times New Roman"/>
                <a:cs typeface="Times New Roman"/>
              </a:rPr>
              <a:t>CKY Parsing</a:t>
            </a:r>
          </a:p>
          <a:p>
            <a:pPr marL="415290" lvl="1" indent="-148590">
              <a:lnSpc>
                <a:spcPct val="100000"/>
              </a:lnSpc>
              <a:spcBef>
                <a:spcPts val="480"/>
              </a:spcBef>
              <a:buChar char="-"/>
              <a:tabLst>
                <a:tab pos="415925" algn="l"/>
              </a:tabLst>
            </a:pPr>
            <a:r>
              <a:rPr lang="en-US" sz="2000" dirty="0" smtClean="0">
                <a:latin typeface="Times New Roman"/>
                <a:cs typeface="Times New Roman"/>
              </a:rPr>
              <a:t>CKY in Practice</a:t>
            </a:r>
            <a:endParaRPr lang="en-US" sz="2000" dirty="0">
              <a:latin typeface="Times New Roman"/>
              <a:cs typeface="Times New Roman"/>
            </a:endParaRPr>
          </a:p>
          <a:p>
            <a:pPr marL="12065">
              <a:lnSpc>
                <a:spcPct val="100000"/>
              </a:lnSpc>
              <a:spcBef>
                <a:spcPts val="585"/>
              </a:spcBef>
              <a:tabLst>
                <a:tab pos="356235" algn="l"/>
              </a:tabLst>
            </a:pPr>
            <a:endParaRPr lang="en-US" sz="2400" dirty="0">
              <a:latin typeface="Arial"/>
              <a:cs typeface="Arial"/>
            </a:endParaRPr>
          </a:p>
        </p:txBody>
      </p:sp>
      <p:sp>
        <p:nvSpPr>
          <p:cNvPr id="4" name="object 5"/>
          <p:cNvSpPr txBox="1"/>
          <p:nvPr/>
        </p:nvSpPr>
        <p:spPr>
          <a:xfrm>
            <a:off x="1769660" y="6553200"/>
            <a:ext cx="6160262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10" dirty="0">
                <a:latin typeface="Times New Roman"/>
                <a:cs typeface="Times New Roman"/>
              </a:rPr>
              <a:t>@Copyrights: </a:t>
            </a:r>
            <a:r>
              <a:rPr sz="1000" spc="-5" dirty="0">
                <a:latin typeface="Times New Roman"/>
                <a:cs typeface="Times New Roman"/>
              </a:rPr>
              <a:t>Natural </a:t>
            </a:r>
            <a:r>
              <a:rPr sz="1000" spc="-10" dirty="0">
                <a:latin typeface="Times New Roman"/>
                <a:cs typeface="Times New Roman"/>
              </a:rPr>
              <a:t>Language </a:t>
            </a:r>
            <a:r>
              <a:rPr sz="1000" spc="-5" dirty="0">
                <a:latin typeface="Times New Roman"/>
                <a:cs typeface="Times New Roman"/>
              </a:rPr>
              <a:t>Processing (NLP) </a:t>
            </a:r>
            <a:r>
              <a:rPr lang="en-US" sz="1000" spc="-5" dirty="0" smtClean="0">
                <a:latin typeface="Times New Roman"/>
                <a:cs typeface="Times New Roman"/>
              </a:rPr>
              <a:t>syntactic &amp; statistical parsing (Group no # 8)</a:t>
            </a:r>
            <a:endParaRPr sz="1000" dirty="0">
              <a:latin typeface="Times New Roman"/>
              <a:cs typeface="Times New Roman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4724400" y="1213558"/>
            <a:ext cx="4036060" cy="432939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60"/>
              </a:spcBef>
              <a:buFont typeface="Wingdings"/>
              <a:buChar char=""/>
              <a:tabLst>
                <a:tab pos="355600" algn="l"/>
              </a:tabLst>
            </a:pPr>
            <a:r>
              <a:rPr lang="en-US" sz="2400" spc="-5" dirty="0" smtClean="0">
                <a:latin typeface="Arial"/>
                <a:cs typeface="Arial"/>
              </a:rPr>
              <a:t>Probabilistic Context-Free Grammars</a:t>
            </a:r>
            <a:r>
              <a:rPr sz="2400" spc="-5" dirty="0" smtClean="0">
                <a:latin typeface="Arial"/>
                <a:cs typeface="Arial"/>
              </a:rPr>
              <a:t>,</a:t>
            </a:r>
            <a:endParaRPr sz="2000" dirty="0">
              <a:latin typeface="Times New Roman"/>
              <a:cs typeface="Times New Roman"/>
            </a:endParaRPr>
          </a:p>
          <a:p>
            <a:pPr marL="414655" lvl="1" indent="-148590">
              <a:lnSpc>
                <a:spcPct val="100000"/>
              </a:lnSpc>
              <a:spcBef>
                <a:spcPts val="480"/>
              </a:spcBef>
              <a:buChar char="-"/>
              <a:tabLst>
                <a:tab pos="415290" algn="l"/>
              </a:tabLst>
            </a:pPr>
            <a:r>
              <a:rPr lang="en-US" sz="2000" spc="-5" dirty="0" smtClean="0">
                <a:latin typeface="Times New Roman"/>
                <a:cs typeface="Times New Roman"/>
              </a:rPr>
              <a:t>PCFGs for Language Modeling</a:t>
            </a:r>
            <a:r>
              <a:rPr sz="2000" spc="-5" dirty="0" smtClean="0">
                <a:latin typeface="Times New Roman"/>
                <a:cs typeface="Times New Roman"/>
              </a:rPr>
              <a:t>,</a:t>
            </a:r>
            <a:endParaRPr sz="2000" dirty="0">
              <a:latin typeface="Times New Roman"/>
              <a:cs typeface="Times New Roman"/>
            </a:endParaRPr>
          </a:p>
          <a:p>
            <a:pPr marL="414655" lvl="1" indent="-148590">
              <a:lnSpc>
                <a:spcPct val="100000"/>
              </a:lnSpc>
              <a:spcBef>
                <a:spcPts val="484"/>
              </a:spcBef>
              <a:buChar char="-"/>
              <a:tabLst>
                <a:tab pos="415290" algn="l"/>
              </a:tabLst>
            </a:pPr>
            <a:r>
              <a:rPr lang="en-US" sz="2000" spc="-5" dirty="0" smtClean="0">
                <a:latin typeface="Times New Roman"/>
                <a:cs typeface="Times New Roman"/>
              </a:rPr>
              <a:t>Probabilistic CKY Parsing of PCFGs</a:t>
            </a:r>
            <a:r>
              <a:rPr sz="2000" spc="-5" dirty="0" smtClean="0">
                <a:latin typeface="Times New Roman"/>
                <a:cs typeface="Times New Roman"/>
              </a:rPr>
              <a:t>,</a:t>
            </a:r>
            <a:endParaRPr sz="2000" dirty="0">
              <a:latin typeface="Times New Roman"/>
              <a:cs typeface="Times New Roman"/>
            </a:endParaRPr>
          </a:p>
          <a:p>
            <a:pPr marL="414655" lvl="1" indent="-148590">
              <a:lnSpc>
                <a:spcPct val="100000"/>
              </a:lnSpc>
              <a:spcBef>
                <a:spcPts val="480"/>
              </a:spcBef>
              <a:buChar char="-"/>
              <a:tabLst>
                <a:tab pos="415290" algn="l"/>
              </a:tabLst>
            </a:pPr>
            <a:r>
              <a:rPr lang="en-US" sz="2000" spc="-5" dirty="0" smtClean="0">
                <a:latin typeface="Times New Roman"/>
                <a:cs typeface="Times New Roman"/>
              </a:rPr>
              <a:t>Problems with PCFGs</a:t>
            </a:r>
            <a:r>
              <a:rPr sz="2000" spc="-5" dirty="0" smtClean="0">
                <a:latin typeface="Times New Roman"/>
                <a:cs typeface="Times New Roman"/>
              </a:rPr>
              <a:t>,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85"/>
              </a:spcBef>
              <a:buFont typeface="Wingdings"/>
              <a:buChar char=""/>
              <a:tabLst>
                <a:tab pos="355600" algn="l"/>
              </a:tabLst>
            </a:pPr>
            <a:r>
              <a:rPr lang="en-US" sz="2400" dirty="0">
                <a:latin typeface="Arial"/>
                <a:cs typeface="Arial"/>
              </a:rPr>
              <a:t>Probabilistic CCG </a:t>
            </a:r>
            <a:r>
              <a:rPr lang="en-US" sz="2400" dirty="0" smtClean="0">
                <a:latin typeface="Arial"/>
                <a:cs typeface="Arial"/>
              </a:rPr>
              <a:t>Parsing</a:t>
            </a:r>
          </a:p>
          <a:p>
            <a:pPr marL="414655" lvl="1" indent="-148590">
              <a:lnSpc>
                <a:spcPct val="100000"/>
              </a:lnSpc>
              <a:spcBef>
                <a:spcPts val="480"/>
              </a:spcBef>
              <a:buChar char="-"/>
              <a:tabLst>
                <a:tab pos="41529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Ambiguity in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CCG</a:t>
            </a:r>
          </a:p>
          <a:p>
            <a:pPr marL="414655" lvl="1" indent="-148590">
              <a:lnSpc>
                <a:spcPct val="100000"/>
              </a:lnSpc>
              <a:spcBef>
                <a:spcPts val="480"/>
              </a:spcBef>
              <a:buChar char="-"/>
              <a:tabLst>
                <a:tab pos="415290" algn="l"/>
              </a:tabLst>
            </a:pPr>
            <a:r>
              <a:rPr lang="en-US" sz="2000" spc="-5" dirty="0" smtClean="0">
                <a:latin typeface="Times New Roman"/>
                <a:cs typeface="Times New Roman"/>
              </a:rPr>
              <a:t>Managing ambiguity in CCG</a:t>
            </a:r>
            <a:endParaRPr lang="en-US" sz="2000" dirty="0" smtClean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585"/>
              </a:spcBef>
              <a:buFont typeface="Wingdings"/>
              <a:buChar char=""/>
              <a:tabLst>
                <a:tab pos="355600" algn="l"/>
              </a:tabLst>
            </a:pPr>
            <a:r>
              <a:rPr lang="en-US" sz="2400" dirty="0" smtClean="0">
                <a:latin typeface="Arial"/>
                <a:cs typeface="Arial"/>
              </a:rPr>
              <a:t> Code Implementations</a:t>
            </a:r>
            <a:endParaRPr lang="en-US"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  <a:tabLst>
                <a:tab pos="355600" algn="l"/>
              </a:tabLst>
            </a:pP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Syntactic Parsing (Constituency)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refers to the breaking down of a text or sentences into its constituents. 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Composed of: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Terminals(words)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Non-terminals(phrases/sentences)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Parse trees are used in grammar checking while word processing.</a:t>
            </a:r>
          </a:p>
          <a:p>
            <a:endParaRPr lang="en-US" dirty="0"/>
          </a:p>
        </p:txBody>
      </p:sp>
      <p:sp>
        <p:nvSpPr>
          <p:cNvPr id="5" name="object 5"/>
          <p:cNvSpPr txBox="1"/>
          <p:nvPr/>
        </p:nvSpPr>
        <p:spPr>
          <a:xfrm>
            <a:off x="1769660" y="6553200"/>
            <a:ext cx="6160262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10" dirty="0">
                <a:latin typeface="Times New Roman"/>
                <a:cs typeface="Times New Roman"/>
              </a:rPr>
              <a:t>@Copyrights: </a:t>
            </a:r>
            <a:r>
              <a:rPr sz="1000" spc="-5" dirty="0">
                <a:latin typeface="Times New Roman"/>
                <a:cs typeface="Times New Roman"/>
              </a:rPr>
              <a:t>Natural </a:t>
            </a:r>
            <a:r>
              <a:rPr sz="1000" spc="-10" dirty="0">
                <a:latin typeface="Times New Roman"/>
                <a:cs typeface="Times New Roman"/>
              </a:rPr>
              <a:t>Language </a:t>
            </a:r>
            <a:r>
              <a:rPr sz="1000" spc="-5" dirty="0">
                <a:latin typeface="Times New Roman"/>
                <a:cs typeface="Times New Roman"/>
              </a:rPr>
              <a:t>Processing (NLP) </a:t>
            </a:r>
            <a:r>
              <a:rPr lang="en-US" sz="1000" spc="-5" dirty="0" smtClean="0">
                <a:latin typeface="Times New Roman"/>
                <a:cs typeface="Times New Roman"/>
              </a:rPr>
              <a:t>syntactic &amp; statistical parsing (Group no # 8)</a:t>
            </a:r>
            <a:endParaRPr sz="1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Ambiguity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924800" cy="1523999"/>
          </a:xfrm>
        </p:spPr>
        <p:txBody>
          <a:bodyPr>
            <a:normAutofit fontScale="85000" lnSpcReduction="20000"/>
          </a:bodyPr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ambiguity 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similar to the grammatical phrase structuring.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occurs when a sentence has a grammar that can be parsed more than once for e.g. </a:t>
            </a:r>
          </a:p>
          <a:p>
            <a:endParaRPr lang="en-US" dirty="0"/>
          </a:p>
        </p:txBody>
      </p:sp>
      <p:pic>
        <p:nvPicPr>
          <p:cNvPr id="1026" name="Picture 2" descr="C:\Users\User\Desktop\NLP PPT\ch08-tree-6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3438250"/>
            <a:ext cx="7068235" cy="2505350"/>
          </a:xfrm>
          <a:prstGeom prst="rect">
            <a:avLst/>
          </a:prstGeom>
          <a:noFill/>
        </p:spPr>
      </p:pic>
      <p:sp>
        <p:nvSpPr>
          <p:cNvPr id="5" name="object 5"/>
          <p:cNvSpPr txBox="1"/>
          <p:nvPr/>
        </p:nvSpPr>
        <p:spPr>
          <a:xfrm>
            <a:off x="1769660" y="6553200"/>
            <a:ext cx="6160262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10" dirty="0">
                <a:latin typeface="Times New Roman"/>
                <a:cs typeface="Times New Roman"/>
              </a:rPr>
              <a:t>@Copyrights: </a:t>
            </a:r>
            <a:r>
              <a:rPr sz="1000" spc="-5" dirty="0">
                <a:latin typeface="Times New Roman"/>
                <a:cs typeface="Times New Roman"/>
              </a:rPr>
              <a:t>Natural </a:t>
            </a:r>
            <a:r>
              <a:rPr sz="1000" spc="-10" dirty="0">
                <a:latin typeface="Times New Roman"/>
                <a:cs typeface="Times New Roman"/>
              </a:rPr>
              <a:t>Language </a:t>
            </a:r>
            <a:r>
              <a:rPr sz="1000" spc="-5" dirty="0">
                <a:latin typeface="Times New Roman"/>
                <a:cs typeface="Times New Roman"/>
              </a:rPr>
              <a:t>Processing (NLP) </a:t>
            </a:r>
            <a:r>
              <a:rPr lang="en-US" sz="1000" spc="-5" dirty="0" smtClean="0">
                <a:latin typeface="Times New Roman"/>
                <a:cs typeface="Times New Roman"/>
              </a:rPr>
              <a:t>syntactic &amp; statistical parsing (Group no # 8)</a:t>
            </a:r>
            <a:endParaRPr sz="1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User\Desktop\NLP PPT\English-grammar-and-lexicon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6733" y="1828800"/>
            <a:ext cx="8961122" cy="4800601"/>
          </a:xfrm>
          <a:prstGeom prst="rect">
            <a:avLst/>
          </a:prstGeom>
          <a:noFill/>
        </p:spPr>
      </p:pic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305800" cy="15240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two types of ambiguity are: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Attachment ambiguity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Constituent or a part of a sentence that can be attached to a parse tree multiple times.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Coordination ambiguity: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Conjunctions are used to join two different phrases. e.g. the thief shot the jeweler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cop panicked.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5"/>
          <p:cNvSpPr txBox="1"/>
          <p:nvPr/>
        </p:nvSpPr>
        <p:spPr>
          <a:xfrm>
            <a:off x="1769660" y="6553200"/>
            <a:ext cx="6160262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10" dirty="0">
                <a:latin typeface="Times New Roman"/>
                <a:cs typeface="Times New Roman"/>
              </a:rPr>
              <a:t>@Copyrights: </a:t>
            </a:r>
            <a:r>
              <a:rPr sz="1000" spc="-5" dirty="0">
                <a:latin typeface="Times New Roman"/>
                <a:cs typeface="Times New Roman"/>
              </a:rPr>
              <a:t>Natural </a:t>
            </a:r>
            <a:r>
              <a:rPr sz="1000" spc="-10" dirty="0">
                <a:latin typeface="Times New Roman"/>
                <a:cs typeface="Times New Roman"/>
              </a:rPr>
              <a:t>Language </a:t>
            </a:r>
            <a:r>
              <a:rPr sz="1000" spc="-5" dirty="0">
                <a:latin typeface="Times New Roman"/>
                <a:cs typeface="Times New Roman"/>
              </a:rPr>
              <a:t>Processing (NLP) </a:t>
            </a:r>
            <a:r>
              <a:rPr lang="en-US" sz="1000" spc="-5" dirty="0" smtClean="0">
                <a:latin typeface="Times New Roman"/>
                <a:cs typeface="Times New Roman"/>
              </a:rPr>
              <a:t>syntactic &amp; statistical parsing (Group no # 8)</a:t>
            </a:r>
            <a:endParaRPr sz="1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600"/>
            <a:ext cx="8534400" cy="6400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CKY Parsing or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Cocke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Kasami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-Younger algorithm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andles syntactic disambiguation with the help of dynamic programming.</a:t>
            </a:r>
          </a:p>
          <a:p>
            <a:pPr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Chomsky normal form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the beginning of the CKY algorithm we need to convert the CFGs to CNF.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 productions are formed when there is a single non terminal towards the right.</a:t>
            </a:r>
          </a:p>
          <a:p>
            <a:pPr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S → Aux NP VP</a:t>
            </a:r>
          </a:p>
          <a:p>
            <a:pPr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S →  XI VP</a:t>
            </a:r>
          </a:p>
          <a:p>
            <a:pPr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XI →  Aux NP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5"/>
          <p:cNvSpPr txBox="1"/>
          <p:nvPr/>
        </p:nvSpPr>
        <p:spPr>
          <a:xfrm>
            <a:off x="1769660" y="6553200"/>
            <a:ext cx="6160262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10" dirty="0">
                <a:latin typeface="Times New Roman"/>
                <a:cs typeface="Times New Roman"/>
              </a:rPr>
              <a:t>@Copyrights: </a:t>
            </a:r>
            <a:r>
              <a:rPr sz="1000" spc="-5" dirty="0">
                <a:latin typeface="Times New Roman"/>
                <a:cs typeface="Times New Roman"/>
              </a:rPr>
              <a:t>Natural </a:t>
            </a:r>
            <a:r>
              <a:rPr sz="1000" spc="-10" dirty="0">
                <a:latin typeface="Times New Roman"/>
                <a:cs typeface="Times New Roman"/>
              </a:rPr>
              <a:t>Language </a:t>
            </a:r>
            <a:r>
              <a:rPr sz="1000" spc="-5" dirty="0">
                <a:latin typeface="Times New Roman"/>
                <a:cs typeface="Times New Roman"/>
              </a:rPr>
              <a:t>Processing (NLP) </a:t>
            </a:r>
            <a:r>
              <a:rPr lang="en-US" sz="1000" spc="-5" dirty="0" smtClean="0">
                <a:latin typeface="Times New Roman"/>
                <a:cs typeface="Times New Roman"/>
              </a:rPr>
              <a:t>syntactic &amp; statistical parsing (Group no # 8)</a:t>
            </a:r>
            <a:endParaRPr sz="1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C:\Users\User\Desktop\NLP PPT\1_gYtMJ-jQXH7Fn567D_irww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52400"/>
            <a:ext cx="6248400" cy="4839447"/>
          </a:xfrm>
          <a:prstGeom prst="rect">
            <a:avLst/>
          </a:prstGeom>
          <a:noFill/>
        </p:spPr>
      </p:pic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4953000"/>
            <a:ext cx="8229600" cy="1676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Copying all the conforming rules to a new grammar.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of terminals to non-terminals.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of unit products.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the new rules are made binary and added to new grammar.</a:t>
            </a:r>
          </a:p>
          <a:p>
            <a:pPr marL="514350" indent="-514350">
              <a:buFont typeface="+mj-lt"/>
              <a:buAutoNum type="arabicPeriod"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5"/>
          <p:cNvSpPr txBox="1"/>
          <p:nvPr/>
        </p:nvSpPr>
        <p:spPr>
          <a:xfrm>
            <a:off x="1769660" y="6553200"/>
            <a:ext cx="6160262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10" dirty="0">
                <a:latin typeface="Times New Roman"/>
                <a:cs typeface="Times New Roman"/>
              </a:rPr>
              <a:t>@Copyrights: </a:t>
            </a:r>
            <a:r>
              <a:rPr sz="1000" spc="-5" dirty="0">
                <a:latin typeface="Times New Roman"/>
                <a:cs typeface="Times New Roman"/>
              </a:rPr>
              <a:t>Natural </a:t>
            </a:r>
            <a:r>
              <a:rPr sz="1000" spc="-10" dirty="0">
                <a:latin typeface="Times New Roman"/>
                <a:cs typeface="Times New Roman"/>
              </a:rPr>
              <a:t>Language </a:t>
            </a:r>
            <a:r>
              <a:rPr sz="1000" spc="-5" dirty="0">
                <a:latin typeface="Times New Roman"/>
                <a:cs typeface="Times New Roman"/>
              </a:rPr>
              <a:t>Processing (NLP) </a:t>
            </a:r>
            <a:r>
              <a:rPr lang="en-US" sz="1000" spc="-5" dirty="0" smtClean="0">
                <a:latin typeface="Times New Roman"/>
                <a:cs typeface="Times New Roman"/>
              </a:rPr>
              <a:t>syntactic &amp; statistical parsing (Group no # 8)</a:t>
            </a:r>
            <a:endParaRPr sz="1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CKY recognition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772400" cy="25146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Parse trees will have two daughters.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Cells [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contains non-terminals which represent the constituents. The indexing begins with 0.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constituent is represented by [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which are entries.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is an input position that should be there where there is a splitting of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&lt;k&lt;j.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i,k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must lie to the left of the entry of [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and [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k,j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must be beneath it along column j.</a:t>
            </a:r>
          </a:p>
        </p:txBody>
      </p:sp>
      <p:pic>
        <p:nvPicPr>
          <p:cNvPr id="3074" name="Picture 2" descr="C:\Users\User\Desktop\NLP PPT\cyk algo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4114800"/>
            <a:ext cx="4267200" cy="2133600"/>
          </a:xfrm>
          <a:prstGeom prst="rect">
            <a:avLst/>
          </a:prstGeom>
          <a:noFill/>
        </p:spPr>
      </p:pic>
      <p:sp>
        <p:nvSpPr>
          <p:cNvPr id="5" name="object 5"/>
          <p:cNvSpPr txBox="1"/>
          <p:nvPr/>
        </p:nvSpPr>
        <p:spPr>
          <a:xfrm>
            <a:off x="1769660" y="6553200"/>
            <a:ext cx="6160262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10" dirty="0">
                <a:latin typeface="Times New Roman"/>
                <a:cs typeface="Times New Roman"/>
              </a:rPr>
              <a:t>@Copyrights: </a:t>
            </a:r>
            <a:r>
              <a:rPr sz="1000" spc="-5" dirty="0">
                <a:latin typeface="Times New Roman"/>
                <a:cs typeface="Times New Roman"/>
              </a:rPr>
              <a:t>Natural </a:t>
            </a:r>
            <a:r>
              <a:rPr sz="1000" spc="-10" dirty="0">
                <a:latin typeface="Times New Roman"/>
                <a:cs typeface="Times New Roman"/>
              </a:rPr>
              <a:t>Language </a:t>
            </a:r>
            <a:r>
              <a:rPr sz="1000" spc="-5" dirty="0">
                <a:latin typeface="Times New Roman"/>
                <a:cs typeface="Times New Roman"/>
              </a:rPr>
              <a:t>Processing (NLP) </a:t>
            </a:r>
            <a:r>
              <a:rPr lang="en-US" sz="1000" spc="-5" dirty="0" smtClean="0">
                <a:latin typeface="Times New Roman"/>
                <a:cs typeface="Times New Roman"/>
              </a:rPr>
              <a:t>syntactic &amp; statistical parsing (Group no # 8)</a:t>
            </a:r>
            <a:endParaRPr sz="1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5"/>
          <p:cNvSpPr>
            <a:spLocks noGrp="1"/>
          </p:cNvSpPr>
          <p:nvPr>
            <p:ph idx="1"/>
          </p:nvPr>
        </p:nvSpPr>
        <p:spPr>
          <a:xfrm>
            <a:off x="304800" y="4953000"/>
            <a:ext cx="8610600" cy="1676400"/>
          </a:xfrm>
        </p:spPr>
        <p:txBody>
          <a:bodyPr>
            <a:normAutofit lnSpcReduction="10000"/>
          </a:bodyPr>
          <a:lstStyle/>
          <a:p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super diagonal row contains input of the part of speech words.</a:t>
            </a:r>
          </a:p>
          <a:p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subsequent diagonals contain the constituents.</a:t>
            </a:r>
          </a:p>
          <a:p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bottom up filling approach is used.</a:t>
            </a:r>
          </a:p>
          <a:p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Filling each column from the left towards the right would mean the processing of each word at a time.</a:t>
            </a:r>
          </a:p>
          <a:p>
            <a:endParaRPr lang="en-US" sz="1900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027" name="Picture 3" descr="C:\Users\User\Desktop\NLP PPT\slide_3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4876800"/>
          </a:xfrm>
          <a:prstGeom prst="rect">
            <a:avLst/>
          </a:prstGeom>
          <a:noFill/>
        </p:spPr>
      </p:pic>
      <p:sp>
        <p:nvSpPr>
          <p:cNvPr id="4" name="object 5"/>
          <p:cNvSpPr txBox="1"/>
          <p:nvPr/>
        </p:nvSpPr>
        <p:spPr>
          <a:xfrm>
            <a:off x="1769660" y="6553200"/>
            <a:ext cx="6160262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10" dirty="0">
                <a:latin typeface="Times New Roman"/>
                <a:cs typeface="Times New Roman"/>
              </a:rPr>
              <a:t>@Copyrights: </a:t>
            </a:r>
            <a:r>
              <a:rPr sz="1000" spc="-5" dirty="0">
                <a:latin typeface="Times New Roman"/>
                <a:cs typeface="Times New Roman"/>
              </a:rPr>
              <a:t>Natural </a:t>
            </a:r>
            <a:r>
              <a:rPr sz="1000" spc="-10" dirty="0">
                <a:latin typeface="Times New Roman"/>
                <a:cs typeface="Times New Roman"/>
              </a:rPr>
              <a:t>Language </a:t>
            </a:r>
            <a:r>
              <a:rPr sz="1000" spc="-5" dirty="0">
                <a:latin typeface="Times New Roman"/>
                <a:cs typeface="Times New Roman"/>
              </a:rPr>
              <a:t>Processing (NLP) </a:t>
            </a:r>
            <a:r>
              <a:rPr lang="en-US" sz="1000" spc="-5" dirty="0" smtClean="0">
                <a:latin typeface="Times New Roman"/>
                <a:cs typeface="Times New Roman"/>
              </a:rPr>
              <a:t>syntactic &amp; statistical parsing (Group no # 8)</a:t>
            </a:r>
            <a:endParaRPr sz="1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NLP\cyk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952969"/>
            <a:ext cx="4758126" cy="4600231"/>
          </a:xfrm>
          <a:prstGeom prst="rect">
            <a:avLst/>
          </a:prstGeom>
          <a:noFill/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10600" cy="1447800"/>
          </a:xfrm>
        </p:spPr>
        <p:txBody>
          <a:bodyPr>
            <a:no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tries to combine the constituents of two cells so that they can be permitted by a single rule in grammar and thus the non-terminal is on its left side. The rules used are:</a:t>
            </a:r>
          </a:p>
          <a:p>
            <a:pPr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VP  →   Verb NP PP</a:t>
            </a:r>
          </a:p>
          <a:p>
            <a:pPr>
              <a:buNone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VP  →    X2 PP</a:t>
            </a:r>
          </a:p>
          <a:p>
            <a:pPr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CNF conversion does not create any problems but it can complicate any syntax to semantic analysis</a:t>
            </a:r>
            <a:r>
              <a:rPr lang="en-US" sz="1600" dirty="0" smtClean="0">
                <a:latin typeface="Arial Narrow" pitchFamily="34" charset="0"/>
              </a:rPr>
              <a:t>.</a:t>
            </a:r>
            <a:endParaRPr lang="en-US" sz="1600" dirty="0">
              <a:latin typeface="Arial Narrow" pitchFamily="34" charset="0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1769660" y="6553200"/>
            <a:ext cx="6160262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10" dirty="0">
                <a:latin typeface="Times New Roman"/>
                <a:cs typeface="Times New Roman"/>
              </a:rPr>
              <a:t>@Copyrights: </a:t>
            </a:r>
            <a:r>
              <a:rPr sz="1000" spc="-5" dirty="0">
                <a:latin typeface="Times New Roman"/>
                <a:cs typeface="Times New Roman"/>
              </a:rPr>
              <a:t>Natural </a:t>
            </a:r>
            <a:r>
              <a:rPr sz="1000" spc="-10" dirty="0">
                <a:latin typeface="Times New Roman"/>
                <a:cs typeface="Times New Roman"/>
              </a:rPr>
              <a:t>Language </a:t>
            </a:r>
            <a:r>
              <a:rPr sz="1000" spc="-5" dirty="0">
                <a:latin typeface="Times New Roman"/>
                <a:cs typeface="Times New Roman"/>
              </a:rPr>
              <a:t>Processing (NLP) </a:t>
            </a:r>
            <a:r>
              <a:rPr lang="en-US" sz="1000" spc="-5" dirty="0" smtClean="0">
                <a:latin typeface="Times New Roman"/>
                <a:cs typeface="Times New Roman"/>
              </a:rPr>
              <a:t>syntactic &amp; statistical parsing (Group no # 8)</a:t>
            </a:r>
            <a:endParaRPr sz="1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Statistical Constituency Parsing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>
                <a:latin typeface="Arial Narrow" pitchFamily="34" charset="0"/>
              </a:rPr>
              <a:t>It is possible to build probabilistic parsers consisting of </a:t>
            </a:r>
            <a:r>
              <a:rPr lang="en-US" dirty="0" err="1" smtClean="0">
                <a:latin typeface="Arial Narrow" pitchFamily="34" charset="0"/>
              </a:rPr>
              <a:t>syntatic</a:t>
            </a:r>
            <a:r>
              <a:rPr lang="en-US" dirty="0" smtClean="0">
                <a:latin typeface="Arial Narrow" pitchFamily="34" charset="0"/>
              </a:rPr>
              <a:t> knowledge.</a:t>
            </a:r>
          </a:p>
          <a:p>
            <a:r>
              <a:rPr lang="en-US" dirty="0" smtClean="0">
                <a:latin typeface="Arial Narrow" pitchFamily="34" charset="0"/>
              </a:rPr>
              <a:t>PFGCs or probabilistic context-free grammar which is an enhancement of CFG.</a:t>
            </a:r>
          </a:p>
          <a:p>
            <a:r>
              <a:rPr lang="en-US" dirty="0" smtClean="0">
                <a:latin typeface="Arial Narrow" pitchFamily="34" charset="0"/>
              </a:rPr>
              <a:t>A probability is assigned to each rule.</a:t>
            </a:r>
          </a:p>
          <a:p>
            <a:r>
              <a:rPr lang="en-US" dirty="0" smtClean="0">
                <a:latin typeface="Arial Narrow" pitchFamily="34" charset="0"/>
              </a:rPr>
              <a:t>These are trained on </a:t>
            </a:r>
            <a:r>
              <a:rPr lang="en-US" dirty="0" err="1" smtClean="0">
                <a:latin typeface="Arial Narrow" pitchFamily="34" charset="0"/>
              </a:rPr>
              <a:t>treebank</a:t>
            </a:r>
            <a:r>
              <a:rPr lang="en-US" dirty="0" smtClean="0">
                <a:latin typeface="Arial Narrow" pitchFamily="34" charset="0"/>
              </a:rPr>
              <a:t> grammars.</a:t>
            </a:r>
          </a:p>
          <a:p>
            <a:r>
              <a:rPr lang="en-US" dirty="0" smtClean="0">
                <a:latin typeface="Arial Narrow" pitchFamily="34" charset="0"/>
              </a:rPr>
              <a:t>Non-terminals are made more specific or more general.</a:t>
            </a:r>
          </a:p>
          <a:p>
            <a:r>
              <a:rPr lang="en-US" dirty="0" smtClean="0">
                <a:latin typeface="Arial Narrow" pitchFamily="34" charset="0"/>
              </a:rPr>
              <a:t>Also known as Stochastic context-free grammar SCFG. </a:t>
            </a:r>
          </a:p>
          <a:p>
            <a:r>
              <a:rPr lang="en-US" dirty="0" smtClean="0">
                <a:latin typeface="Arial Narrow" pitchFamily="34" charset="0"/>
              </a:rPr>
              <a:t>Consists of N= non-terminal symbols, ∑=terminal symbols, R=rules or productions A͢͢͢͢→</a:t>
            </a:r>
            <a:r>
              <a:rPr lang="el-GR" dirty="0" smtClean="0">
                <a:latin typeface="Arial Narrow" pitchFamily="34" charset="0"/>
              </a:rPr>
              <a:t>β[</a:t>
            </a:r>
            <a:r>
              <a:rPr lang="en-US" dirty="0" smtClean="0">
                <a:latin typeface="Arial Narrow" pitchFamily="34" charset="0"/>
              </a:rPr>
              <a:t>p], </a:t>
            </a:r>
            <a:r>
              <a:rPr lang="el-GR" dirty="0" smtClean="0">
                <a:latin typeface="Arial Narrow" pitchFamily="34" charset="0"/>
              </a:rPr>
              <a:t>β</a:t>
            </a:r>
            <a:r>
              <a:rPr lang="en-US" dirty="0" smtClean="0">
                <a:latin typeface="Arial Narrow" pitchFamily="34" charset="0"/>
              </a:rPr>
              <a:t>=string of symbols (∑UN)*, and p is a number between 0 and 1 P(</a:t>
            </a:r>
            <a:r>
              <a:rPr lang="el-GR" dirty="0" smtClean="0">
                <a:latin typeface="Arial Narrow" pitchFamily="34" charset="0"/>
              </a:rPr>
              <a:t>β|</a:t>
            </a:r>
            <a:r>
              <a:rPr lang="en-US" dirty="0" smtClean="0">
                <a:latin typeface="Arial Narrow" pitchFamily="34" charset="0"/>
              </a:rPr>
              <a:t>A) and S= start symbol.</a:t>
            </a:r>
          </a:p>
          <a:p>
            <a:r>
              <a:rPr lang="en-US" dirty="0" smtClean="0">
                <a:latin typeface="Arial Narrow" pitchFamily="34" charset="0"/>
              </a:rPr>
              <a:t>R is augmented with a conditional probability: </a:t>
            </a:r>
          </a:p>
          <a:p>
            <a:pPr>
              <a:buNone/>
            </a:pPr>
            <a:r>
              <a:rPr lang="en-US" dirty="0" smtClean="0">
                <a:latin typeface="Arial Narrow" pitchFamily="34" charset="0"/>
              </a:rPr>
              <a:t>                                          A→</a:t>
            </a:r>
            <a:r>
              <a:rPr lang="el-GR" dirty="0" smtClean="0">
                <a:latin typeface="Arial Narrow" pitchFamily="34" charset="0"/>
              </a:rPr>
              <a:t>β[</a:t>
            </a:r>
            <a:r>
              <a:rPr lang="en-US" dirty="0" smtClean="0">
                <a:latin typeface="Arial Narrow" pitchFamily="34" charset="0"/>
              </a:rPr>
              <a:t>p]</a:t>
            </a:r>
          </a:p>
          <a:p>
            <a:pPr>
              <a:buNone/>
            </a:pPr>
            <a:r>
              <a:rPr lang="en-US" dirty="0" smtClean="0">
                <a:latin typeface="Arial Narrow" pitchFamily="34" charset="0"/>
              </a:rPr>
              <a:t>                                          P→(A→</a:t>
            </a:r>
            <a:r>
              <a:rPr lang="el-GR" dirty="0" smtClean="0">
                <a:latin typeface="Arial Narrow" pitchFamily="34" charset="0"/>
              </a:rPr>
              <a:t>β)</a:t>
            </a:r>
            <a:endParaRPr lang="en-US" dirty="0" smtClean="0">
              <a:latin typeface="Arial Narrow" pitchFamily="34" charset="0"/>
            </a:endParaRPr>
          </a:p>
          <a:p>
            <a:pPr>
              <a:buNone/>
            </a:pPr>
            <a:r>
              <a:rPr lang="en-US" dirty="0" smtClean="0">
                <a:latin typeface="Arial Narrow" pitchFamily="34" charset="0"/>
              </a:rPr>
              <a:t>                                          P→(A→</a:t>
            </a:r>
            <a:r>
              <a:rPr lang="el-GR" dirty="0" smtClean="0">
                <a:latin typeface="Arial Narrow" pitchFamily="34" charset="0"/>
              </a:rPr>
              <a:t>β|</a:t>
            </a:r>
            <a:r>
              <a:rPr lang="en-US" dirty="0" smtClean="0">
                <a:latin typeface="Arial Narrow" pitchFamily="34" charset="0"/>
              </a:rPr>
              <a:t>A)</a:t>
            </a:r>
          </a:p>
          <a:p>
            <a:pPr>
              <a:buNone/>
            </a:pPr>
            <a:r>
              <a:rPr lang="en-US" dirty="0" smtClean="0">
                <a:latin typeface="Arial Narrow" pitchFamily="34" charset="0"/>
              </a:rPr>
              <a:t>                                          P(RHS|LHS)</a:t>
            </a:r>
          </a:p>
          <a:p>
            <a:pPr>
              <a:buNone/>
            </a:pPr>
            <a:r>
              <a:rPr lang="en-US" dirty="0" smtClean="0"/>
              <a:t>                                        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724400" y="4648200"/>
            <a:ext cx="1219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 smtClean="0"/>
              <a:t>Σ</a:t>
            </a:r>
            <a:r>
              <a:rPr lang="en-US" dirty="0" smtClean="0"/>
              <a:t>P(A→</a:t>
            </a:r>
            <a:r>
              <a:rPr lang="el-GR" dirty="0" smtClean="0"/>
              <a:t>β)</a:t>
            </a:r>
            <a:endParaRPr lang="en-US" dirty="0" smtClean="0"/>
          </a:p>
          <a:p>
            <a:r>
              <a:rPr lang="el-GR" dirty="0" smtClean="0"/>
              <a:t>ᵝ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5" name="object 5"/>
          <p:cNvSpPr txBox="1"/>
          <p:nvPr/>
        </p:nvSpPr>
        <p:spPr>
          <a:xfrm>
            <a:off x="1769660" y="6553200"/>
            <a:ext cx="6160262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10" dirty="0">
                <a:latin typeface="Times New Roman"/>
                <a:cs typeface="Times New Roman"/>
              </a:rPr>
              <a:t>@Copyrights: </a:t>
            </a:r>
            <a:r>
              <a:rPr sz="1000" spc="-5" dirty="0">
                <a:latin typeface="Times New Roman"/>
                <a:cs typeface="Times New Roman"/>
              </a:rPr>
              <a:t>Natural </a:t>
            </a:r>
            <a:r>
              <a:rPr sz="1000" spc="-10" dirty="0">
                <a:latin typeface="Times New Roman"/>
                <a:cs typeface="Times New Roman"/>
              </a:rPr>
              <a:t>Language </a:t>
            </a:r>
            <a:r>
              <a:rPr sz="1000" spc="-5" dirty="0">
                <a:latin typeface="Times New Roman"/>
                <a:cs typeface="Times New Roman"/>
              </a:rPr>
              <a:t>Processing (NLP) </a:t>
            </a:r>
            <a:r>
              <a:rPr lang="en-US" sz="1000" spc="-5" dirty="0" smtClean="0">
                <a:latin typeface="Times New Roman"/>
                <a:cs typeface="Times New Roman"/>
              </a:rPr>
              <a:t>syntactic &amp; statistical parsing (Group no # 8)</a:t>
            </a:r>
            <a:endParaRPr sz="1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Probabilistic CKY Parsing PCFGs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probabilistic CKY concludes that the PCFG is in the Chomsky normal form.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Indices are assumed between each word.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considered and each constituent in the CKY parse tree is encoded in a two dimensional matrix.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upper triangular portion of the matrix is used (n+1)x(n+1) matrix.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cell table [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contains a list of constituents that spans a sequence of words from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j.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sentence “ the flight includes a meal” is connected to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chomsky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normal form in order for the CKY algorithm to work on it and to handle the rule properties.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counts are needed for each constituents in the PCGs using the Inside-out algorithm.</a:t>
            </a:r>
          </a:p>
          <a:p>
            <a:endParaRPr lang="en-US" sz="1800" dirty="0" smtClean="0"/>
          </a:p>
          <a:p>
            <a:pPr>
              <a:buNone/>
            </a:pPr>
            <a:endParaRPr lang="en-US" dirty="0" smtClean="0"/>
          </a:p>
        </p:txBody>
      </p:sp>
      <p:pic>
        <p:nvPicPr>
          <p:cNvPr id="2050" name="Picture 2" descr="C:\Users\User\Desktop\NLP PPT\cky p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2514600"/>
            <a:ext cx="4443660" cy="369312"/>
          </a:xfrm>
          <a:prstGeom prst="rect">
            <a:avLst/>
          </a:prstGeom>
          <a:noFill/>
        </p:spPr>
      </p:pic>
      <p:sp>
        <p:nvSpPr>
          <p:cNvPr id="5" name="object 5"/>
          <p:cNvSpPr txBox="1"/>
          <p:nvPr/>
        </p:nvSpPr>
        <p:spPr>
          <a:xfrm>
            <a:off x="1769660" y="6553200"/>
            <a:ext cx="6160262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10" dirty="0">
                <a:latin typeface="Times New Roman"/>
                <a:cs typeface="Times New Roman"/>
              </a:rPr>
              <a:t>@Copyrights: </a:t>
            </a:r>
            <a:r>
              <a:rPr sz="1000" spc="-5" dirty="0">
                <a:latin typeface="Times New Roman"/>
                <a:cs typeface="Times New Roman"/>
              </a:rPr>
              <a:t>Natural </a:t>
            </a:r>
            <a:r>
              <a:rPr sz="1000" spc="-10" dirty="0">
                <a:latin typeface="Times New Roman"/>
                <a:cs typeface="Times New Roman"/>
              </a:rPr>
              <a:t>Language </a:t>
            </a:r>
            <a:r>
              <a:rPr sz="1000" spc="-5" dirty="0">
                <a:latin typeface="Times New Roman"/>
                <a:cs typeface="Times New Roman"/>
              </a:rPr>
              <a:t>Processing (NLP) </a:t>
            </a:r>
            <a:r>
              <a:rPr lang="en-US" sz="1000" spc="-5" dirty="0" smtClean="0">
                <a:latin typeface="Times New Roman"/>
                <a:cs typeface="Times New Roman"/>
              </a:rPr>
              <a:t>syntactic &amp; statistical parsing (Group no # 8)</a:t>
            </a:r>
            <a:endParaRPr sz="1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406426"/>
            <a:ext cx="6781800" cy="1066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557426"/>
            <a:ext cx="4419599" cy="484900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38516" y="1821780"/>
            <a:ext cx="4357284" cy="1988219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Probabilistic CKY Parsing PCFGs</a:t>
            </a:r>
            <a:endParaRPr lang="en-US" sz="3600" b="1" dirty="0"/>
          </a:p>
        </p:txBody>
      </p:sp>
      <p:sp>
        <p:nvSpPr>
          <p:cNvPr id="7" name="object 5"/>
          <p:cNvSpPr txBox="1"/>
          <p:nvPr/>
        </p:nvSpPr>
        <p:spPr>
          <a:xfrm>
            <a:off x="1769660" y="6553200"/>
            <a:ext cx="6160262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10" dirty="0">
                <a:latin typeface="Times New Roman"/>
                <a:cs typeface="Times New Roman"/>
              </a:rPr>
              <a:t>@Copyrights: </a:t>
            </a:r>
            <a:r>
              <a:rPr sz="1000" spc="-5" dirty="0">
                <a:latin typeface="Times New Roman"/>
                <a:cs typeface="Times New Roman"/>
              </a:rPr>
              <a:t>Natural </a:t>
            </a:r>
            <a:r>
              <a:rPr sz="1000" spc="-10" dirty="0">
                <a:latin typeface="Times New Roman"/>
                <a:cs typeface="Times New Roman"/>
              </a:rPr>
              <a:t>Language </a:t>
            </a:r>
            <a:r>
              <a:rPr sz="1000" spc="-5" dirty="0">
                <a:latin typeface="Times New Roman"/>
                <a:cs typeface="Times New Roman"/>
              </a:rPr>
              <a:t>Processing (NLP) </a:t>
            </a:r>
            <a:r>
              <a:rPr lang="en-US" sz="1000" spc="-5" dirty="0" smtClean="0">
                <a:latin typeface="Times New Roman"/>
                <a:cs typeface="Times New Roman"/>
              </a:rPr>
              <a:t>syntactic &amp; statistical parsing (Group no # 8)</a:t>
            </a:r>
            <a:endParaRPr sz="1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92877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PCFGs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independence assumptions: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CFG rules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impose an independence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 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probabilities that leads to poor modeling of structural dependencies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across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tree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lexical conditioning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CFG rules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don’t model syntactic facts about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speciﬁc words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problems with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 categorization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ambiguities,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preposition attachment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coordinate structure ambiguities.</a:t>
            </a:r>
          </a:p>
        </p:txBody>
      </p:sp>
      <p:sp>
        <p:nvSpPr>
          <p:cNvPr id="4" name="object 5"/>
          <p:cNvSpPr txBox="1"/>
          <p:nvPr/>
        </p:nvSpPr>
        <p:spPr>
          <a:xfrm>
            <a:off x="1769660" y="6553200"/>
            <a:ext cx="6160262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10" dirty="0">
                <a:latin typeface="Times New Roman"/>
                <a:cs typeface="Times New Roman"/>
              </a:rPr>
              <a:t>@Copyrights: </a:t>
            </a:r>
            <a:r>
              <a:rPr sz="1000" spc="-5" dirty="0">
                <a:latin typeface="Times New Roman"/>
                <a:cs typeface="Times New Roman"/>
              </a:rPr>
              <a:t>Natural </a:t>
            </a:r>
            <a:r>
              <a:rPr sz="1000" spc="-10" dirty="0">
                <a:latin typeface="Times New Roman"/>
                <a:cs typeface="Times New Roman"/>
              </a:rPr>
              <a:t>Language </a:t>
            </a:r>
            <a:r>
              <a:rPr sz="1000" spc="-5" dirty="0">
                <a:latin typeface="Times New Roman"/>
                <a:cs typeface="Times New Roman"/>
              </a:rPr>
              <a:t>Processing (NLP) </a:t>
            </a:r>
            <a:r>
              <a:rPr lang="en-US" sz="1000" spc="-5" dirty="0" smtClean="0">
                <a:latin typeface="Times New Roman"/>
                <a:cs typeface="Times New Roman"/>
              </a:rPr>
              <a:t>syntactic &amp; statistical parsing (Group no # 8)</a:t>
            </a:r>
            <a:endParaRPr sz="1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6108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Probabilistic CCG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Lexicalized grammar frameworks such as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CCG pose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for which the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phrase based methods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we’ve been discussing are not particularly well-suited.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3707384"/>
            <a:ext cx="3194469" cy="15607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69660" y="6553200"/>
            <a:ext cx="6160262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10" dirty="0">
                <a:latin typeface="Times New Roman"/>
                <a:cs typeface="Times New Roman"/>
              </a:rPr>
              <a:t>@Copyrights: </a:t>
            </a:r>
            <a:r>
              <a:rPr sz="1000" spc="-5" dirty="0">
                <a:latin typeface="Times New Roman"/>
                <a:cs typeface="Times New Roman"/>
              </a:rPr>
              <a:t>Natural </a:t>
            </a:r>
            <a:r>
              <a:rPr sz="1000" spc="-10" dirty="0">
                <a:latin typeface="Times New Roman"/>
                <a:cs typeface="Times New Roman"/>
              </a:rPr>
              <a:t>Language </a:t>
            </a:r>
            <a:r>
              <a:rPr sz="1000" spc="-5" dirty="0">
                <a:latin typeface="Times New Roman"/>
                <a:cs typeface="Times New Roman"/>
              </a:rPr>
              <a:t>Processing (NLP) </a:t>
            </a:r>
            <a:r>
              <a:rPr lang="en-US" sz="1000" spc="-5" dirty="0" smtClean="0">
                <a:latin typeface="Times New Roman"/>
                <a:cs typeface="Times New Roman"/>
              </a:rPr>
              <a:t>syntactic &amp; statistical parsing (Group no # 8)</a:t>
            </a:r>
            <a:endParaRPr sz="1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2330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Ambiguity in CCG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3287" y="3482181"/>
            <a:ext cx="2257425" cy="762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533" y="2294271"/>
            <a:ext cx="5612067" cy="179224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532" y="4648200"/>
            <a:ext cx="5612068" cy="1930723"/>
          </a:xfrm>
          <a:prstGeom prst="rect">
            <a:avLst/>
          </a:prstGeom>
        </p:spPr>
      </p:pic>
      <p:sp>
        <p:nvSpPr>
          <p:cNvPr id="6" name="object 5"/>
          <p:cNvSpPr txBox="1"/>
          <p:nvPr/>
        </p:nvSpPr>
        <p:spPr>
          <a:xfrm>
            <a:off x="1769660" y="6553200"/>
            <a:ext cx="6160262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10" dirty="0">
                <a:latin typeface="Times New Roman"/>
                <a:cs typeface="Times New Roman"/>
              </a:rPr>
              <a:t>@Copyrights: </a:t>
            </a:r>
            <a:r>
              <a:rPr sz="1000" spc="-5" dirty="0">
                <a:latin typeface="Times New Roman"/>
                <a:cs typeface="Times New Roman"/>
              </a:rPr>
              <a:t>Natural </a:t>
            </a:r>
            <a:r>
              <a:rPr sz="1000" spc="-10" dirty="0">
                <a:latin typeface="Times New Roman"/>
                <a:cs typeface="Times New Roman"/>
              </a:rPr>
              <a:t>Language </a:t>
            </a:r>
            <a:r>
              <a:rPr sz="1000" spc="-5" dirty="0">
                <a:latin typeface="Times New Roman"/>
                <a:cs typeface="Times New Roman"/>
              </a:rPr>
              <a:t>Processing (NLP) </a:t>
            </a:r>
            <a:r>
              <a:rPr lang="en-US" sz="1000" spc="-5" dirty="0" smtClean="0">
                <a:latin typeface="Times New Roman"/>
                <a:cs typeface="Times New Roman"/>
              </a:rPr>
              <a:t>syntactic &amp; statistical parsing (Group no # 8)</a:t>
            </a:r>
            <a:endParaRPr sz="1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7146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915400" cy="65532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ambiguity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ambiguity is the key factor to successful CCG parsing.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problems due to ambiguity are caused due to large numbers of lexical complex categories.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source of ambiguity is found from the lexicon not from the grammar.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Reno modifies the flight and prepositions are added.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right side is assigned traditional prepositions and modification is done by to Reno.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choice of lexical categories is the primary problem to be considered in CCG parsing.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5"/>
          <p:cNvSpPr txBox="1"/>
          <p:nvPr/>
        </p:nvSpPr>
        <p:spPr>
          <a:xfrm>
            <a:off x="1769660" y="6553200"/>
            <a:ext cx="6160262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10" dirty="0">
                <a:latin typeface="Times New Roman"/>
                <a:cs typeface="Times New Roman"/>
              </a:rPr>
              <a:t>@Copyrights: </a:t>
            </a:r>
            <a:r>
              <a:rPr sz="1000" spc="-5" dirty="0">
                <a:latin typeface="Times New Roman"/>
                <a:cs typeface="Times New Roman"/>
              </a:rPr>
              <a:t>Natural </a:t>
            </a:r>
            <a:r>
              <a:rPr sz="1000" spc="-10" dirty="0">
                <a:latin typeface="Times New Roman"/>
                <a:cs typeface="Times New Roman"/>
              </a:rPr>
              <a:t>Language </a:t>
            </a:r>
            <a:r>
              <a:rPr sz="1000" spc="-5" dirty="0">
                <a:latin typeface="Times New Roman"/>
                <a:cs typeface="Times New Roman"/>
              </a:rPr>
              <a:t>Processing (NLP) </a:t>
            </a:r>
            <a:r>
              <a:rPr lang="en-US" sz="1000" spc="-5" dirty="0" smtClean="0">
                <a:latin typeface="Times New Roman"/>
                <a:cs typeface="Times New Roman"/>
              </a:rPr>
              <a:t>syntactic &amp; statistical parsing (Group no # 8)</a:t>
            </a:r>
            <a:endParaRPr sz="1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362200"/>
            <a:ext cx="8229600" cy="1143000"/>
          </a:xfrm>
        </p:spPr>
        <p:txBody>
          <a:bodyPr/>
          <a:lstStyle/>
          <a:p>
            <a:r>
              <a:rPr lang="en-US" dirty="0" smtClean="0"/>
              <a:t>Implementation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990600"/>
            <a:ext cx="8229600" cy="513556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mtClean="0"/>
              <a:t>We are using Anaconda-prompt to run this code files:</a:t>
            </a:r>
          </a:p>
          <a:p>
            <a:r>
              <a:rPr lang="en-US" sz="2000" smtClean="0"/>
              <a:t>First we run convert our grammar in CNF form in .txt file.</a:t>
            </a:r>
          </a:p>
          <a:p>
            <a:r>
              <a:rPr lang="en-US" sz="2000" smtClean="0"/>
              <a:t>Second write different sentences.</a:t>
            </a:r>
          </a:p>
          <a:p>
            <a:r>
              <a:rPr lang="en-US" sz="2000" smtClean="0"/>
              <a:t>Third applying CKY parsing .</a:t>
            </a:r>
          </a:p>
          <a:p>
            <a:endParaRPr lang="en-US" sz="2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smtClean="0"/>
              <a:t>Python-code</a:t>
            </a: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82" y="2895600"/>
            <a:ext cx="8087854" cy="3048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69660" y="6553200"/>
            <a:ext cx="6160262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10" dirty="0">
                <a:latin typeface="Times New Roman"/>
                <a:cs typeface="Times New Roman"/>
              </a:rPr>
              <a:t>@Copyrights: </a:t>
            </a:r>
            <a:r>
              <a:rPr sz="1000" spc="-5" dirty="0">
                <a:latin typeface="Times New Roman"/>
                <a:cs typeface="Times New Roman"/>
              </a:rPr>
              <a:t>Natural </a:t>
            </a:r>
            <a:r>
              <a:rPr sz="1000" spc="-10" dirty="0">
                <a:latin typeface="Times New Roman"/>
                <a:cs typeface="Times New Roman"/>
              </a:rPr>
              <a:t>Language </a:t>
            </a:r>
            <a:r>
              <a:rPr sz="1000" spc="-5" dirty="0">
                <a:latin typeface="Times New Roman"/>
                <a:cs typeface="Times New Roman"/>
              </a:rPr>
              <a:t>Processing (NLP) </a:t>
            </a:r>
            <a:r>
              <a:rPr lang="en-US" sz="1000" spc="-5" dirty="0" smtClean="0">
                <a:latin typeface="Times New Roman"/>
                <a:cs typeface="Times New Roman"/>
              </a:rPr>
              <a:t>syntactic &amp; statistical parsing (Group no # 8)</a:t>
            </a:r>
            <a:endParaRPr sz="1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43581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780545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smtClean="0"/>
              <a:t>Second write different sentences</a:t>
            </a:r>
            <a:endParaRPr lang="en-US" sz="2400" dirty="0"/>
          </a:p>
        </p:txBody>
      </p:sp>
      <p:pic>
        <p:nvPicPr>
          <p:cNvPr id="3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5" y="914400"/>
            <a:ext cx="6413106" cy="1166019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304799" y="1905000"/>
            <a:ext cx="80772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dirty="0"/>
              <a:t>Third applying CKY parsing 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2438400"/>
            <a:ext cx="8685262" cy="426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655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smtClean="0"/>
              <a:t>Code Output</a:t>
            </a:r>
            <a:endParaRPr lang="en-US" sz="2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41" y="1219200"/>
            <a:ext cx="8790204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562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3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536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990600"/>
            <a:ext cx="8229600" cy="513556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000" b="1" smtClean="0"/>
              <a:t>Python extractCFG.py ....</a:t>
            </a:r>
            <a:r>
              <a:rPr lang="en-US" sz="2000" smtClean="0"/>
              <a:t>finds all rules from training file parse trees(data/English_Parsed_Train.txt)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smtClean="0"/>
              <a:t>First we have to run this file to set environment for CFG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smtClean="0"/>
          </a:p>
          <a:p>
            <a:pPr>
              <a:buFont typeface="Wingdings" panose="05000000000000000000" pitchFamily="2" charset="2"/>
              <a:buChar char="Ø"/>
            </a:pPr>
            <a:endParaRPr lang="en-US" sz="2000" smtClean="0"/>
          </a:p>
          <a:p>
            <a:pPr>
              <a:buFont typeface="Wingdings" panose="05000000000000000000" pitchFamily="2" charset="2"/>
              <a:buChar char="Ø"/>
            </a:pPr>
            <a:endParaRPr lang="en-US" sz="2000" smtClean="0"/>
          </a:p>
          <a:p>
            <a:pPr>
              <a:buFont typeface="Wingdings" panose="05000000000000000000" pitchFamily="2" charset="2"/>
              <a:buChar char="Ø"/>
            </a:pPr>
            <a:endParaRPr lang="en-US" sz="2000" smtClean="0"/>
          </a:p>
          <a:p>
            <a:pPr>
              <a:buFont typeface="Wingdings" panose="05000000000000000000" pitchFamily="2" charset="2"/>
              <a:buChar char="Ø"/>
            </a:pPr>
            <a:endParaRPr lang="en-US" sz="2000" smtClean="0"/>
          </a:p>
          <a:p>
            <a:pPr>
              <a:buFont typeface="Wingdings" panose="05000000000000000000" pitchFamily="2" charset="2"/>
              <a:buChar char="Ø"/>
            </a:pPr>
            <a:endParaRPr lang="en-US" sz="2000" smtClean="0"/>
          </a:p>
          <a:p>
            <a:pPr>
              <a:buFont typeface="Wingdings" panose="05000000000000000000" pitchFamily="2" charset="2"/>
              <a:buChar char="Ø"/>
            </a:pPr>
            <a:endParaRPr lang="en-US" sz="2000" smtClean="0"/>
          </a:p>
          <a:p>
            <a:pPr>
              <a:buFont typeface="Wingdings" panose="05000000000000000000" pitchFamily="2" charset="2"/>
              <a:buChar char="Ø"/>
            </a:pPr>
            <a:endParaRPr lang="en-US" sz="2000" smtClean="0"/>
          </a:p>
          <a:p>
            <a:pPr>
              <a:buFont typeface="Wingdings" panose="05000000000000000000" pitchFamily="2" charset="2"/>
              <a:buChar char="Ø"/>
            </a:pPr>
            <a:endParaRPr lang="en-US" sz="2000" smtClean="0"/>
          </a:p>
          <a:p>
            <a:pPr>
              <a:buFont typeface="Wingdings" panose="05000000000000000000" pitchFamily="2" charset="2"/>
              <a:buChar char="Ø"/>
            </a:pPr>
            <a:endParaRPr lang="en-US" sz="2000" smtClean="0"/>
          </a:p>
          <a:p>
            <a:pPr>
              <a:buFont typeface="Wingdings" panose="05000000000000000000" pitchFamily="2" charset="2"/>
              <a:buChar char="Ø"/>
            </a:pPr>
            <a:endParaRPr lang="en-US" sz="2000" smtClean="0"/>
          </a:p>
          <a:p>
            <a:pPr>
              <a:buFont typeface="Wingdings" panose="05000000000000000000" pitchFamily="2" charset="2"/>
              <a:buChar char="Ø"/>
            </a:pPr>
            <a:endParaRPr lang="en-US" sz="2000" smtClean="0"/>
          </a:p>
          <a:p>
            <a:pPr>
              <a:buFont typeface="Wingdings" panose="05000000000000000000" pitchFamily="2" charset="2"/>
              <a:buChar char="Ø"/>
            </a:pPr>
            <a:endParaRPr lang="en-US" sz="2000" smtClean="0"/>
          </a:p>
          <a:p>
            <a:pPr>
              <a:buFont typeface="Wingdings" panose="05000000000000000000" pitchFamily="2" charset="2"/>
              <a:buChar char="Ø"/>
            </a:pPr>
            <a:endParaRPr lang="en-US" sz="2000" smtClean="0"/>
          </a:p>
          <a:p>
            <a:pPr>
              <a:buFont typeface="Wingdings" panose="05000000000000000000" pitchFamily="2" charset="2"/>
              <a:buChar char="Ø"/>
            </a:pPr>
            <a:endParaRPr lang="en-US" sz="2000" smtClean="0"/>
          </a:p>
          <a:p>
            <a:pPr>
              <a:buFont typeface="Wingdings" panose="05000000000000000000" pitchFamily="2" charset="2"/>
              <a:buChar char="Ø"/>
            </a:pPr>
            <a:endParaRPr lang="en-US" sz="2000" smtClean="0"/>
          </a:p>
          <a:p>
            <a:pPr>
              <a:buFont typeface="Wingdings" panose="05000000000000000000" pitchFamily="2" charset="2"/>
              <a:buChar char="Ø"/>
            </a:pPr>
            <a:endParaRPr lang="en-US" sz="2000" smtClean="0"/>
          </a:p>
          <a:p>
            <a:pPr>
              <a:buFont typeface="Wingdings" panose="05000000000000000000" pitchFamily="2" charset="2"/>
              <a:buChar char="Ø"/>
            </a:pPr>
            <a:endParaRPr lang="en-US" sz="2000" smtClean="0"/>
          </a:p>
          <a:p>
            <a:pPr marL="0" indent="0">
              <a:buFont typeface="Arial" pitchFamily="34" charset="0"/>
              <a:buNone/>
            </a:pPr>
            <a:endParaRPr lang="en-US" sz="2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smtClean="0"/>
              <a:t>Python-code</a:t>
            </a: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9" y="2133600"/>
            <a:ext cx="7911231" cy="41399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69660" y="6553200"/>
            <a:ext cx="6160262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10" dirty="0">
                <a:latin typeface="Times New Roman"/>
                <a:cs typeface="Times New Roman"/>
              </a:rPr>
              <a:t>@Copyrights: </a:t>
            </a:r>
            <a:r>
              <a:rPr sz="1000" spc="-5" dirty="0">
                <a:latin typeface="Times New Roman"/>
                <a:cs typeface="Times New Roman"/>
              </a:rPr>
              <a:t>Natural </a:t>
            </a:r>
            <a:r>
              <a:rPr sz="1000" spc="-10" dirty="0">
                <a:latin typeface="Times New Roman"/>
                <a:cs typeface="Times New Roman"/>
              </a:rPr>
              <a:t>Language </a:t>
            </a:r>
            <a:r>
              <a:rPr sz="1000" spc="-5" dirty="0">
                <a:latin typeface="Times New Roman"/>
                <a:cs typeface="Times New Roman"/>
              </a:rPr>
              <a:t>Processing (NLP) </a:t>
            </a:r>
            <a:r>
              <a:rPr lang="en-US" sz="1000" spc="-5" dirty="0" smtClean="0">
                <a:latin typeface="Times New Roman"/>
                <a:cs typeface="Times New Roman"/>
              </a:rPr>
              <a:t>syntactic &amp; statistical parsing (Group no # 8)</a:t>
            </a:r>
            <a:endParaRPr sz="1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7282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799" y="304800"/>
            <a:ext cx="892371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Python extractPCFg.py ....</a:t>
            </a:r>
            <a:r>
              <a:rPr lang="en-US" dirty="0"/>
              <a:t>takes output of step 1(output/CFGrules.txt),gives probabilities to </a:t>
            </a:r>
            <a:r>
              <a:rPr lang="en-US" dirty="0" smtClean="0"/>
              <a:t>rules</a:t>
            </a:r>
          </a:p>
          <a:p>
            <a:r>
              <a:rPr lang="en-US" dirty="0" smtClean="0"/>
              <a:t>Second we do PCFG assigning probabilities and making new rules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00421"/>
            <a:ext cx="8610600" cy="542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632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799" y="228600"/>
            <a:ext cx="88446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Python findCNF.py ....</a:t>
            </a:r>
            <a:r>
              <a:rPr lang="en-US" dirty="0"/>
              <a:t>takes output of step 2(output/PCFGrules.txt),gives Chomsky Normal form production </a:t>
            </a:r>
            <a:r>
              <a:rPr lang="en-US" dirty="0" smtClean="0"/>
              <a:t>rules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91" y="847223"/>
            <a:ext cx="8638309" cy="570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257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52400"/>
            <a:ext cx="8229600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smtClean="0"/>
              <a:t>Code Output</a:t>
            </a:r>
            <a:endParaRPr lang="en-US" sz="2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0600"/>
            <a:ext cx="9144000" cy="586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7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"/>
            <a:ext cx="9310453" cy="6172200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388026" y="-30162"/>
            <a:ext cx="8534400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smtClean="0"/>
              <a:t>Removing old grammar rules Making new rules for CFG by PCFG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608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924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2911601" y="623061"/>
            <a:ext cx="3323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400" spc="-5" smtClean="0"/>
              <a:t>Python-code(CCG</a:t>
            </a:r>
            <a:r>
              <a:rPr lang="en-US" sz="2400" spc="-45" smtClean="0"/>
              <a:t> </a:t>
            </a:r>
            <a:r>
              <a:rPr lang="en-US" sz="2400" spc="-10" smtClean="0"/>
              <a:t>Parsing)</a:t>
            </a:r>
            <a:endParaRPr lang="en-US" sz="2400"/>
          </a:p>
        </p:txBody>
      </p:sp>
      <p:sp>
        <p:nvSpPr>
          <p:cNvPr id="3" name="object 3"/>
          <p:cNvSpPr txBox="1"/>
          <p:nvPr/>
        </p:nvSpPr>
        <p:spPr>
          <a:xfrm>
            <a:off x="383540" y="1676146"/>
            <a:ext cx="71126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35" dirty="0">
                <a:latin typeface="Carlito"/>
                <a:cs typeface="Carlito"/>
              </a:rPr>
              <a:t>We </a:t>
            </a:r>
            <a:r>
              <a:rPr sz="1800" spc="-5" dirty="0">
                <a:latin typeface="Carlito"/>
                <a:cs typeface="Carlito"/>
              </a:rPr>
              <a:t>use built-in </a:t>
            </a:r>
            <a:r>
              <a:rPr sz="1800" spc="-10" dirty="0">
                <a:latin typeface="Carlito"/>
                <a:cs typeface="Carlito"/>
              </a:rPr>
              <a:t>library </a:t>
            </a:r>
            <a:r>
              <a:rPr sz="1800" spc="-35" dirty="0">
                <a:latin typeface="Carlito"/>
                <a:cs typeface="Carlito"/>
              </a:rPr>
              <a:t>NLTK </a:t>
            </a:r>
            <a:r>
              <a:rPr sz="1800" spc="-5" dirty="0">
                <a:latin typeface="Carlito"/>
                <a:cs typeface="Carlito"/>
              </a:rPr>
              <a:t>with </a:t>
            </a:r>
            <a:r>
              <a:rPr sz="1800" dirty="0">
                <a:latin typeface="Carlito"/>
                <a:cs typeface="Carlito"/>
              </a:rPr>
              <a:t>python </a:t>
            </a:r>
            <a:r>
              <a:rPr sz="1800" spc="-5" dirty="0">
                <a:latin typeface="Carlito"/>
                <a:cs typeface="Carlito"/>
              </a:rPr>
              <a:t>3.x </a:t>
            </a:r>
            <a:r>
              <a:rPr sz="1800" dirty="0">
                <a:latin typeface="Carlito"/>
                <a:cs typeface="Carlito"/>
              </a:rPr>
              <a:t>in </a:t>
            </a:r>
            <a:r>
              <a:rPr sz="1800" spc="-10" dirty="0">
                <a:latin typeface="Carlito"/>
                <a:cs typeface="Carlito"/>
              </a:rPr>
              <a:t>jupyter</a:t>
            </a:r>
            <a:r>
              <a:rPr sz="1800" spc="19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notebook.</a:t>
            </a:r>
            <a:endParaRPr sz="1800">
              <a:latin typeface="Carlito"/>
              <a:cs typeface="Carlito"/>
            </a:endParaRPr>
          </a:p>
          <a:p>
            <a:pPr marL="194945" indent="-182245">
              <a:lnSpc>
                <a:spcPct val="100000"/>
              </a:lnSpc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35" dirty="0">
                <a:latin typeface="Carlito"/>
                <a:cs typeface="Carlito"/>
              </a:rPr>
              <a:t>We </a:t>
            </a:r>
            <a:r>
              <a:rPr sz="1800" spc="-5" dirty="0">
                <a:latin typeface="Carlito"/>
                <a:cs typeface="Carlito"/>
              </a:rPr>
              <a:t>show some basic </a:t>
            </a:r>
            <a:r>
              <a:rPr sz="1800" dirty="0">
                <a:latin typeface="Carlito"/>
                <a:cs typeface="Carlito"/>
              </a:rPr>
              <a:t>and </a:t>
            </a:r>
            <a:r>
              <a:rPr sz="1800" spc="-5" dirty="0">
                <a:latin typeface="Carlito"/>
                <a:cs typeface="Carlito"/>
              </a:rPr>
              <a:t>small functions which </a:t>
            </a:r>
            <a:r>
              <a:rPr sz="1800" spc="-10" dirty="0">
                <a:latin typeface="Carlito"/>
                <a:cs typeface="Carlito"/>
              </a:rPr>
              <a:t>can </a:t>
            </a:r>
            <a:r>
              <a:rPr sz="1800" spc="-5" dirty="0">
                <a:latin typeface="Carlito"/>
                <a:cs typeface="Carlito"/>
              </a:rPr>
              <a:t>easily </a:t>
            </a:r>
            <a:r>
              <a:rPr sz="1800" spc="-10" dirty="0">
                <a:latin typeface="Carlito"/>
                <a:cs typeface="Carlito"/>
              </a:rPr>
              <a:t>adjusted </a:t>
            </a:r>
            <a:r>
              <a:rPr sz="1800" dirty="0">
                <a:latin typeface="Carlito"/>
                <a:cs typeface="Carlito"/>
              </a:rPr>
              <a:t>in</a:t>
            </a:r>
            <a:r>
              <a:rPr sz="1800" spc="204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slide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9159" y="2741595"/>
            <a:ext cx="8292212" cy="2714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1769490" y="6553200"/>
            <a:ext cx="6307709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200" spc="-20" dirty="0"/>
              <a:t>@Copyrights: </a:t>
            </a:r>
            <a:r>
              <a:rPr sz="1200" spc="-5" dirty="0"/>
              <a:t>Natural </a:t>
            </a:r>
            <a:r>
              <a:rPr sz="1200" spc="-15" dirty="0"/>
              <a:t>Language </a:t>
            </a:r>
            <a:r>
              <a:rPr sz="1200" spc="-5" dirty="0"/>
              <a:t>Processing (NLP) </a:t>
            </a:r>
            <a:r>
              <a:rPr sz="1200" spc="-10" dirty="0"/>
              <a:t>syntactic </a:t>
            </a:r>
            <a:r>
              <a:rPr sz="1200" spc="-5" dirty="0"/>
              <a:t>&amp; statistical parsing (Group </a:t>
            </a:r>
            <a:r>
              <a:rPr sz="1200" spc="-10" dirty="0"/>
              <a:t>no </a:t>
            </a:r>
            <a:r>
              <a:rPr sz="1200" spc="-5" dirty="0"/>
              <a:t>#</a:t>
            </a:r>
            <a:r>
              <a:rPr sz="1200" spc="75" dirty="0"/>
              <a:t> </a:t>
            </a:r>
            <a:r>
              <a:rPr sz="1200" dirty="0"/>
              <a:t>8)</a:t>
            </a:r>
          </a:p>
        </p:txBody>
      </p:sp>
    </p:spTree>
    <p:extLst>
      <p:ext uri="{BB962C8B-B14F-4D97-AF65-F5344CB8AC3E}">
        <p14:creationId xmlns:p14="http://schemas.microsoft.com/office/powerpoint/2010/main" val="12139447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535940" y="623061"/>
            <a:ext cx="3415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400" spc="-10" smtClean="0"/>
              <a:t>Sentence </a:t>
            </a:r>
            <a:r>
              <a:rPr lang="en-US" sz="2400" smtClean="0"/>
              <a:t>1 </a:t>
            </a:r>
            <a:r>
              <a:rPr lang="en-US" sz="2400" spc="-15" smtClean="0"/>
              <a:t>for </a:t>
            </a:r>
            <a:r>
              <a:rPr lang="en-US" sz="2400" spc="-5" smtClean="0"/>
              <a:t>CCG</a:t>
            </a:r>
            <a:r>
              <a:rPr lang="en-US" sz="2400" spc="-55" smtClean="0"/>
              <a:t> </a:t>
            </a:r>
            <a:r>
              <a:rPr lang="en-US" sz="2400" spc="-10" smtClean="0"/>
              <a:t>parsing</a:t>
            </a:r>
            <a:endParaRPr lang="en-US" sz="2400" dirty="0"/>
          </a:p>
        </p:txBody>
      </p:sp>
      <p:sp>
        <p:nvSpPr>
          <p:cNvPr id="3" name="object 3"/>
          <p:cNvSpPr/>
          <p:nvPr/>
        </p:nvSpPr>
        <p:spPr>
          <a:xfrm>
            <a:off x="1108243" y="1371600"/>
            <a:ext cx="7645612" cy="46162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1769490" y="6550920"/>
            <a:ext cx="54695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100" spc="-20" dirty="0"/>
              <a:t>@Copyrights: </a:t>
            </a:r>
            <a:r>
              <a:rPr sz="1100" spc="-5" dirty="0"/>
              <a:t>Natural </a:t>
            </a:r>
            <a:r>
              <a:rPr sz="1100" spc="-15" dirty="0"/>
              <a:t>Language </a:t>
            </a:r>
            <a:r>
              <a:rPr sz="1100" spc="-5" dirty="0"/>
              <a:t>Processing (NLP) </a:t>
            </a:r>
            <a:r>
              <a:rPr sz="1100" spc="-10" dirty="0"/>
              <a:t>syntactic </a:t>
            </a:r>
            <a:r>
              <a:rPr sz="1100" spc="-5" dirty="0"/>
              <a:t>&amp; statistical parsing (Group </a:t>
            </a:r>
            <a:r>
              <a:rPr sz="1100" spc="-10" dirty="0"/>
              <a:t>no </a:t>
            </a:r>
            <a:r>
              <a:rPr sz="1100" spc="-5" dirty="0"/>
              <a:t>#</a:t>
            </a:r>
            <a:r>
              <a:rPr sz="1100" spc="75" dirty="0"/>
              <a:t> </a:t>
            </a:r>
            <a:r>
              <a:rPr sz="1100" dirty="0"/>
              <a:t>8)</a:t>
            </a:r>
          </a:p>
        </p:txBody>
      </p:sp>
    </p:spTree>
    <p:extLst>
      <p:ext uri="{BB962C8B-B14F-4D97-AF65-F5344CB8AC3E}">
        <p14:creationId xmlns:p14="http://schemas.microsoft.com/office/powerpoint/2010/main" val="1259516997"/>
      </p:ext>
    </p:extLst>
  </p:cSld>
  <p:clrMapOvr>
    <a:masterClrMapping/>
  </p:clrMapOvr>
</p:sld>
</file>

<file path=ppt/theme/theme1.xml><?xml version="1.0" encoding="utf-8"?>
<a:theme xmlns:a="http://schemas.openxmlformats.org/drawingml/2006/main" name="Abstract-green-background-pattern-design-PowerPoint-Templates-Standar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Abstract-green-background-pattern-design-PowerPoint-Templates-Standard</Template>
  <TotalTime>2107</TotalTime>
  <Words>1472</Words>
  <Application>Microsoft Office PowerPoint</Application>
  <PresentationFormat>On-screen Show (4:3)</PresentationFormat>
  <Paragraphs>158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2" baseType="lpstr">
      <vt:lpstr>Abstract-green-background-pattern-design-PowerPoint-Templates-Standard</vt:lpstr>
      <vt:lpstr>Custom Design</vt:lpstr>
      <vt:lpstr>Syntactic &amp; statistical parsing</vt:lpstr>
      <vt:lpstr>PowerPoint Presentation</vt:lpstr>
      <vt:lpstr>Syntactic Parsing (Constituency)</vt:lpstr>
      <vt:lpstr>Ambiguity</vt:lpstr>
      <vt:lpstr>PowerPoint Presentation</vt:lpstr>
      <vt:lpstr>PowerPoint Presentation</vt:lpstr>
      <vt:lpstr>PowerPoint Presentation</vt:lpstr>
      <vt:lpstr>CKY recognition</vt:lpstr>
      <vt:lpstr>PowerPoint Presentation</vt:lpstr>
      <vt:lpstr>PowerPoint Presentation</vt:lpstr>
      <vt:lpstr>Statistical Constituency Parsing</vt:lpstr>
      <vt:lpstr>Probabilistic CKY Parsing PCFGs</vt:lpstr>
      <vt:lpstr>PowerPoint Presentation</vt:lpstr>
      <vt:lpstr>Problems with PCFGs</vt:lpstr>
      <vt:lpstr>Probabilistic CCG Parsing</vt:lpstr>
      <vt:lpstr>Ambiguity in CCG</vt:lpstr>
      <vt:lpstr>PowerPoint Presentation</vt:lpstr>
      <vt:lpstr>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Constituency Parsing</dc:title>
  <dc:creator>User</dc:creator>
  <cp:lastModifiedBy>Ahmad</cp:lastModifiedBy>
  <cp:revision>145</cp:revision>
  <dcterms:created xsi:type="dcterms:W3CDTF">2006-08-16T00:00:00Z</dcterms:created>
  <dcterms:modified xsi:type="dcterms:W3CDTF">2020-12-28T06:49:10Z</dcterms:modified>
</cp:coreProperties>
</file>