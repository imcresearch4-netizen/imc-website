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62" r:id="rId5"/>
    <p:sldId id="334" r:id="rId6"/>
    <p:sldId id="269" r:id="rId7"/>
    <p:sldId id="335" r:id="rId8"/>
    <p:sldId id="332" r:id="rId9"/>
    <p:sldId id="333" r:id="rId10"/>
    <p:sldId id="324" r:id="rId11"/>
    <p:sldId id="325" r:id="rId12"/>
    <p:sldId id="331" r:id="rId13"/>
    <p:sldId id="309" r:id="rId14"/>
    <p:sldId id="310" r:id="rId15"/>
    <p:sldId id="323" r:id="rId16"/>
    <p:sldId id="311" r:id="rId17"/>
    <p:sldId id="312" r:id="rId18"/>
    <p:sldId id="315" r:id="rId19"/>
    <p:sldId id="316" r:id="rId20"/>
    <p:sldId id="317" r:id="rId21"/>
    <p:sldId id="318" r:id="rId22"/>
    <p:sldId id="313" r:id="rId23"/>
    <p:sldId id="314" r:id="rId24"/>
    <p:sldId id="302" r:id="rId25"/>
    <p:sldId id="283" r:id="rId26"/>
    <p:sldId id="336" r:id="rId27"/>
    <p:sldId id="287" r:id="rId28"/>
    <p:sldId id="288" r:id="rId29"/>
    <p:sldId id="290" r:id="rId30"/>
    <p:sldId id="307" r:id="rId31"/>
    <p:sldId id="308" r:id="rId32"/>
    <p:sldId id="329" r:id="rId33"/>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4" autoAdjust="0"/>
    <p:restoredTop sz="94660"/>
  </p:normalViewPr>
  <p:slideViewPr>
    <p:cSldViewPr snapToGrid="0">
      <p:cViewPr varScale="1">
        <p:scale>
          <a:sx n="67" d="100"/>
          <a:sy n="67" d="100"/>
        </p:scale>
        <p:origin x="496"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021345D-4368-4E13-979E-DEBB050912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a:extLst>
              <a:ext uri="{FF2B5EF4-FFF2-40B4-BE49-F238E27FC236}">
                <a16:creationId xmlns="" xmlns:a16="http://schemas.microsoft.com/office/drawing/2014/main" id="{428546F0-C060-4B13-ABCA-9265FE0AFA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a:extLst>
              <a:ext uri="{FF2B5EF4-FFF2-40B4-BE49-F238E27FC236}">
                <a16:creationId xmlns="" xmlns:a16="http://schemas.microsoft.com/office/drawing/2014/main" id="{5A08B31C-9127-44E1-864A-D3E20BDC3D97}"/>
              </a:ext>
            </a:extLst>
          </p:cNvPr>
          <p:cNvSpPr>
            <a:spLocks noGrp="1"/>
          </p:cNvSpPr>
          <p:nvPr>
            <p:ph type="dt" sz="half" idx="10"/>
          </p:nvPr>
        </p:nvSpPr>
        <p:spPr/>
        <p:txBody>
          <a:bodyPr/>
          <a:lstStyle/>
          <a:p>
            <a:fld id="{CBDB9D76-0807-420B-909F-950774C16EE2}" type="datetimeFigureOut">
              <a:rPr lang="x-none" smtClean="0"/>
              <a:t>12/28/2020</a:t>
            </a:fld>
            <a:endParaRPr lang="x-none"/>
          </a:p>
        </p:txBody>
      </p:sp>
      <p:sp>
        <p:nvSpPr>
          <p:cNvPr id="5" name="Footer Placeholder 4">
            <a:extLst>
              <a:ext uri="{FF2B5EF4-FFF2-40B4-BE49-F238E27FC236}">
                <a16:creationId xmlns="" xmlns:a16="http://schemas.microsoft.com/office/drawing/2014/main" id="{FED2591C-C7D4-42E9-A247-9461902B1C96}"/>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4A5A1CAD-6DAD-4C2A-9A10-EEEC23B494A2}"/>
              </a:ext>
            </a:extLst>
          </p:cNvPr>
          <p:cNvSpPr>
            <a:spLocks noGrp="1"/>
          </p:cNvSpPr>
          <p:nvPr>
            <p:ph type="sldNum" sz="quarter" idx="12"/>
          </p:nvPr>
        </p:nvSpPr>
        <p:spPr/>
        <p:txBody>
          <a:bodyPr/>
          <a:lstStyle/>
          <a:p>
            <a:fld id="{59F21FB4-83A9-408F-A752-841AEA5ECEF6}" type="slidenum">
              <a:rPr lang="x-none" smtClean="0"/>
              <a:t>‹#›</a:t>
            </a:fld>
            <a:endParaRPr lang="x-none"/>
          </a:p>
        </p:txBody>
      </p:sp>
    </p:spTree>
    <p:extLst>
      <p:ext uri="{BB962C8B-B14F-4D97-AF65-F5344CB8AC3E}">
        <p14:creationId xmlns:p14="http://schemas.microsoft.com/office/powerpoint/2010/main" val="1046682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A7BBB4A-A7BE-40D9-A471-531EC99ABC4D}"/>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E09FA4A7-DF72-43A0-B968-B3265A3CF73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DE346770-4BC5-4822-A61C-F6265291F48C}"/>
              </a:ext>
            </a:extLst>
          </p:cNvPr>
          <p:cNvSpPr>
            <a:spLocks noGrp="1"/>
          </p:cNvSpPr>
          <p:nvPr>
            <p:ph type="dt" sz="half" idx="10"/>
          </p:nvPr>
        </p:nvSpPr>
        <p:spPr/>
        <p:txBody>
          <a:bodyPr/>
          <a:lstStyle/>
          <a:p>
            <a:fld id="{CBDB9D76-0807-420B-909F-950774C16EE2}" type="datetimeFigureOut">
              <a:rPr lang="x-none" smtClean="0"/>
              <a:t>12/28/2020</a:t>
            </a:fld>
            <a:endParaRPr lang="x-none"/>
          </a:p>
        </p:txBody>
      </p:sp>
      <p:sp>
        <p:nvSpPr>
          <p:cNvPr id="5" name="Footer Placeholder 4">
            <a:extLst>
              <a:ext uri="{FF2B5EF4-FFF2-40B4-BE49-F238E27FC236}">
                <a16:creationId xmlns="" xmlns:a16="http://schemas.microsoft.com/office/drawing/2014/main" id="{01CC56ED-5EB3-42AC-8E4A-68A10397C1A7}"/>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D3735F30-6EA4-497C-8397-76A1249C6583}"/>
              </a:ext>
            </a:extLst>
          </p:cNvPr>
          <p:cNvSpPr>
            <a:spLocks noGrp="1"/>
          </p:cNvSpPr>
          <p:nvPr>
            <p:ph type="sldNum" sz="quarter" idx="12"/>
          </p:nvPr>
        </p:nvSpPr>
        <p:spPr/>
        <p:txBody>
          <a:bodyPr/>
          <a:lstStyle/>
          <a:p>
            <a:fld id="{59F21FB4-83A9-408F-A752-841AEA5ECEF6}" type="slidenum">
              <a:rPr lang="x-none" smtClean="0"/>
              <a:t>‹#›</a:t>
            </a:fld>
            <a:endParaRPr lang="x-none"/>
          </a:p>
        </p:txBody>
      </p:sp>
    </p:spTree>
    <p:extLst>
      <p:ext uri="{BB962C8B-B14F-4D97-AF65-F5344CB8AC3E}">
        <p14:creationId xmlns:p14="http://schemas.microsoft.com/office/powerpoint/2010/main" val="2359904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54E4F0B-3AC1-4B74-9DB5-7572CE0874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A5D493D8-0575-4F1F-97CF-C1963D303A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22016F33-A5FE-4BC6-80C2-EB7AF06B6DB8}"/>
              </a:ext>
            </a:extLst>
          </p:cNvPr>
          <p:cNvSpPr>
            <a:spLocks noGrp="1"/>
          </p:cNvSpPr>
          <p:nvPr>
            <p:ph type="dt" sz="half" idx="10"/>
          </p:nvPr>
        </p:nvSpPr>
        <p:spPr/>
        <p:txBody>
          <a:bodyPr/>
          <a:lstStyle/>
          <a:p>
            <a:fld id="{CBDB9D76-0807-420B-909F-950774C16EE2}" type="datetimeFigureOut">
              <a:rPr lang="x-none" smtClean="0"/>
              <a:t>12/28/2020</a:t>
            </a:fld>
            <a:endParaRPr lang="x-none"/>
          </a:p>
        </p:txBody>
      </p:sp>
      <p:sp>
        <p:nvSpPr>
          <p:cNvPr id="5" name="Footer Placeholder 4">
            <a:extLst>
              <a:ext uri="{FF2B5EF4-FFF2-40B4-BE49-F238E27FC236}">
                <a16:creationId xmlns="" xmlns:a16="http://schemas.microsoft.com/office/drawing/2014/main" id="{1896061C-EF38-4A36-B131-9A376E674C23}"/>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521E4980-6491-427E-B172-9DA9FEDCB8C2}"/>
              </a:ext>
            </a:extLst>
          </p:cNvPr>
          <p:cNvSpPr>
            <a:spLocks noGrp="1"/>
          </p:cNvSpPr>
          <p:nvPr>
            <p:ph type="sldNum" sz="quarter" idx="12"/>
          </p:nvPr>
        </p:nvSpPr>
        <p:spPr/>
        <p:txBody>
          <a:bodyPr/>
          <a:lstStyle/>
          <a:p>
            <a:fld id="{59F21FB4-83A9-408F-A752-841AEA5ECEF6}" type="slidenum">
              <a:rPr lang="x-none" smtClean="0"/>
              <a:t>‹#›</a:t>
            </a:fld>
            <a:endParaRPr lang="x-none"/>
          </a:p>
        </p:txBody>
      </p:sp>
    </p:spTree>
    <p:extLst>
      <p:ext uri="{BB962C8B-B14F-4D97-AF65-F5344CB8AC3E}">
        <p14:creationId xmlns:p14="http://schemas.microsoft.com/office/powerpoint/2010/main" val="3545188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CEFB736-0CE3-41C4-BCF0-14E8F614A8E0}"/>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163A1D47-DF6D-4754-A1E6-34E3989CEA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 xmlns:a16="http://schemas.microsoft.com/office/drawing/2014/main" id="{21F3F128-90E6-4834-98A6-FC855DA86E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 xmlns:a16="http://schemas.microsoft.com/office/drawing/2014/main" id="{D051C87B-39AB-446A-BA07-32FC6CD0DFC4}"/>
              </a:ext>
            </a:extLst>
          </p:cNvPr>
          <p:cNvSpPr>
            <a:spLocks noGrp="1"/>
          </p:cNvSpPr>
          <p:nvPr>
            <p:ph type="dt" sz="half" idx="10"/>
          </p:nvPr>
        </p:nvSpPr>
        <p:spPr/>
        <p:txBody>
          <a:bodyPr/>
          <a:lstStyle/>
          <a:p>
            <a:fld id="{CBDB9D76-0807-420B-909F-950774C16EE2}" type="datetimeFigureOut">
              <a:rPr lang="x-none" smtClean="0"/>
              <a:t>12/28/2020</a:t>
            </a:fld>
            <a:endParaRPr lang="x-none"/>
          </a:p>
        </p:txBody>
      </p:sp>
      <p:sp>
        <p:nvSpPr>
          <p:cNvPr id="6" name="Footer Placeholder 5">
            <a:extLst>
              <a:ext uri="{FF2B5EF4-FFF2-40B4-BE49-F238E27FC236}">
                <a16:creationId xmlns="" xmlns:a16="http://schemas.microsoft.com/office/drawing/2014/main" id="{3191269D-ADFE-4335-B654-AA2CF95F5EEC}"/>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 xmlns:a16="http://schemas.microsoft.com/office/drawing/2014/main" id="{98507606-3A93-4065-8C84-BC0D7183907D}"/>
              </a:ext>
            </a:extLst>
          </p:cNvPr>
          <p:cNvSpPr>
            <a:spLocks noGrp="1"/>
          </p:cNvSpPr>
          <p:nvPr>
            <p:ph type="sldNum" sz="quarter" idx="12"/>
          </p:nvPr>
        </p:nvSpPr>
        <p:spPr/>
        <p:txBody>
          <a:bodyPr/>
          <a:lstStyle/>
          <a:p>
            <a:fld id="{59F21FB4-83A9-408F-A752-841AEA5ECEF6}" type="slidenum">
              <a:rPr lang="x-none" smtClean="0"/>
              <a:t>‹#›</a:t>
            </a:fld>
            <a:endParaRPr lang="x-none"/>
          </a:p>
        </p:txBody>
      </p:sp>
    </p:spTree>
    <p:extLst>
      <p:ext uri="{BB962C8B-B14F-4D97-AF65-F5344CB8AC3E}">
        <p14:creationId xmlns:p14="http://schemas.microsoft.com/office/powerpoint/2010/main" val="3772720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591ADC5-5158-499F-AD67-1F5A37163DAE}"/>
              </a:ext>
            </a:extLst>
          </p:cNvPr>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B430CD8E-7E8E-466E-B4FF-AE3C1EF856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43AA910E-8DA5-44BF-B595-16E623656F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 xmlns:a16="http://schemas.microsoft.com/office/drawing/2014/main" id="{ADD17D80-A9A9-4C45-BEA9-7393B082C6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8C4E1505-5E08-4195-9063-BA343D4964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 xmlns:a16="http://schemas.microsoft.com/office/drawing/2014/main" id="{68A5447E-B511-41EE-8D6F-2BEB045723AC}"/>
              </a:ext>
            </a:extLst>
          </p:cNvPr>
          <p:cNvSpPr>
            <a:spLocks noGrp="1"/>
          </p:cNvSpPr>
          <p:nvPr>
            <p:ph type="dt" sz="half" idx="10"/>
          </p:nvPr>
        </p:nvSpPr>
        <p:spPr/>
        <p:txBody>
          <a:bodyPr/>
          <a:lstStyle/>
          <a:p>
            <a:fld id="{CBDB9D76-0807-420B-909F-950774C16EE2}" type="datetimeFigureOut">
              <a:rPr lang="x-none" smtClean="0"/>
              <a:t>12/28/2020</a:t>
            </a:fld>
            <a:endParaRPr lang="x-none"/>
          </a:p>
        </p:txBody>
      </p:sp>
      <p:sp>
        <p:nvSpPr>
          <p:cNvPr id="8" name="Footer Placeholder 7">
            <a:extLst>
              <a:ext uri="{FF2B5EF4-FFF2-40B4-BE49-F238E27FC236}">
                <a16:creationId xmlns="" xmlns:a16="http://schemas.microsoft.com/office/drawing/2014/main" id="{F78F03CC-F5A0-4726-B23D-7064E010084F}"/>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 xmlns:a16="http://schemas.microsoft.com/office/drawing/2014/main" id="{6A7D7F89-F3F8-4AA6-8D36-9D1D47F2EDBA}"/>
              </a:ext>
            </a:extLst>
          </p:cNvPr>
          <p:cNvSpPr>
            <a:spLocks noGrp="1"/>
          </p:cNvSpPr>
          <p:nvPr>
            <p:ph type="sldNum" sz="quarter" idx="12"/>
          </p:nvPr>
        </p:nvSpPr>
        <p:spPr/>
        <p:txBody>
          <a:bodyPr/>
          <a:lstStyle/>
          <a:p>
            <a:fld id="{59F21FB4-83A9-408F-A752-841AEA5ECEF6}" type="slidenum">
              <a:rPr lang="x-none" smtClean="0"/>
              <a:t>‹#›</a:t>
            </a:fld>
            <a:endParaRPr lang="x-none"/>
          </a:p>
        </p:txBody>
      </p:sp>
    </p:spTree>
    <p:extLst>
      <p:ext uri="{BB962C8B-B14F-4D97-AF65-F5344CB8AC3E}">
        <p14:creationId xmlns:p14="http://schemas.microsoft.com/office/powerpoint/2010/main" val="554310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F924362-3C77-409D-9833-88A69BFE915A}"/>
              </a:ext>
            </a:extLst>
          </p:cNvPr>
          <p:cNvSpPr>
            <a:spLocks noGrp="1"/>
          </p:cNvSpPr>
          <p:nvPr>
            <p:ph type="title"/>
          </p:nvPr>
        </p:nvSpPr>
        <p:spPr/>
        <p:txBody>
          <a:bodyPr/>
          <a:lstStyle/>
          <a:p>
            <a:r>
              <a:rPr lang="en-US"/>
              <a:t>Click to edit Master title style</a:t>
            </a:r>
            <a:endParaRPr lang="x-none"/>
          </a:p>
        </p:txBody>
      </p:sp>
      <p:sp>
        <p:nvSpPr>
          <p:cNvPr id="3" name="Date Placeholder 2">
            <a:extLst>
              <a:ext uri="{FF2B5EF4-FFF2-40B4-BE49-F238E27FC236}">
                <a16:creationId xmlns="" xmlns:a16="http://schemas.microsoft.com/office/drawing/2014/main" id="{839B3C88-250A-4E91-9473-A17BA60067E0}"/>
              </a:ext>
            </a:extLst>
          </p:cNvPr>
          <p:cNvSpPr>
            <a:spLocks noGrp="1"/>
          </p:cNvSpPr>
          <p:nvPr>
            <p:ph type="dt" sz="half" idx="10"/>
          </p:nvPr>
        </p:nvSpPr>
        <p:spPr/>
        <p:txBody>
          <a:bodyPr/>
          <a:lstStyle/>
          <a:p>
            <a:fld id="{CBDB9D76-0807-420B-909F-950774C16EE2}" type="datetimeFigureOut">
              <a:rPr lang="x-none" smtClean="0"/>
              <a:t>12/28/2020</a:t>
            </a:fld>
            <a:endParaRPr lang="x-none"/>
          </a:p>
        </p:txBody>
      </p:sp>
      <p:sp>
        <p:nvSpPr>
          <p:cNvPr id="4" name="Footer Placeholder 3">
            <a:extLst>
              <a:ext uri="{FF2B5EF4-FFF2-40B4-BE49-F238E27FC236}">
                <a16:creationId xmlns="" xmlns:a16="http://schemas.microsoft.com/office/drawing/2014/main" id="{661A0659-6ECA-46E0-9056-4052102AEB54}"/>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 xmlns:a16="http://schemas.microsoft.com/office/drawing/2014/main" id="{43C97C7F-0D31-492A-A607-D4C52B0A960E}"/>
              </a:ext>
            </a:extLst>
          </p:cNvPr>
          <p:cNvSpPr>
            <a:spLocks noGrp="1"/>
          </p:cNvSpPr>
          <p:nvPr>
            <p:ph type="sldNum" sz="quarter" idx="12"/>
          </p:nvPr>
        </p:nvSpPr>
        <p:spPr/>
        <p:txBody>
          <a:bodyPr/>
          <a:lstStyle/>
          <a:p>
            <a:fld id="{59F21FB4-83A9-408F-A752-841AEA5ECEF6}" type="slidenum">
              <a:rPr lang="x-none" smtClean="0"/>
              <a:t>‹#›</a:t>
            </a:fld>
            <a:endParaRPr lang="x-none"/>
          </a:p>
        </p:txBody>
      </p:sp>
    </p:spTree>
    <p:extLst>
      <p:ext uri="{BB962C8B-B14F-4D97-AF65-F5344CB8AC3E}">
        <p14:creationId xmlns:p14="http://schemas.microsoft.com/office/powerpoint/2010/main" val="2493232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42252F4E-5CF0-441C-98C8-A06512B0E5F9}"/>
              </a:ext>
            </a:extLst>
          </p:cNvPr>
          <p:cNvSpPr>
            <a:spLocks noGrp="1"/>
          </p:cNvSpPr>
          <p:nvPr>
            <p:ph type="dt" sz="half" idx="10"/>
          </p:nvPr>
        </p:nvSpPr>
        <p:spPr/>
        <p:txBody>
          <a:bodyPr/>
          <a:lstStyle/>
          <a:p>
            <a:fld id="{CBDB9D76-0807-420B-909F-950774C16EE2}" type="datetimeFigureOut">
              <a:rPr lang="x-none" smtClean="0"/>
              <a:t>12/28/2020</a:t>
            </a:fld>
            <a:endParaRPr lang="x-none"/>
          </a:p>
        </p:txBody>
      </p:sp>
      <p:sp>
        <p:nvSpPr>
          <p:cNvPr id="3" name="Footer Placeholder 2">
            <a:extLst>
              <a:ext uri="{FF2B5EF4-FFF2-40B4-BE49-F238E27FC236}">
                <a16:creationId xmlns="" xmlns:a16="http://schemas.microsoft.com/office/drawing/2014/main" id="{019F4559-166A-4DEF-9C5A-ECA0A98F86A1}"/>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 xmlns:a16="http://schemas.microsoft.com/office/drawing/2014/main" id="{3C839395-0A27-4590-9588-9946685159BA}"/>
              </a:ext>
            </a:extLst>
          </p:cNvPr>
          <p:cNvSpPr>
            <a:spLocks noGrp="1"/>
          </p:cNvSpPr>
          <p:nvPr>
            <p:ph type="sldNum" sz="quarter" idx="12"/>
          </p:nvPr>
        </p:nvSpPr>
        <p:spPr/>
        <p:txBody>
          <a:bodyPr/>
          <a:lstStyle/>
          <a:p>
            <a:fld id="{59F21FB4-83A9-408F-A752-841AEA5ECEF6}" type="slidenum">
              <a:rPr lang="x-none" smtClean="0"/>
              <a:t>‹#›</a:t>
            </a:fld>
            <a:endParaRPr lang="x-none"/>
          </a:p>
        </p:txBody>
      </p:sp>
    </p:spTree>
    <p:extLst>
      <p:ext uri="{BB962C8B-B14F-4D97-AF65-F5344CB8AC3E}">
        <p14:creationId xmlns:p14="http://schemas.microsoft.com/office/powerpoint/2010/main" val="708891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353F55-836C-40E4-B725-AB84A5F168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B479E54D-D78E-49AC-B889-1DB081963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 xmlns:a16="http://schemas.microsoft.com/office/drawing/2014/main" id="{043FCF62-0542-403C-AEDF-43AA6EF303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955C6065-0A42-4503-B660-D2E3B29EE591}"/>
              </a:ext>
            </a:extLst>
          </p:cNvPr>
          <p:cNvSpPr>
            <a:spLocks noGrp="1"/>
          </p:cNvSpPr>
          <p:nvPr>
            <p:ph type="dt" sz="half" idx="10"/>
          </p:nvPr>
        </p:nvSpPr>
        <p:spPr/>
        <p:txBody>
          <a:bodyPr/>
          <a:lstStyle/>
          <a:p>
            <a:fld id="{CBDB9D76-0807-420B-909F-950774C16EE2}" type="datetimeFigureOut">
              <a:rPr lang="x-none" smtClean="0"/>
              <a:t>12/28/2020</a:t>
            </a:fld>
            <a:endParaRPr lang="x-none"/>
          </a:p>
        </p:txBody>
      </p:sp>
      <p:sp>
        <p:nvSpPr>
          <p:cNvPr id="6" name="Footer Placeholder 5">
            <a:extLst>
              <a:ext uri="{FF2B5EF4-FFF2-40B4-BE49-F238E27FC236}">
                <a16:creationId xmlns="" xmlns:a16="http://schemas.microsoft.com/office/drawing/2014/main" id="{43D126F6-F5FA-4028-B56B-2C269245274E}"/>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 xmlns:a16="http://schemas.microsoft.com/office/drawing/2014/main" id="{EBB35541-281E-4823-8026-EE1681DDFA27}"/>
              </a:ext>
            </a:extLst>
          </p:cNvPr>
          <p:cNvSpPr>
            <a:spLocks noGrp="1"/>
          </p:cNvSpPr>
          <p:nvPr>
            <p:ph type="sldNum" sz="quarter" idx="12"/>
          </p:nvPr>
        </p:nvSpPr>
        <p:spPr/>
        <p:txBody>
          <a:bodyPr/>
          <a:lstStyle/>
          <a:p>
            <a:fld id="{59F21FB4-83A9-408F-A752-841AEA5ECEF6}" type="slidenum">
              <a:rPr lang="x-none" smtClean="0"/>
              <a:t>‹#›</a:t>
            </a:fld>
            <a:endParaRPr lang="x-none"/>
          </a:p>
        </p:txBody>
      </p:sp>
    </p:spTree>
    <p:extLst>
      <p:ext uri="{BB962C8B-B14F-4D97-AF65-F5344CB8AC3E}">
        <p14:creationId xmlns:p14="http://schemas.microsoft.com/office/powerpoint/2010/main" val="3438086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D1E0828-D233-4774-BF17-63FE83BB91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 xmlns:a16="http://schemas.microsoft.com/office/drawing/2014/main" id="{C3BFAEA4-3E7A-4730-B399-63ECCBC47D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a:extLst>
              <a:ext uri="{FF2B5EF4-FFF2-40B4-BE49-F238E27FC236}">
                <a16:creationId xmlns="" xmlns:a16="http://schemas.microsoft.com/office/drawing/2014/main" id="{1090AB24-D089-4A69-B798-4BE25FA482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028372A1-534F-4CB0-8540-026358C0ED91}"/>
              </a:ext>
            </a:extLst>
          </p:cNvPr>
          <p:cNvSpPr>
            <a:spLocks noGrp="1"/>
          </p:cNvSpPr>
          <p:nvPr>
            <p:ph type="dt" sz="half" idx="10"/>
          </p:nvPr>
        </p:nvSpPr>
        <p:spPr/>
        <p:txBody>
          <a:bodyPr/>
          <a:lstStyle/>
          <a:p>
            <a:fld id="{CBDB9D76-0807-420B-909F-950774C16EE2}" type="datetimeFigureOut">
              <a:rPr lang="x-none" smtClean="0"/>
              <a:t>12/28/2020</a:t>
            </a:fld>
            <a:endParaRPr lang="x-none"/>
          </a:p>
        </p:txBody>
      </p:sp>
      <p:sp>
        <p:nvSpPr>
          <p:cNvPr id="6" name="Footer Placeholder 5">
            <a:extLst>
              <a:ext uri="{FF2B5EF4-FFF2-40B4-BE49-F238E27FC236}">
                <a16:creationId xmlns="" xmlns:a16="http://schemas.microsoft.com/office/drawing/2014/main" id="{A2F6A428-9064-4B8C-964D-0F4ABE9E45A0}"/>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 xmlns:a16="http://schemas.microsoft.com/office/drawing/2014/main" id="{A71E6DC6-CDF3-4123-B79F-E329A3BF6C56}"/>
              </a:ext>
            </a:extLst>
          </p:cNvPr>
          <p:cNvSpPr>
            <a:spLocks noGrp="1"/>
          </p:cNvSpPr>
          <p:nvPr>
            <p:ph type="sldNum" sz="quarter" idx="12"/>
          </p:nvPr>
        </p:nvSpPr>
        <p:spPr/>
        <p:txBody>
          <a:bodyPr/>
          <a:lstStyle/>
          <a:p>
            <a:fld id="{59F21FB4-83A9-408F-A752-841AEA5ECEF6}" type="slidenum">
              <a:rPr lang="x-none" smtClean="0"/>
              <a:t>‹#›</a:t>
            </a:fld>
            <a:endParaRPr lang="x-none"/>
          </a:p>
        </p:txBody>
      </p:sp>
    </p:spTree>
    <p:extLst>
      <p:ext uri="{BB962C8B-B14F-4D97-AF65-F5344CB8AC3E}">
        <p14:creationId xmlns:p14="http://schemas.microsoft.com/office/powerpoint/2010/main" val="837571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930D163-A026-4FEC-ACF9-EAA567D7C99B}"/>
              </a:ext>
            </a:extLst>
          </p:cNvPr>
          <p:cNvSpPr>
            <a:spLocks noGrp="1"/>
          </p:cNvSpPr>
          <p:nvPr>
            <p:ph type="title"/>
          </p:nvPr>
        </p:nvSpPr>
        <p:spPr/>
        <p:txBody>
          <a:bodyPr/>
          <a:lstStyle/>
          <a:p>
            <a:r>
              <a:rPr lang="en-US"/>
              <a:t>Click to edit Master title style</a:t>
            </a:r>
            <a:endParaRPr lang="x-none"/>
          </a:p>
        </p:txBody>
      </p:sp>
      <p:sp>
        <p:nvSpPr>
          <p:cNvPr id="3" name="Vertical Text Placeholder 2">
            <a:extLst>
              <a:ext uri="{FF2B5EF4-FFF2-40B4-BE49-F238E27FC236}">
                <a16:creationId xmlns="" xmlns:a16="http://schemas.microsoft.com/office/drawing/2014/main" id="{EE0C36AB-E0EE-4DF2-A924-6BC730CD4C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79B5F459-433B-4B8E-BBC9-A36D9D607AF7}"/>
              </a:ext>
            </a:extLst>
          </p:cNvPr>
          <p:cNvSpPr>
            <a:spLocks noGrp="1"/>
          </p:cNvSpPr>
          <p:nvPr>
            <p:ph type="dt" sz="half" idx="10"/>
          </p:nvPr>
        </p:nvSpPr>
        <p:spPr/>
        <p:txBody>
          <a:bodyPr/>
          <a:lstStyle/>
          <a:p>
            <a:fld id="{CBDB9D76-0807-420B-909F-950774C16EE2}" type="datetimeFigureOut">
              <a:rPr lang="x-none" smtClean="0"/>
              <a:t>12/28/2020</a:t>
            </a:fld>
            <a:endParaRPr lang="x-none"/>
          </a:p>
        </p:txBody>
      </p:sp>
      <p:sp>
        <p:nvSpPr>
          <p:cNvPr id="5" name="Footer Placeholder 4">
            <a:extLst>
              <a:ext uri="{FF2B5EF4-FFF2-40B4-BE49-F238E27FC236}">
                <a16:creationId xmlns="" xmlns:a16="http://schemas.microsoft.com/office/drawing/2014/main" id="{FBCC04DA-55C5-4AA6-B1B8-87B71471E288}"/>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F1C9A10A-5184-44FD-B2C9-736874333412}"/>
              </a:ext>
            </a:extLst>
          </p:cNvPr>
          <p:cNvSpPr>
            <a:spLocks noGrp="1"/>
          </p:cNvSpPr>
          <p:nvPr>
            <p:ph type="sldNum" sz="quarter" idx="12"/>
          </p:nvPr>
        </p:nvSpPr>
        <p:spPr/>
        <p:txBody>
          <a:bodyPr/>
          <a:lstStyle/>
          <a:p>
            <a:fld id="{59F21FB4-83A9-408F-A752-841AEA5ECEF6}" type="slidenum">
              <a:rPr lang="x-none" smtClean="0"/>
              <a:t>‹#›</a:t>
            </a:fld>
            <a:endParaRPr lang="x-none"/>
          </a:p>
        </p:txBody>
      </p:sp>
    </p:spTree>
    <p:extLst>
      <p:ext uri="{BB962C8B-B14F-4D97-AF65-F5344CB8AC3E}">
        <p14:creationId xmlns:p14="http://schemas.microsoft.com/office/powerpoint/2010/main" val="3909768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59AEBB8F-43B9-4D99-884E-F9E473BA850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x-none"/>
          </a:p>
        </p:txBody>
      </p:sp>
      <p:sp>
        <p:nvSpPr>
          <p:cNvPr id="3" name="Vertical Text Placeholder 2">
            <a:extLst>
              <a:ext uri="{FF2B5EF4-FFF2-40B4-BE49-F238E27FC236}">
                <a16:creationId xmlns="" xmlns:a16="http://schemas.microsoft.com/office/drawing/2014/main" id="{49991A35-4341-4317-AF17-0F5542B389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280BC74D-D617-48AA-83DE-04A93B7DAEA7}"/>
              </a:ext>
            </a:extLst>
          </p:cNvPr>
          <p:cNvSpPr>
            <a:spLocks noGrp="1"/>
          </p:cNvSpPr>
          <p:nvPr>
            <p:ph type="dt" sz="half" idx="10"/>
          </p:nvPr>
        </p:nvSpPr>
        <p:spPr/>
        <p:txBody>
          <a:bodyPr/>
          <a:lstStyle/>
          <a:p>
            <a:fld id="{CBDB9D76-0807-420B-909F-950774C16EE2}" type="datetimeFigureOut">
              <a:rPr lang="x-none" smtClean="0"/>
              <a:t>12/28/2020</a:t>
            </a:fld>
            <a:endParaRPr lang="x-none"/>
          </a:p>
        </p:txBody>
      </p:sp>
      <p:sp>
        <p:nvSpPr>
          <p:cNvPr id="5" name="Footer Placeholder 4">
            <a:extLst>
              <a:ext uri="{FF2B5EF4-FFF2-40B4-BE49-F238E27FC236}">
                <a16:creationId xmlns="" xmlns:a16="http://schemas.microsoft.com/office/drawing/2014/main" id="{D2003494-CDBE-4FC4-8981-7F2CE131124E}"/>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9FF7525A-32FC-4B2D-B6A3-45313FBB9BB6}"/>
              </a:ext>
            </a:extLst>
          </p:cNvPr>
          <p:cNvSpPr>
            <a:spLocks noGrp="1"/>
          </p:cNvSpPr>
          <p:nvPr>
            <p:ph type="sldNum" sz="quarter" idx="12"/>
          </p:nvPr>
        </p:nvSpPr>
        <p:spPr/>
        <p:txBody>
          <a:bodyPr/>
          <a:lstStyle/>
          <a:p>
            <a:fld id="{59F21FB4-83A9-408F-A752-841AEA5ECEF6}" type="slidenum">
              <a:rPr lang="x-none" smtClean="0"/>
              <a:t>‹#›</a:t>
            </a:fld>
            <a:endParaRPr lang="x-none"/>
          </a:p>
        </p:txBody>
      </p:sp>
    </p:spTree>
    <p:extLst>
      <p:ext uri="{BB962C8B-B14F-4D97-AF65-F5344CB8AC3E}">
        <p14:creationId xmlns:p14="http://schemas.microsoft.com/office/powerpoint/2010/main" val="2290325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31404918-3B46-405D-BFB2-D13652B1FB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F76A9654-A8A1-43DF-B198-9D1251EBE5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A08CBB35-CCD1-4045-AA4C-AE01A2E0A6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DB9D76-0807-420B-909F-950774C16EE2}" type="datetimeFigureOut">
              <a:rPr lang="x-none" smtClean="0"/>
              <a:t>12/28/2020</a:t>
            </a:fld>
            <a:endParaRPr lang="x-none"/>
          </a:p>
        </p:txBody>
      </p:sp>
      <p:sp>
        <p:nvSpPr>
          <p:cNvPr id="5" name="Footer Placeholder 4">
            <a:extLst>
              <a:ext uri="{FF2B5EF4-FFF2-40B4-BE49-F238E27FC236}">
                <a16:creationId xmlns="" xmlns:a16="http://schemas.microsoft.com/office/drawing/2014/main" id="{8FDEDDD7-D89E-49A9-A750-AB541F2665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 xmlns:a16="http://schemas.microsoft.com/office/drawing/2014/main" id="{9AC37317-3DB5-42EF-9829-BED7CC188A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F21FB4-83A9-408F-A752-841AEA5ECEF6}" type="slidenum">
              <a:rPr lang="x-none" smtClean="0"/>
              <a:t>‹#›</a:t>
            </a:fld>
            <a:endParaRPr lang="x-none"/>
          </a:p>
        </p:txBody>
      </p:sp>
    </p:spTree>
    <p:extLst>
      <p:ext uri="{BB962C8B-B14F-4D97-AF65-F5344CB8AC3E}">
        <p14:creationId xmlns:p14="http://schemas.microsoft.com/office/powerpoint/2010/main" val="519460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 xmlns:a16="http://schemas.microsoft.com/office/drawing/2014/main" id="{C54A3646-77FE-4862-96CE-45260829B18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 xmlns:a16="http://schemas.microsoft.com/office/drawing/2014/main" id="{3F6FA249-9C10-48B9-9F72-1F333D8A9486}"/>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417513" y="0"/>
            <a:ext cx="12584114" cy="6853238"/>
            <a:chOff x="-417513" y="0"/>
            <a:chExt cx="12584114" cy="6853238"/>
          </a:xfrm>
        </p:grpSpPr>
        <p:sp>
          <p:nvSpPr>
            <p:cNvPr id="20" name="Freeform 5">
              <a:extLst>
                <a:ext uri="{FF2B5EF4-FFF2-40B4-BE49-F238E27FC236}">
                  <a16:creationId xmlns="" xmlns:a16="http://schemas.microsoft.com/office/drawing/2014/main" id="{036894FA-6F9A-4863-AEC5-B734F4226C26}"/>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6">
              <a:extLst>
                <a:ext uri="{FF2B5EF4-FFF2-40B4-BE49-F238E27FC236}">
                  <a16:creationId xmlns="" xmlns:a16="http://schemas.microsoft.com/office/drawing/2014/main" id="{6B103C0B-E1BF-4BF0-9605-7426160F9EBD}"/>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7">
              <a:extLst>
                <a:ext uri="{FF2B5EF4-FFF2-40B4-BE49-F238E27FC236}">
                  <a16:creationId xmlns="" xmlns:a16="http://schemas.microsoft.com/office/drawing/2014/main" id="{B796B9AB-146B-42B0-B1F4-7EF69C521A09}"/>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8">
              <a:extLst>
                <a:ext uri="{FF2B5EF4-FFF2-40B4-BE49-F238E27FC236}">
                  <a16:creationId xmlns="" xmlns:a16="http://schemas.microsoft.com/office/drawing/2014/main" id="{0B8CEE20-F67A-4CFC-88F1-4C942EB624F9}"/>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4" name="Freeform 9">
              <a:extLst>
                <a:ext uri="{FF2B5EF4-FFF2-40B4-BE49-F238E27FC236}">
                  <a16:creationId xmlns="" xmlns:a16="http://schemas.microsoft.com/office/drawing/2014/main" id="{6B823E68-E880-4A79-82AD-6088E1DEADAF}"/>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5" name="Freeform 10">
              <a:extLst>
                <a:ext uri="{FF2B5EF4-FFF2-40B4-BE49-F238E27FC236}">
                  <a16:creationId xmlns="" xmlns:a16="http://schemas.microsoft.com/office/drawing/2014/main" id="{C90FFE78-151B-4C6F-893F-6832706022F6}"/>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6" name="Freeform 11">
              <a:extLst>
                <a:ext uri="{FF2B5EF4-FFF2-40B4-BE49-F238E27FC236}">
                  <a16:creationId xmlns="" xmlns:a16="http://schemas.microsoft.com/office/drawing/2014/main" id="{3A2B9B53-0432-42A0-ACC1-23CCDB1183AF}"/>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7" name="Freeform 12">
              <a:extLst>
                <a:ext uri="{FF2B5EF4-FFF2-40B4-BE49-F238E27FC236}">
                  <a16:creationId xmlns="" xmlns:a16="http://schemas.microsoft.com/office/drawing/2014/main" id="{142954D5-E17A-4C4B-B575-9D2BE72C64AE}"/>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8" name="Freeform 13">
              <a:extLst>
                <a:ext uri="{FF2B5EF4-FFF2-40B4-BE49-F238E27FC236}">
                  <a16:creationId xmlns="" xmlns:a16="http://schemas.microsoft.com/office/drawing/2014/main" id="{2317E4B1-5573-4066-895C-2FB759804A2C}"/>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14">
              <a:extLst>
                <a:ext uri="{FF2B5EF4-FFF2-40B4-BE49-F238E27FC236}">
                  <a16:creationId xmlns="" xmlns:a16="http://schemas.microsoft.com/office/drawing/2014/main" id="{EBA723B4-613D-41FA-93E8-94173C930FF0}"/>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15">
              <a:extLst>
                <a:ext uri="{FF2B5EF4-FFF2-40B4-BE49-F238E27FC236}">
                  <a16:creationId xmlns="" xmlns:a16="http://schemas.microsoft.com/office/drawing/2014/main" id="{D2693AEC-A60D-40B1-87B3-1EF30A56D4BD}"/>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16">
              <a:extLst>
                <a:ext uri="{FF2B5EF4-FFF2-40B4-BE49-F238E27FC236}">
                  <a16:creationId xmlns="" xmlns:a16="http://schemas.microsoft.com/office/drawing/2014/main" id="{0EFB57B1-129C-4CA5-9513-29226043BF35}"/>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2" name="Freeform 17">
              <a:extLst>
                <a:ext uri="{FF2B5EF4-FFF2-40B4-BE49-F238E27FC236}">
                  <a16:creationId xmlns="" xmlns:a16="http://schemas.microsoft.com/office/drawing/2014/main" id="{AC89A1FD-35E1-4574-A439-61C20F457D30}"/>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3" name="Freeform 18">
              <a:extLst>
                <a:ext uri="{FF2B5EF4-FFF2-40B4-BE49-F238E27FC236}">
                  <a16:creationId xmlns="" xmlns:a16="http://schemas.microsoft.com/office/drawing/2014/main" id="{4D55D1DF-59D8-4B47-87C4-FB3A82689AE6}"/>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4" name="Freeform 19">
              <a:extLst>
                <a:ext uri="{FF2B5EF4-FFF2-40B4-BE49-F238E27FC236}">
                  <a16:creationId xmlns="" xmlns:a16="http://schemas.microsoft.com/office/drawing/2014/main" id="{F99FF32E-3548-4B4D-894E-B3A06C12A763}"/>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5" name="Freeform 20">
              <a:extLst>
                <a:ext uri="{FF2B5EF4-FFF2-40B4-BE49-F238E27FC236}">
                  <a16:creationId xmlns="" xmlns:a16="http://schemas.microsoft.com/office/drawing/2014/main" id="{5005D0D4-EFA9-4355-BA9B-A7B46F9412FA}"/>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36" name="Freeform 21">
              <a:extLst>
                <a:ext uri="{FF2B5EF4-FFF2-40B4-BE49-F238E27FC236}">
                  <a16:creationId xmlns="" xmlns:a16="http://schemas.microsoft.com/office/drawing/2014/main" id="{6350B02F-5937-44B9-83F4-9C970BE963AF}"/>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37" name="Freeform 22">
              <a:extLst>
                <a:ext uri="{FF2B5EF4-FFF2-40B4-BE49-F238E27FC236}">
                  <a16:creationId xmlns="" xmlns:a16="http://schemas.microsoft.com/office/drawing/2014/main" id="{F21A245F-C10F-495E-BD0E-CE576C7F0D7E}"/>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8" name="Freeform 23">
              <a:extLst>
                <a:ext uri="{FF2B5EF4-FFF2-40B4-BE49-F238E27FC236}">
                  <a16:creationId xmlns="" xmlns:a16="http://schemas.microsoft.com/office/drawing/2014/main" id="{6F524856-7B56-403B-B504-044710FD5453}"/>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24">
              <a:extLst>
                <a:ext uri="{FF2B5EF4-FFF2-40B4-BE49-F238E27FC236}">
                  <a16:creationId xmlns="" xmlns:a16="http://schemas.microsoft.com/office/drawing/2014/main" id="{4E6D29BC-894B-4228-9F3F-92037EA39627}"/>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25">
              <a:extLst>
                <a:ext uri="{FF2B5EF4-FFF2-40B4-BE49-F238E27FC236}">
                  <a16:creationId xmlns="" xmlns:a16="http://schemas.microsoft.com/office/drawing/2014/main" id="{E03B2DC6-DF02-45CB-AC7C-6EBBD359C384}"/>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useBgFill="1">
        <p:nvSpPr>
          <p:cNvPr id="42" name="Rectangle 41">
            <a:extLst>
              <a:ext uri="{FF2B5EF4-FFF2-40B4-BE49-F238E27FC236}">
                <a16:creationId xmlns="" xmlns:a16="http://schemas.microsoft.com/office/drawing/2014/main" id="{700D0C16-8549-4373-8B7C-3555082CEA0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1923664"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774D1118-DE0E-4D71-8C76-D9A4912C0AAC}"/>
              </a:ext>
            </a:extLst>
          </p:cNvPr>
          <p:cNvSpPr>
            <a:spLocks noGrp="1"/>
          </p:cNvSpPr>
          <p:nvPr>
            <p:ph type="ctrTitle"/>
          </p:nvPr>
        </p:nvSpPr>
        <p:spPr>
          <a:xfrm>
            <a:off x="2358284" y="2228850"/>
            <a:ext cx="9214591" cy="2972214"/>
          </a:xfrm>
        </p:spPr>
        <p:txBody>
          <a:bodyPr vert="horz" lIns="91440" tIns="45720" rIns="91440" bIns="45720" rtlCol="0" anchor="t">
            <a:normAutofit fontScale="90000"/>
          </a:bodyPr>
          <a:lstStyle/>
          <a:p>
            <a:r>
              <a:rPr lang="en-US" sz="5400" b="1" kern="1200" dirty="0">
                <a:latin typeface="Algerian" panose="04020705040A02060702" pitchFamily="82" charset="0"/>
              </a:rPr>
              <a:t>Lexical Semantics</a:t>
            </a:r>
            <a:br>
              <a:rPr lang="en-US" sz="5400" b="1" kern="1200" dirty="0">
                <a:latin typeface="Algerian" panose="04020705040A02060702" pitchFamily="82" charset="0"/>
              </a:rPr>
            </a:br>
            <a:r>
              <a:rPr lang="en-US" sz="5400" b="1" kern="1200" dirty="0">
                <a:latin typeface="Algerian" panose="04020705040A02060702" pitchFamily="82" charset="0"/>
              </a:rPr>
              <a:t>&amp;</a:t>
            </a:r>
            <a:br>
              <a:rPr lang="en-US" sz="5400" b="1" kern="1200" dirty="0">
                <a:latin typeface="Algerian" panose="04020705040A02060702" pitchFamily="82" charset="0"/>
              </a:rPr>
            </a:br>
            <a:r>
              <a:rPr lang="en-US" sz="5400" b="1" kern="1200" dirty="0">
                <a:latin typeface="Algerian" panose="04020705040A02060702" pitchFamily="82" charset="0"/>
              </a:rPr>
              <a:t>Computational Semantics</a:t>
            </a:r>
          </a:p>
        </p:txBody>
      </p:sp>
      <p:sp>
        <p:nvSpPr>
          <p:cNvPr id="44" name="Isosceles Triangle 43">
            <a:extLst>
              <a:ext uri="{FF2B5EF4-FFF2-40B4-BE49-F238E27FC236}">
                <a16:creationId xmlns="" xmlns:a16="http://schemas.microsoft.com/office/drawing/2014/main" id="{C7341777-0F86-4E1E-A07F-2076F00D04E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5400000">
            <a:off x="1797903"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pic>
        <p:nvPicPr>
          <p:cNvPr id="1028" name="Picture 4" descr="DSpace at Air University Islamabad: Home">
            <a:extLst>
              <a:ext uri="{FF2B5EF4-FFF2-40B4-BE49-F238E27FC236}">
                <a16:creationId xmlns="" xmlns:a16="http://schemas.microsoft.com/office/drawing/2014/main" id="{C56B062C-ADC0-4A50-8E48-A86A6D1D6C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7" y="0"/>
            <a:ext cx="1928573" cy="19173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39900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D45EDFE-83CF-4BB9-B726-69B560E50C09}"/>
              </a:ext>
            </a:extLst>
          </p:cNvPr>
          <p:cNvSpPr>
            <a:spLocks noGrp="1"/>
          </p:cNvSpPr>
          <p:nvPr>
            <p:ph type="title"/>
          </p:nvPr>
        </p:nvSpPr>
        <p:spPr/>
        <p:txBody>
          <a:bodyPr/>
          <a:lstStyle/>
          <a:p>
            <a:pPr algn="ctr"/>
            <a:r>
              <a:rPr lang="en-US" b="1" dirty="0">
                <a:latin typeface="Algerian" panose="04020705040A02060702" pitchFamily="82" charset="0"/>
              </a:rPr>
              <a:t>Lexical Semantics</a:t>
            </a:r>
            <a:endParaRPr lang="x-none" b="1" dirty="0">
              <a:latin typeface="Algerian" panose="04020705040A02060702" pitchFamily="82" charset="0"/>
            </a:endParaRPr>
          </a:p>
        </p:txBody>
      </p:sp>
      <p:sp>
        <p:nvSpPr>
          <p:cNvPr id="3" name="Content Placeholder 2">
            <a:extLst>
              <a:ext uri="{FF2B5EF4-FFF2-40B4-BE49-F238E27FC236}">
                <a16:creationId xmlns="" xmlns:a16="http://schemas.microsoft.com/office/drawing/2014/main" id="{E1F91A05-DB6C-484D-8A33-BFE741DD3DFE}"/>
              </a:ext>
            </a:extLst>
          </p:cNvPr>
          <p:cNvSpPr>
            <a:spLocks noGrp="1"/>
          </p:cNvSpPr>
          <p:nvPr>
            <p:ph idx="1"/>
          </p:nvPr>
        </p:nvSpPr>
        <p:spPr>
          <a:xfrm>
            <a:off x="342900" y="2055813"/>
            <a:ext cx="11444288" cy="4299830"/>
          </a:xfrm>
        </p:spPr>
        <p:txBody>
          <a:bodyPr>
            <a:normAutofit fontScale="25000" lnSpcReduction="20000"/>
          </a:bodyPr>
          <a:lstStyle/>
          <a:p>
            <a:pPr marL="0" indent="0">
              <a:buNone/>
            </a:pPr>
            <a:r>
              <a:rPr lang="en-US" sz="9600" b="1" i="0" dirty="0">
                <a:effectLst/>
                <a:latin typeface="Times New Roman" panose="02020603050405020304" pitchFamily="18" charset="0"/>
                <a:cs typeface="Times New Roman" panose="02020603050405020304" pitchFamily="18" charset="0"/>
              </a:rPr>
              <a:t>Semantics</a:t>
            </a:r>
            <a:r>
              <a:rPr lang="en-US" sz="9600" b="0" i="0" dirty="0">
                <a:effectLst/>
                <a:latin typeface="Times New Roman" panose="02020603050405020304" pitchFamily="18" charset="0"/>
                <a:cs typeface="Times New Roman" panose="02020603050405020304" pitchFamily="18" charset="0"/>
              </a:rPr>
              <a:t> is the study of meanings in language. It can be applied to entire texts or to single words.</a:t>
            </a:r>
          </a:p>
          <a:p>
            <a:pPr marL="0" indent="0">
              <a:buNone/>
            </a:pPr>
            <a:r>
              <a:rPr lang="en-US" sz="9600" b="1" dirty="0">
                <a:latin typeface="Times New Roman" panose="02020603050405020304" pitchFamily="18" charset="0"/>
                <a:cs typeface="Times New Roman" panose="02020603050405020304" pitchFamily="18" charset="0"/>
              </a:rPr>
              <a:t>  Example:</a:t>
            </a:r>
          </a:p>
          <a:p>
            <a:pPr marL="0" indent="0" algn="ctr">
              <a:buNone/>
            </a:pPr>
            <a:r>
              <a:rPr lang="en-US" sz="9600" b="0" i="0" dirty="0">
                <a:effectLst/>
                <a:latin typeface="Times New Roman" panose="02020603050405020304" pitchFamily="18" charset="0"/>
                <a:cs typeface="Times New Roman" panose="02020603050405020304" pitchFamily="18" charset="0"/>
              </a:rPr>
              <a:t>   The simple word "on" can have many meanings, such as: on call, on the roof, on cloud nine, on edge, on fire, on purpose, on demand, on top, or on the phone.</a:t>
            </a:r>
          </a:p>
          <a:p>
            <a:pPr marL="0" indent="0">
              <a:buNone/>
            </a:pPr>
            <a:r>
              <a:rPr lang="en-US" sz="9600" b="1" i="0" dirty="0">
                <a:effectLst/>
                <a:latin typeface="Times New Roman" panose="02020603050405020304" pitchFamily="18" charset="0"/>
                <a:cs typeface="Times New Roman" panose="02020603050405020304" pitchFamily="18" charset="0"/>
              </a:rPr>
              <a:t>Lex</a:t>
            </a:r>
            <a:r>
              <a:rPr lang="en-US" sz="9600" b="1" dirty="0">
                <a:latin typeface="Times New Roman" panose="02020603050405020304" pitchFamily="18" charset="0"/>
                <a:cs typeface="Times New Roman" panose="02020603050405020304" pitchFamily="18" charset="0"/>
              </a:rPr>
              <a:t>ical Semantics</a:t>
            </a:r>
            <a:r>
              <a:rPr lang="en-US" sz="9600" b="1" dirty="0">
                <a:solidFill>
                  <a:srgbClr val="333333"/>
                </a:solidFill>
                <a:latin typeface="Times New Roman" panose="02020603050405020304" pitchFamily="18" charset="0"/>
                <a:cs typeface="Times New Roman" panose="02020603050405020304" pitchFamily="18" charset="0"/>
              </a:rPr>
              <a:t>: </a:t>
            </a:r>
            <a:r>
              <a:rPr lang="en-US" sz="9600" dirty="0">
                <a:latin typeface="Times New Roman" panose="02020603050405020304" pitchFamily="18" charset="0"/>
                <a:cs typeface="Times New Roman" panose="02020603050405020304" pitchFamily="18" charset="0"/>
              </a:rPr>
              <a:t>Lexical Semantics deconstruct words and phrases within a line of text to understand the meaning in terms of context.</a:t>
            </a:r>
          </a:p>
          <a:p>
            <a:pPr marL="0" indent="0">
              <a:lnSpc>
                <a:spcPct val="110000"/>
              </a:lnSpc>
              <a:buNone/>
            </a:pPr>
            <a:r>
              <a:rPr lang="en-US" sz="9600" b="1" dirty="0">
                <a:latin typeface="Times New Roman" panose="02020603050405020304" pitchFamily="18" charset="0"/>
                <a:cs typeface="Times New Roman" panose="02020603050405020304" pitchFamily="18" charset="0"/>
              </a:rPr>
              <a:t>Lexicon </a:t>
            </a:r>
            <a:r>
              <a:rPr lang="en-US" sz="9600" dirty="0">
                <a:latin typeface="Times New Roman" panose="02020603050405020304" pitchFamily="18" charset="0"/>
                <a:cs typeface="Times New Roman" panose="02020603050405020304" pitchFamily="18" charset="0"/>
              </a:rPr>
              <a:t>is mental dictionary which stores lexemes or senses or both.</a:t>
            </a:r>
          </a:p>
          <a:p>
            <a:pPr marL="0" indent="0">
              <a:lnSpc>
                <a:spcPct val="110000"/>
              </a:lnSpc>
              <a:buNone/>
            </a:pPr>
            <a:r>
              <a:rPr lang="en-US" sz="9600" b="1" dirty="0">
                <a:latin typeface="Times New Roman" panose="02020603050405020304" pitchFamily="18" charset="0"/>
                <a:cs typeface="Times New Roman" panose="02020603050405020304" pitchFamily="18" charset="0"/>
              </a:rPr>
              <a:t>Example: </a:t>
            </a:r>
            <a:r>
              <a:rPr lang="en-US" sz="9600" dirty="0">
                <a:latin typeface="Times New Roman" panose="02020603050405020304" pitchFamily="18" charset="0"/>
                <a:cs typeface="Times New Roman" panose="02020603050405020304" pitchFamily="18" charset="0"/>
              </a:rPr>
              <a:t>The word  Bank can mean the side of river or can mean at money vaults.</a:t>
            </a:r>
          </a:p>
          <a:p>
            <a:pPr marL="0" indent="0">
              <a:lnSpc>
                <a:spcPct val="110000"/>
              </a:lnSpc>
              <a:buNone/>
            </a:pPr>
            <a:r>
              <a:rPr lang="en-US" sz="9600" dirty="0">
                <a:latin typeface="Times New Roman" panose="02020603050405020304" pitchFamily="18" charset="0"/>
                <a:cs typeface="Times New Roman" panose="02020603050405020304" pitchFamily="18" charset="0"/>
              </a:rPr>
              <a:t>One word bank has multiple senses.</a:t>
            </a:r>
          </a:p>
          <a:p>
            <a:pPr marL="0" indent="0">
              <a:lnSpc>
                <a:spcPct val="110000"/>
              </a:lnSpc>
              <a:buNone/>
            </a:pPr>
            <a:r>
              <a:rPr lang="en-US" sz="9600" b="1" dirty="0">
                <a:latin typeface="Times New Roman" panose="02020603050405020304" pitchFamily="18" charset="0"/>
                <a:cs typeface="Times New Roman" panose="02020603050405020304" pitchFamily="18" charset="0"/>
              </a:rPr>
              <a:t>Example: </a:t>
            </a:r>
            <a:r>
              <a:rPr lang="en-US" sz="9600" dirty="0">
                <a:latin typeface="Times New Roman" panose="02020603050405020304" pitchFamily="18" charset="0"/>
                <a:cs typeface="Times New Roman" panose="02020603050405020304" pitchFamily="18" charset="0"/>
              </a:rPr>
              <a:t>The word Dad and father may have same sense or same meaning.</a:t>
            </a:r>
          </a:p>
          <a:p>
            <a:pPr marL="0" indent="0">
              <a:buNone/>
            </a:pPr>
            <a:endParaRPr lang="en-US" b="1" dirty="0">
              <a:solidFill>
                <a:srgbClr val="202124"/>
              </a:solidFill>
              <a:latin typeface="Times New Roman" panose="02020603050405020304" pitchFamily="18" charset="0"/>
              <a:cs typeface="Times New Roman" panose="02020603050405020304" pitchFamily="18" charset="0"/>
            </a:endParaRPr>
          </a:p>
          <a:p>
            <a:pPr marL="0" indent="0">
              <a:buNone/>
            </a:pPr>
            <a:r>
              <a:rPr lang="en-US" dirty="0"/>
              <a:t/>
            </a:r>
            <a:br>
              <a:rPr lang="en-US" dirty="0"/>
            </a:br>
            <a:endParaRPr lang="x-none" dirty="0"/>
          </a:p>
        </p:txBody>
      </p:sp>
      <p:pic>
        <p:nvPicPr>
          <p:cNvPr id="4" name="Picture 4" descr="DSpace at Air University Islamabad: Home">
            <a:extLst>
              <a:ext uri="{FF2B5EF4-FFF2-40B4-BE49-F238E27FC236}">
                <a16:creationId xmlns="" xmlns:a16="http://schemas.microsoft.com/office/drawing/2014/main" id="{3C18DCE9-B283-4E73-9425-539E64F2B2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05948" cy="12059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4311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F0BA58F-A6F0-4FAE-870E-0964E8DE5915}"/>
              </a:ext>
            </a:extLst>
          </p:cNvPr>
          <p:cNvSpPr>
            <a:spLocks noGrp="1"/>
          </p:cNvSpPr>
          <p:nvPr>
            <p:ph type="title"/>
          </p:nvPr>
        </p:nvSpPr>
        <p:spPr/>
        <p:txBody>
          <a:bodyPr>
            <a:normAutofit/>
          </a:bodyPr>
          <a:lstStyle/>
          <a:p>
            <a:pPr algn="ctr"/>
            <a:r>
              <a:rPr lang="en-US" b="1" dirty="0">
                <a:latin typeface="Algerian" panose="04020705040A02060702" pitchFamily="82" charset="0"/>
              </a:rPr>
              <a:t>Relations among lexemes and senses:</a:t>
            </a:r>
            <a:endParaRPr lang="x-none" b="1" dirty="0">
              <a:latin typeface="Algerian" panose="04020705040A02060702" pitchFamily="82" charset="0"/>
            </a:endParaRPr>
          </a:p>
        </p:txBody>
      </p:sp>
      <p:sp>
        <p:nvSpPr>
          <p:cNvPr id="3" name="Content Placeholder 2">
            <a:extLst>
              <a:ext uri="{FF2B5EF4-FFF2-40B4-BE49-F238E27FC236}">
                <a16:creationId xmlns="" xmlns:a16="http://schemas.microsoft.com/office/drawing/2014/main" id="{C0EA9426-0AD4-40D9-BFCC-812D60EF92CC}"/>
              </a:ext>
            </a:extLst>
          </p:cNvPr>
          <p:cNvSpPr>
            <a:spLocks noGrp="1"/>
          </p:cNvSpPr>
          <p:nvPr>
            <p:ph idx="1"/>
          </p:nvPr>
        </p:nvSpPr>
        <p:spPr>
          <a:xfrm>
            <a:off x="457201" y="1690688"/>
            <a:ext cx="10896470" cy="5167312"/>
          </a:xfrm>
        </p:spPr>
        <p:txBody>
          <a:bodyPr>
            <a:normAutofit fontScale="25000" lnSpcReduction="20000"/>
          </a:bodyPr>
          <a:lstStyle/>
          <a:p>
            <a:pPr marL="0" indent="0">
              <a:buNone/>
            </a:pPr>
            <a:r>
              <a:rPr lang="en-US" sz="9600" b="1" u="sng" dirty="0">
                <a:latin typeface="Times New Roman" panose="02020603050405020304" pitchFamily="18" charset="0"/>
                <a:cs typeface="Times New Roman" panose="02020603050405020304" pitchFamily="18" charset="0"/>
              </a:rPr>
              <a:t>Homonyms</a:t>
            </a:r>
            <a:r>
              <a:rPr lang="en-US" sz="9600" u="sng" dirty="0">
                <a:latin typeface="Times New Roman" panose="02020603050405020304" pitchFamily="18" charset="0"/>
                <a:cs typeface="Times New Roman" panose="02020603050405020304" pitchFamily="18" charset="0"/>
              </a:rPr>
              <a:t> </a:t>
            </a:r>
            <a:r>
              <a:rPr lang="en-US" sz="9600" dirty="0">
                <a:latin typeface="Times New Roman" panose="02020603050405020304" pitchFamily="18" charset="0"/>
                <a:cs typeface="Times New Roman" panose="02020603050405020304" pitchFamily="18" charset="0"/>
              </a:rPr>
              <a:t>that share a form but have unrelated distinct meanings.</a:t>
            </a:r>
          </a:p>
          <a:p>
            <a:pPr marL="0" indent="0">
              <a:buNone/>
            </a:pPr>
            <a:r>
              <a:rPr lang="en-US" sz="9600" b="0" i="0" dirty="0">
                <a:effectLst/>
                <a:latin typeface="Times New Roman" panose="02020603050405020304" pitchFamily="18" charset="0"/>
                <a:cs typeface="Times New Roman" panose="02020603050405020304" pitchFamily="18" charset="0"/>
              </a:rPr>
              <a:t>Homonyms are generally defined as words different in meaning but either identical both in sound and spelling or identical only in sound or spelling. </a:t>
            </a:r>
          </a:p>
          <a:p>
            <a:pPr marL="0" indent="0">
              <a:buNone/>
            </a:pPr>
            <a:r>
              <a:rPr lang="en-US" sz="9600" b="1" i="0" dirty="0">
                <a:effectLst/>
                <a:latin typeface="Times New Roman" panose="02020603050405020304" pitchFamily="18" charset="0"/>
                <a:cs typeface="Times New Roman" panose="02020603050405020304" pitchFamily="18" charset="0"/>
              </a:rPr>
              <a:t> Example:</a:t>
            </a:r>
          </a:p>
          <a:p>
            <a:pPr marL="571500" indent="-571500">
              <a:buAutoNum type="romanLcPeriod"/>
            </a:pPr>
            <a:r>
              <a:rPr lang="en-US" sz="9600" b="0" i="0" dirty="0">
                <a:effectLst/>
                <a:latin typeface="Times New Roman" panose="02020603050405020304" pitchFamily="18" charset="0"/>
                <a:cs typeface="Times New Roman" panose="02020603050405020304" pitchFamily="18" charset="0"/>
              </a:rPr>
              <a:t>Our house is on the West bank of the river</a:t>
            </a:r>
          </a:p>
          <a:p>
            <a:pPr marL="571500" indent="-571500">
              <a:buAutoNum type="romanLcPeriod"/>
            </a:pPr>
            <a:r>
              <a:rPr lang="en-US" sz="9600" b="0" i="0" dirty="0">
                <a:effectLst/>
                <a:latin typeface="Times New Roman" panose="02020603050405020304" pitchFamily="18" charset="0"/>
                <a:cs typeface="Times New Roman" panose="02020603050405020304" pitchFamily="18" charset="0"/>
              </a:rPr>
              <a:t> I want to save my money in the bank.</a:t>
            </a:r>
            <a:endParaRPr lang="en-US" sz="9600" dirty="0">
              <a:latin typeface="Times New Roman" panose="02020603050405020304" pitchFamily="18" charset="0"/>
              <a:cs typeface="Times New Roman" panose="02020603050405020304" pitchFamily="18" charset="0"/>
            </a:endParaRPr>
          </a:p>
          <a:p>
            <a:pPr marL="0" indent="0">
              <a:buNone/>
            </a:pPr>
            <a:r>
              <a:rPr lang="en-US" sz="9600" b="1" u="sng" dirty="0">
                <a:latin typeface="Times New Roman" panose="02020603050405020304" pitchFamily="18" charset="0"/>
                <a:cs typeface="Times New Roman" panose="02020603050405020304" pitchFamily="18" charset="0"/>
              </a:rPr>
              <a:t>Homophones</a:t>
            </a:r>
            <a:r>
              <a:rPr lang="en-US" sz="9600" dirty="0">
                <a:latin typeface="Times New Roman" panose="02020603050405020304" pitchFamily="18" charset="0"/>
                <a:cs typeface="Times New Roman" panose="02020603050405020304" pitchFamily="18" charset="0"/>
              </a:rPr>
              <a:t> are senses that are linked to lemmas with the same pronunciation but different spellings.</a:t>
            </a:r>
          </a:p>
          <a:p>
            <a:pPr marL="0" indent="0">
              <a:buNone/>
            </a:pPr>
            <a:r>
              <a:rPr lang="en-US" sz="9600" b="0" i="0" dirty="0">
                <a:effectLst/>
                <a:latin typeface="Times New Roman" panose="02020603050405020304" pitchFamily="18" charset="0"/>
                <a:cs typeface="Times New Roman" panose="02020603050405020304" pitchFamily="18" charset="0"/>
              </a:rPr>
              <a:t>A homophone is a word that is pronounced the same as another word but differs in meaning and may differ in spelling. </a:t>
            </a:r>
          </a:p>
          <a:p>
            <a:pPr marL="0" indent="0">
              <a:buNone/>
            </a:pPr>
            <a:r>
              <a:rPr lang="en-US" sz="9600" b="1" dirty="0">
                <a:latin typeface="Times New Roman" panose="02020603050405020304" pitchFamily="18" charset="0"/>
                <a:cs typeface="Times New Roman" panose="02020603050405020304" pitchFamily="18" charset="0"/>
              </a:rPr>
              <a:t>                      Example: </a:t>
            </a:r>
            <a:r>
              <a:rPr lang="en-US" sz="9600" dirty="0">
                <a:latin typeface="Times New Roman" panose="02020603050405020304" pitchFamily="18" charset="0"/>
                <a:cs typeface="Times New Roman" panose="02020603050405020304" pitchFamily="18" charset="0"/>
              </a:rPr>
              <a:t>would/ wood</a:t>
            </a:r>
          </a:p>
          <a:p>
            <a:pPr marL="0" indent="0">
              <a:buNone/>
            </a:pPr>
            <a:r>
              <a:rPr lang="en-US" sz="9600" dirty="0">
                <a:latin typeface="Times New Roman" panose="02020603050405020304" pitchFamily="18" charset="0"/>
                <a:cs typeface="Times New Roman" panose="02020603050405020304" pitchFamily="18" charset="0"/>
              </a:rPr>
              <a:t>                                       too/two/to</a:t>
            </a:r>
          </a:p>
          <a:p>
            <a:pPr marL="0" indent="0">
              <a:buNone/>
            </a:pPr>
            <a:r>
              <a:rPr lang="en-US" sz="9600" b="1" u="sng" dirty="0">
                <a:latin typeface="Times New Roman" panose="02020603050405020304" pitchFamily="18" charset="0"/>
                <a:cs typeface="Times New Roman" panose="02020603050405020304" pitchFamily="18" charset="0"/>
              </a:rPr>
              <a:t>Homographs</a:t>
            </a:r>
            <a:r>
              <a:rPr lang="en-US" sz="9600" dirty="0">
                <a:latin typeface="Times New Roman" panose="02020603050405020304" pitchFamily="18" charset="0"/>
                <a:cs typeface="Times New Roman" panose="02020603050405020304" pitchFamily="18" charset="0"/>
              </a:rPr>
              <a:t> are distinct senses linked to lemmas with the same orthographic form but different pronunciations.</a:t>
            </a:r>
          </a:p>
          <a:p>
            <a:pPr marL="0" indent="0">
              <a:buNone/>
            </a:pPr>
            <a:r>
              <a:rPr lang="en-US" sz="9600" b="1" dirty="0">
                <a:latin typeface="Times New Roman" panose="02020603050405020304" pitchFamily="18" charset="0"/>
                <a:cs typeface="Times New Roman" panose="02020603050405020304" pitchFamily="18" charset="0"/>
              </a:rPr>
              <a:t>Example</a:t>
            </a:r>
            <a:r>
              <a:rPr lang="en-US" sz="9600" dirty="0">
                <a:latin typeface="Times New Roman" panose="02020603050405020304" pitchFamily="18" charset="0"/>
                <a:cs typeface="Times New Roman" panose="02020603050405020304" pitchFamily="18" charset="0"/>
              </a:rPr>
              <a:t>: Articulate (Adj) Articulate (Verb)</a:t>
            </a:r>
          </a:p>
          <a:p>
            <a:pPr marL="0" indent="0">
              <a:buNone/>
            </a:pPr>
            <a:endParaRPr lang="en-US" sz="2800" dirty="0">
              <a:latin typeface="Times New Roman" panose="02020603050405020304" pitchFamily="18" charset="0"/>
              <a:cs typeface="Times New Roman" panose="02020603050405020304" pitchFamily="18" charset="0"/>
            </a:endParaRPr>
          </a:p>
          <a:p>
            <a:pPr marL="0" indent="0">
              <a:buNone/>
            </a:pPr>
            <a:r>
              <a:rPr lang="en-US" sz="1600" i="0" dirty="0">
                <a:effectLst/>
                <a:latin typeface="Times New Roman" panose="02020603050405020304" pitchFamily="18" charset="0"/>
                <a:cs typeface="Times New Roman" panose="02020603050405020304" pitchFamily="18" charset="0"/>
              </a:rPr>
              <a:t> </a:t>
            </a:r>
            <a:endParaRPr lang="x-none" sz="1600" dirty="0">
              <a:latin typeface="Times New Roman" panose="02020603050405020304" pitchFamily="18" charset="0"/>
              <a:cs typeface="Times New Roman" panose="02020603050405020304" pitchFamily="18" charset="0"/>
            </a:endParaRPr>
          </a:p>
        </p:txBody>
      </p:sp>
      <p:pic>
        <p:nvPicPr>
          <p:cNvPr id="4" name="Picture 4" descr="DSpace at Air University Islamabad: Home">
            <a:extLst>
              <a:ext uri="{FF2B5EF4-FFF2-40B4-BE49-F238E27FC236}">
                <a16:creationId xmlns="" xmlns:a16="http://schemas.microsoft.com/office/drawing/2014/main" id="{7CA8124F-7C5B-4BAE-ACEA-8F936360132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1"/>
            <a:ext cx="914400"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4438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66A1313-55A3-476A-A886-D9AAAC5C33FA}"/>
              </a:ext>
            </a:extLst>
          </p:cNvPr>
          <p:cNvSpPr>
            <a:spLocks noGrp="1"/>
          </p:cNvSpPr>
          <p:nvPr>
            <p:ph type="title"/>
          </p:nvPr>
        </p:nvSpPr>
        <p:spPr>
          <a:xfrm>
            <a:off x="411480" y="280719"/>
            <a:ext cx="11780520" cy="1325563"/>
          </a:xfrm>
        </p:spPr>
        <p:txBody>
          <a:bodyPr>
            <a:normAutofit fontScale="90000"/>
          </a:bodyPr>
          <a:lstStyle/>
          <a:p>
            <a:pPr algn="ctr"/>
            <a:r>
              <a:rPr lang="en-US" sz="4400" b="1" dirty="0">
                <a:latin typeface="Algerian" panose="04020705040A02060702" pitchFamily="82" charset="0"/>
              </a:rPr>
              <a:t>Relations among lexemes and their senses</a:t>
            </a:r>
            <a:r>
              <a:rPr lang="en-US" b="1" dirty="0">
                <a:latin typeface="Algerian" panose="04020705040A02060702" pitchFamily="82" charset="0"/>
              </a:rPr>
              <a:t/>
            </a:r>
            <a:br>
              <a:rPr lang="en-US" b="1" dirty="0">
                <a:latin typeface="Algerian" panose="04020705040A02060702" pitchFamily="82" charset="0"/>
              </a:rPr>
            </a:br>
            <a:endParaRPr lang="x-none" dirty="0">
              <a:latin typeface="Algerian" panose="04020705040A02060702" pitchFamily="82" charset="0"/>
            </a:endParaRPr>
          </a:p>
        </p:txBody>
      </p:sp>
      <p:sp>
        <p:nvSpPr>
          <p:cNvPr id="3" name="Content Placeholder 2">
            <a:extLst>
              <a:ext uri="{FF2B5EF4-FFF2-40B4-BE49-F238E27FC236}">
                <a16:creationId xmlns="" xmlns:a16="http://schemas.microsoft.com/office/drawing/2014/main" id="{CE6D32B2-8C12-4CA1-A435-BC6480258F77}"/>
              </a:ext>
            </a:extLst>
          </p:cNvPr>
          <p:cNvSpPr>
            <a:spLocks noGrp="1"/>
          </p:cNvSpPr>
          <p:nvPr>
            <p:ph idx="1"/>
          </p:nvPr>
        </p:nvSpPr>
        <p:spPr>
          <a:xfrm>
            <a:off x="411480" y="1825625"/>
            <a:ext cx="10942320" cy="4351338"/>
          </a:xfrm>
        </p:spPr>
        <p:txBody>
          <a:bodyPr>
            <a:normAutofit fontScale="92500" lnSpcReduction="10000"/>
          </a:bodyPr>
          <a:lstStyle/>
          <a:p>
            <a:pPr marL="0" indent="0">
              <a:buNone/>
            </a:pPr>
            <a:r>
              <a:rPr lang="en-US" sz="2600" b="1" u="sng" dirty="0">
                <a:latin typeface="Times New Roman" panose="02020603050405020304" pitchFamily="18" charset="0"/>
                <a:cs typeface="Times New Roman" panose="02020603050405020304" pitchFamily="18" charset="0"/>
              </a:rPr>
              <a:t>Polysemy:  </a:t>
            </a:r>
            <a:r>
              <a:rPr lang="en-US" sz="2600" u="sng" dirty="0">
                <a:latin typeface="Times New Roman" panose="02020603050405020304" pitchFamily="18" charset="0"/>
                <a:cs typeface="Times New Roman" panose="02020603050405020304" pitchFamily="18" charset="0"/>
              </a:rPr>
              <a:t>  </a:t>
            </a:r>
          </a:p>
          <a:p>
            <a:pPr marL="0" indent="0">
              <a:buNone/>
            </a:pPr>
            <a:r>
              <a:rPr lang="en-US" sz="2600" dirty="0">
                <a:latin typeface="Times New Roman" panose="02020603050405020304" pitchFamily="18" charset="0"/>
                <a:cs typeface="Times New Roman" panose="02020603050405020304" pitchFamily="18" charset="0"/>
              </a:rPr>
              <a:t>Two sense of Homonym words are related.</a:t>
            </a:r>
          </a:p>
          <a:p>
            <a:pPr marL="0" indent="0">
              <a:buNone/>
            </a:pPr>
            <a:r>
              <a:rPr lang="en-US" sz="2600" b="1" u="sng" dirty="0">
                <a:latin typeface="Times New Roman" panose="02020603050405020304" pitchFamily="18" charset="0"/>
                <a:cs typeface="Times New Roman" panose="02020603050405020304" pitchFamily="18" charset="0"/>
              </a:rPr>
              <a:t>Example:</a:t>
            </a:r>
          </a:p>
          <a:p>
            <a:pPr marL="514350" indent="-514350">
              <a:buFont typeface="+mj-lt"/>
              <a:buAutoNum type="arabicPeriod"/>
            </a:pPr>
            <a:r>
              <a:rPr lang="en-US" sz="2600" dirty="0">
                <a:latin typeface="Times New Roman" panose="02020603050405020304" pitchFamily="18" charset="0"/>
                <a:cs typeface="Times New Roman" panose="02020603050405020304" pitchFamily="18" charset="0"/>
              </a:rPr>
              <a:t>The bank was constructed in 1875.</a:t>
            </a:r>
          </a:p>
          <a:p>
            <a:pPr marL="514350" indent="-514350">
              <a:buFont typeface="+mj-lt"/>
              <a:buAutoNum type="arabicPeriod"/>
            </a:pPr>
            <a:r>
              <a:rPr lang="en-US" sz="2600" dirty="0">
                <a:latin typeface="Times New Roman" panose="02020603050405020304" pitchFamily="18" charset="0"/>
                <a:cs typeface="Times New Roman" panose="02020603050405020304" pitchFamily="18" charset="0"/>
              </a:rPr>
              <a:t>I with drew the money from the bank.</a:t>
            </a:r>
          </a:p>
          <a:p>
            <a:pPr marL="0" indent="0">
              <a:buNone/>
            </a:pPr>
            <a:r>
              <a:rPr lang="en-US" sz="2600" b="1" dirty="0">
                <a:latin typeface="Times New Roman" panose="02020603050405020304" pitchFamily="18" charset="0"/>
                <a:cs typeface="Times New Roman" panose="02020603050405020304" pitchFamily="18" charset="0"/>
              </a:rPr>
              <a:t>Are those senses are  same?</a:t>
            </a:r>
          </a:p>
          <a:p>
            <a:pPr marL="0" indent="0">
              <a:buNone/>
            </a:pPr>
            <a:r>
              <a:rPr lang="en-US" sz="2600" dirty="0">
                <a:latin typeface="Times New Roman" panose="02020603050405020304" pitchFamily="18" charset="0"/>
                <a:cs typeface="Times New Roman" panose="02020603050405020304" pitchFamily="18" charset="0"/>
              </a:rPr>
              <a:t>Sense2: “A Financial institution</a:t>
            </a:r>
          </a:p>
          <a:p>
            <a:pPr marL="0" indent="0">
              <a:buNone/>
            </a:pPr>
            <a:r>
              <a:rPr lang="en-US" sz="2600" dirty="0">
                <a:latin typeface="Times New Roman" panose="02020603050405020304" pitchFamily="18" charset="0"/>
                <a:cs typeface="Times New Roman" panose="02020603050405020304" pitchFamily="18" charset="0"/>
              </a:rPr>
              <a:t>Sense1: “The building belonging to the financial institution”.</a:t>
            </a:r>
          </a:p>
          <a:p>
            <a:pPr marL="0" indent="0">
              <a:buNone/>
            </a:pPr>
            <a:r>
              <a:rPr lang="en-US" sz="2600" dirty="0">
                <a:latin typeface="Times New Roman" panose="02020603050405020304" pitchFamily="18" charset="0"/>
                <a:cs typeface="Times New Roman" panose="02020603050405020304" pitchFamily="18" charset="0"/>
              </a:rPr>
              <a:t>In many cases of polysemy  the semantic relation between the senses is systematic and structured.</a:t>
            </a:r>
            <a:endParaRPr lang="x-none" sz="2600" dirty="0">
              <a:latin typeface="Times New Roman" panose="02020603050405020304" pitchFamily="18" charset="0"/>
              <a:cs typeface="Times New Roman" panose="02020603050405020304" pitchFamily="18" charset="0"/>
            </a:endParaRPr>
          </a:p>
          <a:p>
            <a:pPr marL="0" indent="0">
              <a:buNone/>
            </a:pPr>
            <a:endParaRPr lang="en-US" sz="2600" dirty="0">
              <a:latin typeface="Times New Roman" panose="02020603050405020304" pitchFamily="18" charset="0"/>
              <a:cs typeface="Times New Roman" panose="02020603050405020304" pitchFamily="18" charset="0"/>
            </a:endParaRPr>
          </a:p>
          <a:p>
            <a:pPr marL="0" indent="0">
              <a:buNone/>
            </a:pPr>
            <a:endParaRPr lang="x-none" b="1" dirty="0"/>
          </a:p>
        </p:txBody>
      </p:sp>
      <p:pic>
        <p:nvPicPr>
          <p:cNvPr id="4" name="Picture 4" descr="DSpace at Air University Islamabad: Home">
            <a:extLst>
              <a:ext uri="{FF2B5EF4-FFF2-40B4-BE49-F238E27FC236}">
                <a16:creationId xmlns="" xmlns:a16="http://schemas.microsoft.com/office/drawing/2014/main" id="{902E2D69-3B73-4385-B124-264A7ACB520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1"/>
            <a:ext cx="638628" cy="6386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207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D954930-3E75-4033-98C8-A959E1249267}"/>
              </a:ext>
            </a:extLst>
          </p:cNvPr>
          <p:cNvSpPr>
            <a:spLocks noGrp="1"/>
          </p:cNvSpPr>
          <p:nvPr>
            <p:ph type="title"/>
          </p:nvPr>
        </p:nvSpPr>
        <p:spPr>
          <a:xfrm>
            <a:off x="389467" y="365125"/>
            <a:ext cx="10964333" cy="1460500"/>
          </a:xfrm>
        </p:spPr>
        <p:txBody>
          <a:bodyPr>
            <a:normAutofit/>
          </a:bodyPr>
          <a:lstStyle/>
          <a:p>
            <a:pPr algn="ctr"/>
            <a:r>
              <a:rPr lang="en-US" sz="4400" b="1" dirty="0">
                <a:latin typeface="Algerian" panose="04020705040A02060702" pitchFamily="82" charset="0"/>
              </a:rPr>
              <a:t>Relations among lexemes and their senses </a:t>
            </a:r>
            <a:endParaRPr lang="x-none" dirty="0"/>
          </a:p>
        </p:txBody>
      </p:sp>
      <p:sp>
        <p:nvSpPr>
          <p:cNvPr id="3" name="Content Placeholder 2">
            <a:extLst>
              <a:ext uri="{FF2B5EF4-FFF2-40B4-BE49-F238E27FC236}">
                <a16:creationId xmlns="" xmlns:a16="http://schemas.microsoft.com/office/drawing/2014/main" id="{F80A2B80-694F-48F6-A04B-691EE2DF7CE1}"/>
              </a:ext>
            </a:extLst>
          </p:cNvPr>
          <p:cNvSpPr>
            <a:spLocks noGrp="1"/>
          </p:cNvSpPr>
          <p:nvPr>
            <p:ph idx="1"/>
          </p:nvPr>
        </p:nvSpPr>
        <p:spPr>
          <a:xfrm>
            <a:off x="613833" y="1481970"/>
            <a:ext cx="10515600" cy="4351338"/>
          </a:xfrm>
        </p:spPr>
        <p:txBody>
          <a:bodyPr>
            <a:normAutofit fontScale="25000" lnSpcReduction="20000"/>
          </a:bodyPr>
          <a:lstStyle/>
          <a:p>
            <a:pPr marL="0" indent="0">
              <a:buNone/>
            </a:pPr>
            <a:r>
              <a:rPr lang="en-US" sz="9600" b="1" u="sng" dirty="0">
                <a:latin typeface="Times New Roman" panose="02020603050405020304" pitchFamily="18" charset="0"/>
                <a:cs typeface="Times New Roman" panose="02020603050405020304" pitchFamily="18" charset="0"/>
              </a:rPr>
              <a:t>Synonymy</a:t>
            </a:r>
            <a:r>
              <a:rPr lang="en-US" sz="9600" u="sng" dirty="0">
                <a:latin typeface="Times New Roman" panose="02020603050405020304" pitchFamily="18" charset="0"/>
                <a:cs typeface="Times New Roman" panose="02020603050405020304" pitchFamily="18" charset="0"/>
              </a:rPr>
              <a:t>:</a:t>
            </a:r>
          </a:p>
          <a:p>
            <a:pPr marL="0" indent="0">
              <a:buNone/>
            </a:pPr>
            <a:r>
              <a:rPr lang="en-US" sz="9600" dirty="0">
                <a:latin typeface="Times New Roman" panose="02020603050405020304" pitchFamily="18" charset="0"/>
                <a:cs typeface="Times New Roman" panose="02020603050405020304" pitchFamily="18" charset="0"/>
              </a:rPr>
              <a:t>Words that have same meaning in one or other contexts.</a:t>
            </a:r>
          </a:p>
          <a:p>
            <a:pPr marL="0" indent="0">
              <a:buNone/>
            </a:pPr>
            <a:r>
              <a:rPr lang="en-US" sz="9600" b="1" u="sng" dirty="0">
                <a:latin typeface="Times New Roman" panose="02020603050405020304" pitchFamily="18" charset="0"/>
                <a:cs typeface="Times New Roman" panose="02020603050405020304" pitchFamily="18" charset="0"/>
              </a:rPr>
              <a:t>Example:</a:t>
            </a:r>
          </a:p>
          <a:p>
            <a:r>
              <a:rPr lang="en-US" sz="9600" dirty="0">
                <a:latin typeface="Times New Roman" panose="02020603050405020304" pitchFamily="18" charset="0"/>
                <a:cs typeface="Times New Roman" panose="02020603050405020304" pitchFamily="18" charset="0"/>
              </a:rPr>
              <a:t>Cough/sofa</a:t>
            </a:r>
          </a:p>
          <a:p>
            <a:r>
              <a:rPr lang="en-US" sz="9600" dirty="0">
                <a:latin typeface="Times New Roman" panose="02020603050405020304" pitchFamily="18" charset="0"/>
                <a:cs typeface="Times New Roman" panose="02020603050405020304" pitchFamily="18" charset="0"/>
              </a:rPr>
              <a:t>Water/H20</a:t>
            </a:r>
          </a:p>
          <a:p>
            <a:pPr marL="0" indent="0">
              <a:buNone/>
            </a:pPr>
            <a:r>
              <a:rPr lang="en-US" sz="9600" dirty="0">
                <a:latin typeface="Times New Roman" panose="02020603050405020304" pitchFamily="18" charset="0"/>
                <a:cs typeface="Times New Roman" panose="02020603050405020304" pitchFamily="18" charset="0"/>
              </a:rPr>
              <a:t>Two lemmas are said to be synonymy if they have same proportional meanings. They can be  substituted for each other in all situations.</a:t>
            </a:r>
          </a:p>
          <a:p>
            <a:pPr marL="0" indent="0">
              <a:buNone/>
            </a:pPr>
            <a:r>
              <a:rPr lang="en-US" altLang="x-none" sz="9600" b="1" dirty="0">
                <a:latin typeface="Times New Roman" panose="02020603050405020304" pitchFamily="18" charset="0"/>
                <a:cs typeface="Times New Roman" panose="02020603050405020304" pitchFamily="18" charset="0"/>
              </a:rPr>
              <a:t>Synonymy is the relationship between two words that have the same sense.</a:t>
            </a:r>
            <a:endParaRPr lang="en-US" sz="9600" dirty="0">
              <a:latin typeface="Times New Roman" panose="02020603050405020304" pitchFamily="18" charset="0"/>
              <a:cs typeface="Times New Roman" panose="02020603050405020304" pitchFamily="18" charset="0"/>
            </a:endParaRPr>
          </a:p>
          <a:p>
            <a:pPr>
              <a:lnSpc>
                <a:spcPct val="120000"/>
              </a:lnSpc>
            </a:pPr>
            <a:r>
              <a:rPr lang="en-US" sz="9600" b="0" i="0" dirty="0">
                <a:effectLst/>
                <a:latin typeface="Times New Roman" panose="02020603050405020304" pitchFamily="18" charset="0"/>
                <a:cs typeface="Times New Roman" panose="02020603050405020304" pitchFamily="18" charset="0"/>
              </a:rPr>
              <a:t>For example </a:t>
            </a:r>
          </a:p>
          <a:p>
            <a:pPr marL="571500" indent="-571500">
              <a:lnSpc>
                <a:spcPct val="120000"/>
              </a:lnSpc>
              <a:buAutoNum type="romanLcPeriod"/>
            </a:pPr>
            <a:r>
              <a:rPr lang="en-US" sz="9600" b="0" i="0" dirty="0">
                <a:effectLst/>
                <a:latin typeface="Times New Roman" panose="02020603050405020304" pitchFamily="18" charset="0"/>
                <a:cs typeface="Times New Roman" panose="02020603050405020304" pitchFamily="18" charset="0"/>
              </a:rPr>
              <a:t>The student speaks with a broad British accent.</a:t>
            </a:r>
          </a:p>
          <a:p>
            <a:pPr marL="571500" indent="-571500">
              <a:lnSpc>
                <a:spcPct val="120000"/>
              </a:lnSpc>
              <a:buAutoNum type="romanLcPeriod"/>
            </a:pPr>
            <a:r>
              <a:rPr lang="en-US" sz="9600" b="0" i="0" dirty="0">
                <a:effectLst/>
                <a:latin typeface="Times New Roman" panose="02020603050405020304" pitchFamily="18" charset="0"/>
                <a:cs typeface="Times New Roman" panose="02020603050405020304" pitchFamily="18" charset="0"/>
              </a:rPr>
              <a:t> The student speaks with a wide British accent.</a:t>
            </a:r>
          </a:p>
          <a:p>
            <a:pPr marL="0" indent="0">
              <a:lnSpc>
                <a:spcPct val="120000"/>
              </a:lnSpc>
              <a:buNone/>
            </a:pPr>
            <a:r>
              <a:rPr lang="en-US" sz="9600" b="0" i="0" dirty="0">
                <a:effectLst/>
                <a:latin typeface="Times New Roman" panose="02020603050405020304" pitchFamily="18" charset="0"/>
                <a:cs typeface="Times New Roman" panose="02020603050405020304" pitchFamily="18" charset="0"/>
              </a:rPr>
              <a:t>Hence they have the same or nearly the same sense but not in the other contexts to mean the same. However this kind of sense relation means “word of the same meaning”.</a:t>
            </a:r>
            <a:endParaRPr lang="en-US" altLang="x-none" sz="9600" dirty="0">
              <a:latin typeface="Times New Roman" panose="02020603050405020304" pitchFamily="18" charset="0"/>
              <a:cs typeface="Times New Roman" panose="02020603050405020304" pitchFamily="18" charset="0"/>
            </a:endParaRPr>
          </a:p>
          <a:p>
            <a:endParaRPr lang="x-none" dirty="0"/>
          </a:p>
        </p:txBody>
      </p:sp>
    </p:spTree>
    <p:extLst>
      <p:ext uri="{BB962C8B-B14F-4D97-AF65-F5344CB8AC3E}">
        <p14:creationId xmlns:p14="http://schemas.microsoft.com/office/powerpoint/2010/main" val="3989410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9045983-065A-4619-A0D2-FB4009DD78EF}"/>
              </a:ext>
            </a:extLst>
          </p:cNvPr>
          <p:cNvSpPr>
            <a:spLocks noGrp="1"/>
          </p:cNvSpPr>
          <p:nvPr>
            <p:ph type="title"/>
          </p:nvPr>
        </p:nvSpPr>
        <p:spPr>
          <a:xfrm>
            <a:off x="711590" y="251619"/>
            <a:ext cx="11091203" cy="1325563"/>
          </a:xfrm>
        </p:spPr>
        <p:txBody>
          <a:bodyPr>
            <a:normAutofit fontScale="90000"/>
          </a:bodyPr>
          <a:lstStyle/>
          <a:p>
            <a:pPr algn="ctr"/>
            <a:r>
              <a:rPr lang="en-US" sz="4900" b="1" dirty="0">
                <a:latin typeface="Algerian" panose="04020705040A02060702" pitchFamily="82" charset="0"/>
              </a:rPr>
              <a:t>Relations among lexemes and their senses</a:t>
            </a:r>
            <a:r>
              <a:rPr lang="en-US" sz="4800" b="1" dirty="0"/>
              <a:t/>
            </a:r>
            <a:br>
              <a:rPr lang="en-US" sz="4800" b="1" dirty="0"/>
            </a:br>
            <a:endParaRPr lang="x-none" sz="4800" b="1" dirty="0"/>
          </a:p>
        </p:txBody>
      </p:sp>
      <p:sp>
        <p:nvSpPr>
          <p:cNvPr id="3" name="Content Placeholder 2">
            <a:extLst>
              <a:ext uri="{FF2B5EF4-FFF2-40B4-BE49-F238E27FC236}">
                <a16:creationId xmlns="" xmlns:a16="http://schemas.microsoft.com/office/drawing/2014/main" id="{A9225646-2C35-41C3-9196-2732C869967C}"/>
              </a:ext>
            </a:extLst>
          </p:cNvPr>
          <p:cNvSpPr>
            <a:spLocks noGrp="1"/>
          </p:cNvSpPr>
          <p:nvPr>
            <p:ph idx="1"/>
          </p:nvPr>
        </p:nvSpPr>
        <p:spPr>
          <a:xfrm>
            <a:off x="389207" y="1031635"/>
            <a:ext cx="10964593" cy="4794730"/>
          </a:xfrm>
        </p:spPr>
        <p:txBody>
          <a:bodyPr>
            <a:normAutofit fontScale="25000" lnSpcReduction="20000"/>
          </a:bodyPr>
          <a:lstStyle/>
          <a:p>
            <a:pPr marL="0" indent="0">
              <a:buNone/>
            </a:pPr>
            <a:r>
              <a:rPr lang="en-US" sz="9600" b="1" u="sng" dirty="0">
                <a:latin typeface="Times New Roman" panose="02020603050405020304" pitchFamily="18" charset="0"/>
                <a:cs typeface="Times New Roman" panose="02020603050405020304" pitchFamily="18" charset="0"/>
              </a:rPr>
              <a:t>Antonyms</a:t>
            </a:r>
            <a:endParaRPr lang="en-US" sz="9600" u="sng" dirty="0">
              <a:latin typeface="Times New Roman" panose="02020603050405020304" pitchFamily="18" charset="0"/>
              <a:cs typeface="Times New Roman" panose="02020603050405020304" pitchFamily="18" charset="0"/>
            </a:endParaRPr>
          </a:p>
          <a:p>
            <a:pPr marL="0" indent="0">
              <a:buNone/>
            </a:pPr>
            <a:r>
              <a:rPr lang="en-US" sz="9600" dirty="0">
                <a:latin typeface="Times New Roman" panose="02020603050405020304" pitchFamily="18" charset="0"/>
                <a:cs typeface="Times New Roman" panose="02020603050405020304" pitchFamily="18" charset="0"/>
              </a:rPr>
              <a:t>Senses which are opposite with respect to one feature of meaning.</a:t>
            </a:r>
          </a:p>
          <a:p>
            <a:pPr marL="0" indent="0">
              <a:buNone/>
            </a:pPr>
            <a:r>
              <a:rPr lang="en-US" sz="9600" dirty="0">
                <a:latin typeface="Times New Roman" panose="02020603050405020304" pitchFamily="18" charset="0"/>
                <a:cs typeface="Times New Roman" panose="02020603050405020304" pitchFamily="18" charset="0"/>
              </a:rPr>
              <a:t>Example: dark/light</a:t>
            </a:r>
          </a:p>
          <a:p>
            <a:pPr marL="0" indent="0">
              <a:buNone/>
            </a:pPr>
            <a:r>
              <a:rPr lang="en-US" sz="9600" dirty="0">
                <a:latin typeface="Times New Roman" panose="02020603050405020304" pitchFamily="18" charset="0"/>
                <a:cs typeface="Times New Roman" panose="02020603050405020304" pitchFamily="18" charset="0"/>
              </a:rPr>
              <a:t>                 short/long</a:t>
            </a:r>
          </a:p>
          <a:p>
            <a:pPr marL="0" indent="0">
              <a:buNone/>
            </a:pPr>
            <a:r>
              <a:rPr lang="en-US" sz="9600" b="1" dirty="0">
                <a:latin typeface="Times New Roman" panose="02020603050405020304" pitchFamily="18" charset="0"/>
                <a:cs typeface="Times New Roman" panose="02020603050405020304" pitchFamily="18" charset="0"/>
              </a:rPr>
              <a:t>Two kinds of Antonyms</a:t>
            </a:r>
          </a:p>
          <a:p>
            <a:pPr marL="514350" indent="-514350">
              <a:buAutoNum type="arabicPeriod"/>
            </a:pPr>
            <a:r>
              <a:rPr lang="en-US" sz="9600" dirty="0">
                <a:latin typeface="Times New Roman" panose="02020603050405020304" pitchFamily="18" charset="0"/>
                <a:cs typeface="Times New Roman" panose="02020603050405020304" pitchFamily="18" charset="0"/>
              </a:rPr>
              <a:t>Binary opposition/opposite ends of scale( long/short)</a:t>
            </a:r>
          </a:p>
          <a:p>
            <a:pPr marL="514350" indent="-514350">
              <a:buAutoNum type="arabicPeriod"/>
            </a:pPr>
            <a:r>
              <a:rPr lang="en-US" sz="9600" dirty="0">
                <a:latin typeface="Times New Roman" panose="02020603050405020304" pitchFamily="18" charset="0"/>
                <a:cs typeface="Times New Roman" panose="02020603050405020304" pitchFamily="18" charset="0"/>
              </a:rPr>
              <a:t>Reversive (rise/fall, up/down) </a:t>
            </a:r>
          </a:p>
          <a:p>
            <a:pPr marL="0" indent="0">
              <a:buNone/>
            </a:pPr>
            <a:r>
              <a:rPr lang="en-US" altLang="x-none" sz="9600" dirty="0">
                <a:latin typeface="Times New Roman" panose="02020603050405020304" pitchFamily="18" charset="0"/>
                <a:cs typeface="Times New Roman" panose="02020603050405020304" pitchFamily="18" charset="0"/>
              </a:rPr>
              <a:t>1. Binary antonyms come in pairs and between them exhaust all the relevant possibilities. If one is applicable, the other cannot be, and vice versa.  </a:t>
            </a:r>
          </a:p>
          <a:p>
            <a:pPr marL="0" indent="0">
              <a:buNone/>
            </a:pPr>
            <a:r>
              <a:rPr lang="en-US" altLang="x-none" sz="9600" b="1" dirty="0">
                <a:latin typeface="Times New Roman" panose="02020603050405020304" pitchFamily="18" charset="0"/>
                <a:cs typeface="Times New Roman" panose="02020603050405020304" pitchFamily="18" charset="0"/>
              </a:rPr>
              <a:t>Example:</a:t>
            </a:r>
          </a:p>
          <a:p>
            <a:r>
              <a:rPr lang="en-US" altLang="x-none" sz="9600" dirty="0"/>
              <a:t>true – false</a:t>
            </a:r>
          </a:p>
          <a:p>
            <a:r>
              <a:rPr lang="en-US" altLang="x-none" sz="9600" dirty="0"/>
              <a:t>dead – alive</a:t>
            </a:r>
          </a:p>
          <a:p>
            <a:pPr marL="0" indent="0">
              <a:buNone/>
            </a:pPr>
            <a:r>
              <a:rPr lang="en-US" sz="9600" i="0" dirty="0">
                <a:effectLst/>
                <a:latin typeface="Times New Roman" panose="02020603050405020304" pitchFamily="18" charset="0"/>
                <a:cs typeface="Times New Roman" panose="02020603050405020304" pitchFamily="18" charset="0"/>
              </a:rPr>
              <a:t>2. Reverse antonyms are two words that have a reverse relationship. </a:t>
            </a:r>
          </a:p>
          <a:p>
            <a:pPr marL="0" indent="0">
              <a:buNone/>
            </a:pPr>
            <a:r>
              <a:rPr lang="en-US" sz="9600" b="1" dirty="0">
                <a:latin typeface="Times New Roman" panose="02020603050405020304" pitchFamily="18" charset="0"/>
                <a:cs typeface="Times New Roman" panose="02020603050405020304" pitchFamily="18" charset="0"/>
              </a:rPr>
              <a:t>Example:</a:t>
            </a:r>
          </a:p>
          <a:p>
            <a:pPr marL="0" indent="0">
              <a:buNone/>
            </a:pPr>
            <a:r>
              <a:rPr lang="en-US" sz="9600" i="0" dirty="0">
                <a:effectLst/>
                <a:latin typeface="Times New Roman" panose="02020603050405020304" pitchFamily="18" charset="0"/>
                <a:cs typeface="Times New Roman" panose="02020603050405020304" pitchFamily="18" charset="0"/>
              </a:rPr>
              <a:t>Take the words </a:t>
            </a:r>
            <a:r>
              <a:rPr lang="en-US" sz="9600" i="1" dirty="0">
                <a:effectLst/>
                <a:latin typeface="Times New Roman" panose="02020603050405020304" pitchFamily="18" charset="0"/>
                <a:cs typeface="Times New Roman" panose="02020603050405020304" pitchFamily="18" charset="0"/>
              </a:rPr>
              <a:t>buy</a:t>
            </a:r>
            <a:r>
              <a:rPr lang="en-US" sz="9600" i="0" dirty="0">
                <a:effectLst/>
                <a:latin typeface="Times New Roman" panose="02020603050405020304" pitchFamily="18" charset="0"/>
                <a:cs typeface="Times New Roman" panose="02020603050405020304" pitchFamily="18" charset="0"/>
              </a:rPr>
              <a:t> and </a:t>
            </a:r>
            <a:r>
              <a:rPr lang="en-US" sz="9600" i="1" dirty="0">
                <a:effectLst/>
                <a:latin typeface="Times New Roman" panose="02020603050405020304" pitchFamily="18" charset="0"/>
                <a:cs typeface="Times New Roman" panose="02020603050405020304" pitchFamily="18" charset="0"/>
              </a:rPr>
              <a:t>sell</a:t>
            </a:r>
            <a:r>
              <a:rPr lang="en-US" sz="9600" i="0" dirty="0">
                <a:effectLst/>
                <a:latin typeface="Times New Roman" panose="02020603050405020304" pitchFamily="18" charset="0"/>
                <a:cs typeface="Times New Roman" panose="02020603050405020304" pitchFamily="18" charset="0"/>
              </a:rPr>
              <a:t>. These words are related and have a reverse relationship. If one person buys something, another person sells something.</a:t>
            </a:r>
            <a:endParaRPr lang="en-US" altLang="x-none" sz="9600" dirty="0">
              <a:latin typeface="Times New Roman" panose="02020603050405020304" pitchFamily="18" charset="0"/>
              <a:cs typeface="Times New Roman" panose="02020603050405020304" pitchFamily="18" charset="0"/>
            </a:endParaRPr>
          </a:p>
          <a:p>
            <a:pPr marL="514350" indent="-514350">
              <a:buFont typeface="+mj-lt"/>
              <a:buAutoNum type="arabicPeriod"/>
            </a:pPr>
            <a:endParaRPr lang="en-US" dirty="0">
              <a:latin typeface="Times New Roman" panose="02020603050405020304" pitchFamily="18" charset="0"/>
              <a:cs typeface="Times New Roman" panose="02020603050405020304" pitchFamily="18" charset="0"/>
            </a:endParaRPr>
          </a:p>
        </p:txBody>
      </p:sp>
      <p:pic>
        <p:nvPicPr>
          <p:cNvPr id="4" name="Picture 4" descr="DSpace at Air University Islamabad: Home">
            <a:extLst>
              <a:ext uri="{FF2B5EF4-FFF2-40B4-BE49-F238E27FC236}">
                <a16:creationId xmlns="" xmlns:a16="http://schemas.microsoft.com/office/drawing/2014/main" id="{DA8C79F8-BA99-43D4-A98F-28F9F1FB02C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1"/>
            <a:ext cx="914400"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6847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FFE11C0-167F-451B-8137-6C1A1B2823DE}"/>
              </a:ext>
            </a:extLst>
          </p:cNvPr>
          <p:cNvSpPr>
            <a:spLocks noGrp="1"/>
          </p:cNvSpPr>
          <p:nvPr>
            <p:ph type="title"/>
          </p:nvPr>
        </p:nvSpPr>
        <p:spPr/>
        <p:txBody>
          <a:bodyPr/>
          <a:lstStyle/>
          <a:p>
            <a:r>
              <a:rPr lang="en-US" sz="4400" b="1" dirty="0">
                <a:latin typeface="Algerian" panose="04020705040A02060702" pitchFamily="82" charset="0"/>
              </a:rPr>
              <a:t>Relations among lexemes and their senses</a:t>
            </a:r>
            <a:endParaRPr lang="x-none" dirty="0"/>
          </a:p>
        </p:txBody>
      </p:sp>
      <p:sp>
        <p:nvSpPr>
          <p:cNvPr id="3" name="Content Placeholder 2">
            <a:extLst>
              <a:ext uri="{FF2B5EF4-FFF2-40B4-BE49-F238E27FC236}">
                <a16:creationId xmlns="" xmlns:a16="http://schemas.microsoft.com/office/drawing/2014/main" id="{76F2E83E-4162-4F6B-AAB1-7F7CEA98D03E}"/>
              </a:ext>
            </a:extLst>
          </p:cNvPr>
          <p:cNvSpPr>
            <a:spLocks noGrp="1"/>
          </p:cNvSpPr>
          <p:nvPr>
            <p:ph idx="1"/>
          </p:nvPr>
        </p:nvSpPr>
        <p:spPr/>
        <p:txBody>
          <a:bodyPr>
            <a:normAutofit fontScale="25000" lnSpcReduction="20000"/>
          </a:bodyPr>
          <a:lstStyle/>
          <a:p>
            <a:pPr marL="0" indent="0">
              <a:buNone/>
            </a:pPr>
            <a:r>
              <a:rPr lang="en-US" sz="9600" b="1" dirty="0">
                <a:latin typeface="Times New Roman" panose="02020603050405020304" pitchFamily="18" charset="0"/>
                <a:cs typeface="Times New Roman" panose="02020603050405020304" pitchFamily="18" charset="0"/>
              </a:rPr>
              <a:t>Hypernym and Hyponymy</a:t>
            </a:r>
            <a:endParaRPr lang="en-US" sz="9600" dirty="0">
              <a:latin typeface="Times New Roman" panose="02020603050405020304" pitchFamily="18" charset="0"/>
              <a:cs typeface="Times New Roman" panose="02020603050405020304" pitchFamily="18" charset="0"/>
            </a:endParaRPr>
          </a:p>
          <a:p>
            <a:pPr marL="0" indent="0">
              <a:buNone/>
            </a:pPr>
            <a:r>
              <a:rPr lang="en-US" sz="9600" dirty="0">
                <a:solidFill>
                  <a:schemeClr val="tx1"/>
                </a:solidFill>
              </a:rPr>
              <a:t>Word that are subset of another word </a:t>
            </a:r>
            <a:r>
              <a:rPr lang="en-US" sz="9600" dirty="0"/>
              <a:t>are called Hyponymy.</a:t>
            </a:r>
          </a:p>
          <a:p>
            <a:pPr marL="0" indent="0">
              <a:buNone/>
            </a:pPr>
            <a:r>
              <a:rPr lang="en-US" sz="9600" dirty="0">
                <a:solidFill>
                  <a:schemeClr val="tx1"/>
                </a:solidFill>
              </a:rPr>
              <a:t>Words that are superset of another are called Hypernym.</a:t>
            </a:r>
          </a:p>
          <a:p>
            <a:pPr marL="0" indent="0">
              <a:buNone/>
            </a:pPr>
            <a:r>
              <a:rPr lang="en-US" sz="9600" dirty="0">
                <a:latin typeface="Times New Roman" panose="02020603050405020304" pitchFamily="18" charset="0"/>
                <a:cs typeface="Times New Roman" panose="02020603050405020304" pitchFamily="18" charset="0"/>
              </a:rPr>
              <a:t>Sense is said to be Hyponym if the first sense is more specific, denoting a subclass of the other. </a:t>
            </a:r>
          </a:p>
          <a:p>
            <a:pPr marL="0" indent="0">
              <a:buNone/>
            </a:pPr>
            <a:r>
              <a:rPr lang="en-US" sz="9600" b="1" u="sng" dirty="0">
                <a:latin typeface="Times New Roman" panose="02020603050405020304" pitchFamily="18" charset="0"/>
                <a:cs typeface="Times New Roman" panose="02020603050405020304" pitchFamily="18" charset="0"/>
              </a:rPr>
              <a:t>For example</a:t>
            </a:r>
          </a:p>
          <a:p>
            <a:r>
              <a:rPr lang="en-US" sz="9600" dirty="0">
                <a:latin typeface="Times New Roman" panose="02020603050405020304" pitchFamily="18" charset="0"/>
                <a:cs typeface="Times New Roman" panose="02020603050405020304" pitchFamily="18" charset="0"/>
              </a:rPr>
              <a:t>Rose is hyponym of flower</a:t>
            </a:r>
          </a:p>
          <a:p>
            <a:r>
              <a:rPr lang="en-US" sz="9600" dirty="0">
                <a:latin typeface="Times New Roman" panose="02020603050405020304" pitchFamily="18" charset="0"/>
                <a:cs typeface="Times New Roman" panose="02020603050405020304" pitchFamily="18" charset="0"/>
              </a:rPr>
              <a:t>Spoon is hyponym of utensil</a:t>
            </a:r>
          </a:p>
          <a:p>
            <a:pPr marL="0" indent="0">
              <a:buNone/>
            </a:pPr>
            <a:endParaRPr lang="en-US" sz="9600" b="1" dirty="0">
              <a:latin typeface="Times New Roman" panose="02020603050405020304" pitchFamily="18" charset="0"/>
              <a:cs typeface="Times New Roman" panose="02020603050405020304" pitchFamily="18" charset="0"/>
            </a:endParaRPr>
          </a:p>
          <a:p>
            <a:pPr marL="0" indent="0">
              <a:buNone/>
            </a:pPr>
            <a:r>
              <a:rPr lang="en-US" sz="9600" b="1" dirty="0">
                <a:latin typeface="Times New Roman" panose="02020603050405020304" pitchFamily="18" charset="0"/>
                <a:cs typeface="Times New Roman" panose="02020603050405020304" pitchFamily="18" charset="0"/>
              </a:rPr>
              <a:t>Conversely, we say that</a:t>
            </a:r>
          </a:p>
          <a:p>
            <a:pPr lvl="0" algn="justLow" rtl="0">
              <a:lnSpc>
                <a:spcPct val="115000"/>
              </a:lnSpc>
            </a:pPr>
            <a:r>
              <a:rPr lang="en-US" sz="96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Flower </a:t>
            </a:r>
            <a:r>
              <a:rPr lang="en-US" sz="9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is a hypernym of </a:t>
            </a:r>
            <a:r>
              <a:rPr lang="en-US" sz="96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rose</a:t>
            </a:r>
            <a:endParaRPr lang="x-none" sz="96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gn="justLow">
              <a:lnSpc>
                <a:spcPct val="115000"/>
              </a:lnSpc>
              <a:spcAft>
                <a:spcPts val="1000"/>
              </a:spcAft>
            </a:pPr>
            <a:r>
              <a:rPr lang="en-US" sz="96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Utensil </a:t>
            </a:r>
            <a:r>
              <a:rPr lang="en-US" sz="9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is a hypernym of </a:t>
            </a:r>
            <a:r>
              <a:rPr lang="en-US" sz="96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spoon </a:t>
            </a:r>
            <a:endParaRPr lang="x-none" sz="96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x-none" dirty="0"/>
          </a:p>
        </p:txBody>
      </p:sp>
    </p:spTree>
    <p:extLst>
      <p:ext uri="{BB962C8B-B14F-4D97-AF65-F5344CB8AC3E}">
        <p14:creationId xmlns:p14="http://schemas.microsoft.com/office/powerpoint/2010/main" val="3684713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EA75FBA-1756-484E-A508-9E52D1615082}"/>
              </a:ext>
            </a:extLst>
          </p:cNvPr>
          <p:cNvSpPr>
            <a:spLocks noGrp="1"/>
          </p:cNvSpPr>
          <p:nvPr>
            <p:ph type="title"/>
          </p:nvPr>
        </p:nvSpPr>
        <p:spPr/>
        <p:txBody>
          <a:bodyPr/>
          <a:lstStyle/>
          <a:p>
            <a:pPr algn="ctr"/>
            <a:r>
              <a:rPr lang="en-US" b="1" i="0" dirty="0">
                <a:effectLst/>
                <a:latin typeface="Algerian" panose="04020705040A02060702" pitchFamily="82" charset="0"/>
              </a:rPr>
              <a:t>WordNet</a:t>
            </a:r>
            <a:r>
              <a:rPr lang="en-US" b="1" i="0" dirty="0">
                <a:effectLst/>
                <a:latin typeface="urw-din"/>
              </a:rPr>
              <a:t> </a:t>
            </a:r>
            <a:endParaRPr lang="x-none" dirty="0"/>
          </a:p>
        </p:txBody>
      </p:sp>
      <p:sp>
        <p:nvSpPr>
          <p:cNvPr id="3" name="Content Placeholder 2">
            <a:extLst>
              <a:ext uri="{FF2B5EF4-FFF2-40B4-BE49-F238E27FC236}">
                <a16:creationId xmlns="" xmlns:a16="http://schemas.microsoft.com/office/drawing/2014/main" id="{38C90817-B93E-41BA-989F-5708CEA9D43E}"/>
              </a:ext>
            </a:extLst>
          </p:cNvPr>
          <p:cNvSpPr>
            <a:spLocks noGrp="1"/>
          </p:cNvSpPr>
          <p:nvPr>
            <p:ph idx="1"/>
          </p:nvPr>
        </p:nvSpPr>
        <p:spPr>
          <a:xfrm>
            <a:off x="809469" y="761323"/>
            <a:ext cx="10620532" cy="4351338"/>
          </a:xfrm>
        </p:spPr>
        <p:txBody>
          <a:bodyPr>
            <a:normAutofit/>
          </a:bodyPr>
          <a:lstStyle/>
          <a:p>
            <a:pPr marL="0" indent="0">
              <a:buNone/>
            </a:pPr>
            <a:endParaRPr lang="en-US" sz="2400" b="1" dirty="0">
              <a:latin typeface="Times New Roman" panose="02020603050405020304" pitchFamily="18" charset="0"/>
              <a:cs typeface="Times New Roman" panose="02020603050405020304" pitchFamily="18" charset="0"/>
            </a:endParaRPr>
          </a:p>
          <a:p>
            <a:pPr marL="0" indent="0">
              <a:buNone/>
            </a:pPr>
            <a:endParaRPr lang="en-US" sz="2400" b="1"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WordNet </a:t>
            </a:r>
            <a:r>
              <a:rPr lang="en-US" sz="2400" dirty="0">
                <a:latin typeface="Times New Roman" panose="02020603050405020304" pitchFamily="18" charset="0"/>
                <a:cs typeface="Times New Roman" panose="02020603050405020304" pitchFamily="18" charset="0"/>
              </a:rPr>
              <a:t>is the lexical database i.e. dictionary for the English language, specifically designed for natural language processing. </a:t>
            </a:r>
          </a:p>
          <a:p>
            <a:pPr marL="0" indent="0">
              <a:buNone/>
            </a:pPr>
            <a:r>
              <a:rPr lang="en-US" sz="2400" b="1" u="sng" dirty="0">
                <a:latin typeface="Times New Roman" panose="02020603050405020304" pitchFamily="18" charset="0"/>
                <a:cs typeface="Times New Roman" panose="02020603050405020304" pitchFamily="18" charset="0"/>
              </a:rPr>
              <a:t>Properties: </a:t>
            </a:r>
          </a:p>
          <a:p>
            <a:r>
              <a:rPr lang="en-US" sz="2400" dirty="0">
                <a:latin typeface="Times New Roman" panose="02020603050405020304" pitchFamily="18" charset="0"/>
                <a:cs typeface="Times New Roman" panose="02020603050405020304" pitchFamily="18" charset="0"/>
              </a:rPr>
              <a:t>Synonyms are grouped together in something called </a:t>
            </a:r>
            <a:r>
              <a:rPr lang="en-US" sz="2400" b="1" dirty="0" err="1">
                <a:latin typeface="Times New Roman" panose="02020603050405020304" pitchFamily="18" charset="0"/>
                <a:cs typeface="Times New Roman" panose="02020603050405020304" pitchFamily="18" charset="0"/>
              </a:rPr>
              <a:t>Synset</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A </a:t>
            </a:r>
            <a:r>
              <a:rPr lang="en-US" sz="2400" b="1" dirty="0" err="1">
                <a:latin typeface="Times New Roman" panose="02020603050405020304" pitchFamily="18" charset="0"/>
                <a:cs typeface="Times New Roman" panose="02020603050405020304" pitchFamily="18" charset="0"/>
              </a:rPr>
              <a:t>synset</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contains lemmas, which are the base form of a word  </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pic>
        <p:nvPicPr>
          <p:cNvPr id="4" name="Picture 4" descr="DSpace at Air University Islamabad: Home">
            <a:extLst>
              <a:ext uri="{FF2B5EF4-FFF2-40B4-BE49-F238E27FC236}">
                <a16:creationId xmlns="" xmlns:a16="http://schemas.microsoft.com/office/drawing/2014/main" id="{CFC76788-C3CC-4492-816D-3495A9CFC21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1"/>
            <a:ext cx="914400"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84530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9DA28F9-0774-4208-8D7D-EA0706D31A04}"/>
              </a:ext>
            </a:extLst>
          </p:cNvPr>
          <p:cNvSpPr>
            <a:spLocks noGrp="1"/>
          </p:cNvSpPr>
          <p:nvPr>
            <p:ph type="title"/>
          </p:nvPr>
        </p:nvSpPr>
        <p:spPr/>
        <p:txBody>
          <a:bodyPr/>
          <a:lstStyle/>
          <a:p>
            <a:pPr algn="ctr"/>
            <a:r>
              <a:rPr lang="en-US" b="1" dirty="0">
                <a:latin typeface="Algerian" panose="04020705040A02060702" pitchFamily="82" charset="0"/>
              </a:rPr>
              <a:t>WordNet</a:t>
            </a:r>
            <a:endParaRPr lang="x-none" b="1" dirty="0">
              <a:latin typeface="Algerian" panose="04020705040A02060702" pitchFamily="82" charset="0"/>
            </a:endParaRPr>
          </a:p>
        </p:txBody>
      </p:sp>
      <p:sp>
        <p:nvSpPr>
          <p:cNvPr id="3" name="Content Placeholder 2">
            <a:extLst>
              <a:ext uri="{FF2B5EF4-FFF2-40B4-BE49-F238E27FC236}">
                <a16:creationId xmlns="" xmlns:a16="http://schemas.microsoft.com/office/drawing/2014/main" id="{5B71071C-E437-4C47-94D8-973B9F5CC332}"/>
              </a:ext>
            </a:extLst>
          </p:cNvPr>
          <p:cNvSpPr>
            <a:spLocks noGrp="1"/>
          </p:cNvSpPr>
          <p:nvPr>
            <p:ph idx="1"/>
          </p:nvPr>
        </p:nvSpPr>
        <p:spPr>
          <a:xfrm>
            <a:off x="316089" y="1966302"/>
            <a:ext cx="11356622" cy="4351338"/>
          </a:xfrm>
        </p:spPr>
        <p:txBody>
          <a:bodyPr>
            <a:normAutofit/>
          </a:bodyPr>
          <a:lstStyle/>
          <a:p>
            <a:pPr marL="0" indent="0">
              <a:buNone/>
            </a:pPr>
            <a:r>
              <a:rPr lang="en-US" sz="2400" b="1" dirty="0" err="1">
                <a:latin typeface="Times New Roman" panose="02020603050405020304" pitchFamily="18" charset="0"/>
                <a:cs typeface="Times New Roman" panose="02020603050405020304" pitchFamily="18" charset="0"/>
              </a:rPr>
              <a:t>Synset</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is a special kind of a simple interface that is present in NLTK to look up words in WordNet. Nouns, verbs, adjectives and adverbs are grouped into sets of cognitive synonyms (</a:t>
            </a:r>
            <a:r>
              <a:rPr lang="en-US" sz="2400" dirty="0" err="1">
                <a:latin typeface="Times New Roman" panose="02020603050405020304" pitchFamily="18" charset="0"/>
                <a:cs typeface="Times New Roman" panose="02020603050405020304" pitchFamily="18" charset="0"/>
              </a:rPr>
              <a:t>synsets</a:t>
            </a:r>
            <a:r>
              <a:rPr lang="en-US" sz="2400" dirty="0">
                <a:latin typeface="Times New Roman" panose="02020603050405020304" pitchFamily="18" charset="0"/>
                <a:cs typeface="Times New Roman" panose="02020603050405020304" pitchFamily="18" charset="0"/>
              </a:rPr>
              <a:t>).</a:t>
            </a:r>
            <a:endParaRPr lang="x-none"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a:t>
            </a:r>
          </a:p>
          <a:p>
            <a:pPr marL="0" indent="0">
              <a:buNone/>
            </a:pPr>
            <a:r>
              <a:rPr lang="en-US" sz="2400" b="1" dirty="0">
                <a:latin typeface="Times New Roman" panose="02020603050405020304" pitchFamily="18" charset="0"/>
                <a:cs typeface="Times New Roman" panose="02020603050405020304" pitchFamily="18" charset="0"/>
              </a:rPr>
              <a:t>Part of speech                                                No. </a:t>
            </a:r>
            <a:r>
              <a:rPr lang="en-US" sz="2400" b="1" dirty="0" err="1">
                <a:latin typeface="Times New Roman" panose="02020603050405020304" pitchFamily="18" charset="0"/>
                <a:cs typeface="Times New Roman" panose="02020603050405020304" pitchFamily="18" charset="0"/>
              </a:rPr>
              <a:t>synsets</a:t>
            </a:r>
            <a:endParaRPr lang="en-US" sz="2400" b="1"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noun                                                              82115</a:t>
            </a:r>
          </a:p>
          <a:p>
            <a:pPr marL="0" indent="0">
              <a:buNone/>
            </a:pPr>
            <a:r>
              <a:rPr lang="en-US" sz="2400" dirty="0">
                <a:latin typeface="Times New Roman" panose="02020603050405020304" pitchFamily="18" charset="0"/>
                <a:cs typeface="Times New Roman" panose="02020603050405020304" pitchFamily="18" charset="0"/>
              </a:rPr>
              <a:t>       verb                                                               13767</a:t>
            </a:r>
          </a:p>
          <a:p>
            <a:pPr marL="0" indent="0">
              <a:buNone/>
            </a:pPr>
            <a:r>
              <a:rPr lang="en-US" sz="2400" dirty="0">
                <a:latin typeface="Times New Roman" panose="02020603050405020304" pitchFamily="18" charset="0"/>
                <a:cs typeface="Times New Roman" panose="02020603050405020304" pitchFamily="18" charset="0"/>
              </a:rPr>
              <a:t>       adjective                                                        18156</a:t>
            </a:r>
          </a:p>
          <a:p>
            <a:pPr marL="0" indent="0">
              <a:buNone/>
            </a:pPr>
            <a:r>
              <a:rPr lang="en-US" sz="2400" dirty="0">
                <a:latin typeface="Times New Roman" panose="02020603050405020304" pitchFamily="18" charset="0"/>
                <a:cs typeface="Times New Roman" panose="02020603050405020304" pitchFamily="18" charset="0"/>
              </a:rPr>
              <a:t>       adverb                                                            3621 </a:t>
            </a:r>
          </a:p>
        </p:txBody>
      </p:sp>
      <p:pic>
        <p:nvPicPr>
          <p:cNvPr id="4" name="Picture 4" descr="DSpace at Air University Islamabad: Home">
            <a:extLst>
              <a:ext uri="{FF2B5EF4-FFF2-40B4-BE49-F238E27FC236}">
                <a16:creationId xmlns="" xmlns:a16="http://schemas.microsoft.com/office/drawing/2014/main" id="{5741F786-D266-4394-AED7-008C20EECC0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1"/>
            <a:ext cx="914400"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4284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 xmlns:a16="http://schemas.microsoft.com/office/drawing/2014/main" id="{143DC8C4-6DE0-40E7-A2BB-C9C1D82985C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859" t="3508" r="2070" b="11171"/>
          <a:stretch/>
        </p:blipFill>
        <p:spPr>
          <a:xfrm>
            <a:off x="198782" y="2396680"/>
            <a:ext cx="11993218" cy="255914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129177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EB1523A-3727-4A12-9537-327FB771EBD9}"/>
              </a:ext>
            </a:extLst>
          </p:cNvPr>
          <p:cNvSpPr>
            <a:spLocks noGrp="1"/>
          </p:cNvSpPr>
          <p:nvPr>
            <p:ph type="title"/>
          </p:nvPr>
        </p:nvSpPr>
        <p:spPr/>
        <p:txBody>
          <a:bodyPr/>
          <a:lstStyle/>
          <a:p>
            <a:endParaRPr lang="x-none"/>
          </a:p>
        </p:txBody>
      </p:sp>
      <p:pic>
        <p:nvPicPr>
          <p:cNvPr id="7" name="Content Placeholder 6" descr="Text, letter&#10;&#10;Description automatically generated">
            <a:extLst>
              <a:ext uri="{FF2B5EF4-FFF2-40B4-BE49-F238E27FC236}">
                <a16:creationId xmlns="" xmlns:a16="http://schemas.microsoft.com/office/drawing/2014/main" id="{D7076E57-F82C-49C8-A6C5-6B5AF4C3407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4010" t="2224" r="5218" b="10186"/>
          <a:stretch/>
        </p:blipFill>
        <p:spPr>
          <a:xfrm>
            <a:off x="417689" y="370370"/>
            <a:ext cx="11548533" cy="612250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34967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2F82041-6F4C-4E7D-AE6F-F75D7FC05899}"/>
              </a:ext>
            </a:extLst>
          </p:cNvPr>
          <p:cNvSpPr>
            <a:spLocks noGrp="1"/>
          </p:cNvSpPr>
          <p:nvPr>
            <p:ph type="title"/>
          </p:nvPr>
        </p:nvSpPr>
        <p:spPr/>
        <p:txBody>
          <a:bodyPr/>
          <a:lstStyle/>
          <a:p>
            <a:pPr algn="ctr"/>
            <a:r>
              <a:rPr lang="en-US" b="1" dirty="0">
                <a:latin typeface="Algerian" panose="04020705040A02060702" pitchFamily="82" charset="0"/>
              </a:rPr>
              <a:t>Semantic Analysis</a:t>
            </a:r>
            <a:endParaRPr lang="x-none" dirty="0"/>
          </a:p>
        </p:txBody>
      </p:sp>
      <p:sp>
        <p:nvSpPr>
          <p:cNvPr id="3" name="Content Placeholder 2">
            <a:extLst>
              <a:ext uri="{FF2B5EF4-FFF2-40B4-BE49-F238E27FC236}">
                <a16:creationId xmlns="" xmlns:a16="http://schemas.microsoft.com/office/drawing/2014/main" id="{87D3E5D8-B43F-4BB7-84AB-716CC465C811}"/>
              </a:ext>
            </a:extLst>
          </p:cNvPr>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Semantic analysis is the task of ensuring that the declarations and statements of a program are semantically correct </a:t>
            </a:r>
            <a:r>
              <a:rPr lang="en-US" sz="2400" dirty="0" err="1">
                <a:latin typeface="Times New Roman" panose="02020603050405020304" pitchFamily="18" charset="0"/>
                <a:cs typeface="Times New Roman" panose="02020603050405020304" pitchFamily="18" charset="0"/>
              </a:rPr>
              <a:t>i.e</a:t>
            </a:r>
            <a:r>
              <a:rPr lang="en-US" sz="2400" dirty="0">
                <a:latin typeface="Times New Roman" panose="02020603050405020304" pitchFamily="18" charset="0"/>
                <a:cs typeface="Times New Roman" panose="02020603050405020304" pitchFamily="18" charset="0"/>
              </a:rPr>
              <a:t>, that their meaning is clear and consistent with the way in which control structures and data types are supposed to be used.</a:t>
            </a:r>
          </a:p>
          <a:p>
            <a:pPr marL="0" indent="0">
              <a:buNone/>
            </a:pPr>
            <a:r>
              <a:rPr lang="en-US" sz="2400" b="1" dirty="0">
                <a:latin typeface="Times New Roman" panose="02020603050405020304" pitchFamily="18" charset="0"/>
                <a:cs typeface="Times New Roman" panose="02020603050405020304" pitchFamily="18" charset="0"/>
              </a:rPr>
              <a:t>Semantic Analyzer:</a:t>
            </a:r>
          </a:p>
          <a:p>
            <a:pPr marL="0" indent="0">
              <a:buNone/>
            </a:pPr>
            <a:r>
              <a:rPr lang="en-US" sz="2400" dirty="0">
                <a:latin typeface="Times New Roman" panose="02020603050405020304" pitchFamily="18" charset="0"/>
                <a:cs typeface="Times New Roman" panose="02020603050405020304" pitchFamily="18" charset="0"/>
              </a:rPr>
              <a:t>it can find semantic errors that occur because of the following mistakes:</a:t>
            </a:r>
          </a:p>
          <a:p>
            <a:r>
              <a:rPr lang="en-US" sz="2400" dirty="0">
                <a:latin typeface="Times New Roman" panose="02020603050405020304" pitchFamily="18" charset="0"/>
                <a:cs typeface="Times New Roman" panose="02020603050405020304" pitchFamily="18" charset="0"/>
              </a:rPr>
              <a:t>Names that aren't declared</a:t>
            </a:r>
          </a:p>
          <a:p>
            <a:r>
              <a:rPr lang="en-US" sz="2400" dirty="0">
                <a:latin typeface="Times New Roman" panose="02020603050405020304" pitchFamily="18" charset="0"/>
                <a:cs typeface="Times New Roman" panose="02020603050405020304" pitchFamily="18" charset="0"/>
              </a:rPr>
              <a:t>Operands of the wrong type for the operator they're used with</a:t>
            </a:r>
          </a:p>
        </p:txBody>
      </p:sp>
      <p:pic>
        <p:nvPicPr>
          <p:cNvPr id="4" name="Picture 3" descr="DSpace at Air University Islamabad: Home">
            <a:extLst>
              <a:ext uri="{FF2B5EF4-FFF2-40B4-BE49-F238E27FC236}">
                <a16:creationId xmlns="" xmlns:a16="http://schemas.microsoft.com/office/drawing/2014/main" id="{0C09FEF8-D8FF-4FD9-86C6-5E311F583B8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1"/>
            <a:ext cx="914400"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9708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9A3D2F2-222D-4E83-8A93-F457F77023EA}"/>
              </a:ext>
            </a:extLst>
          </p:cNvPr>
          <p:cNvSpPr>
            <a:spLocks noGrp="1"/>
          </p:cNvSpPr>
          <p:nvPr>
            <p:ph type="title"/>
          </p:nvPr>
        </p:nvSpPr>
        <p:spPr/>
        <p:txBody>
          <a:bodyPr/>
          <a:lstStyle/>
          <a:p>
            <a:pPr algn="ctr"/>
            <a:r>
              <a:rPr lang="en-US" b="1" dirty="0">
                <a:latin typeface="Algerian" panose="04020705040A02060702" pitchFamily="82" charset="0"/>
              </a:rPr>
              <a:t>Compositional Semantics:</a:t>
            </a:r>
            <a:endParaRPr lang="x-none" b="1" dirty="0">
              <a:latin typeface="Algerian" panose="04020705040A02060702" pitchFamily="82" charset="0"/>
            </a:endParaRPr>
          </a:p>
        </p:txBody>
      </p:sp>
      <p:sp>
        <p:nvSpPr>
          <p:cNvPr id="3" name="Content Placeholder 2">
            <a:extLst>
              <a:ext uri="{FF2B5EF4-FFF2-40B4-BE49-F238E27FC236}">
                <a16:creationId xmlns="" xmlns:a16="http://schemas.microsoft.com/office/drawing/2014/main" id="{A818AEF5-0C18-4DFF-8CF1-DA05DA9BBF75}"/>
              </a:ext>
            </a:extLst>
          </p:cNvPr>
          <p:cNvSpPr>
            <a:spLocks noGrp="1"/>
          </p:cNvSpPr>
          <p:nvPr>
            <p:ph idx="1"/>
          </p:nvPr>
        </p:nvSpPr>
        <p:spPr>
          <a:xfrm>
            <a:off x="287867" y="1473200"/>
            <a:ext cx="11361355" cy="5384799"/>
          </a:xfrm>
        </p:spPr>
        <p:txBody>
          <a:bodyPr>
            <a:normAutofit/>
          </a:bodyPr>
          <a:lstStyle/>
          <a:p>
            <a:r>
              <a:rPr lang="en-US" sz="2400" dirty="0">
                <a:latin typeface="Times New Roman" panose="02020603050405020304" pitchFamily="18" charset="0"/>
                <a:cs typeface="Times New Roman" panose="02020603050405020304" pitchFamily="18" charset="0"/>
              </a:rPr>
              <a:t>The meaning of the whole is made up of the meaning of its parts</a:t>
            </a:r>
          </a:p>
          <a:p>
            <a:pPr marL="457200" lvl="1" indent="0">
              <a:buNone/>
            </a:pPr>
            <a:r>
              <a:rPr lang="en-US" dirty="0">
                <a:latin typeface="Times New Roman" panose="02020603050405020304" pitchFamily="18" charset="0"/>
                <a:cs typeface="Times New Roman" panose="02020603050405020304" pitchFamily="18" charset="0"/>
              </a:rPr>
              <a:t>-George Cooks,  Dan eats,  Dan is Sick</a:t>
            </a:r>
          </a:p>
          <a:p>
            <a:pPr marL="457200" lvl="1" indent="0">
              <a:buNone/>
            </a:pPr>
            <a:r>
              <a:rPr lang="en-US" dirty="0">
                <a:latin typeface="Times New Roman" panose="02020603050405020304" pitchFamily="18" charset="0"/>
                <a:cs typeface="Times New Roman" panose="02020603050405020304" pitchFamily="18" charset="0"/>
              </a:rPr>
              <a:t>       Cook(George)  Eat(Dan)  Sick (Dan)</a:t>
            </a:r>
          </a:p>
          <a:p>
            <a:pPr marL="457200" lvl="1" indent="0">
              <a:buNone/>
            </a:pPr>
            <a:r>
              <a:rPr lang="en-US" dirty="0">
                <a:latin typeface="Times New Roman" panose="02020603050405020304" pitchFamily="18" charset="0"/>
                <a:cs typeface="Times New Roman" panose="02020603050405020304" pitchFamily="18" charset="0"/>
              </a:rPr>
              <a:t>-If George cooks and Dan eats. Dan will get sick</a:t>
            </a:r>
          </a:p>
          <a:p>
            <a:pPr marL="457200" lvl="1" indent="0">
              <a:buNone/>
            </a:pPr>
            <a:r>
              <a:rPr lang="en-US" dirty="0">
                <a:latin typeface="Times New Roman" panose="02020603050405020304" pitchFamily="18" charset="0"/>
                <a:cs typeface="Times New Roman" panose="02020603050405020304" pitchFamily="18" charset="0"/>
              </a:rPr>
              <a:t>      (Cook(George)^ eat (Dan)) -&gt; Sick(Dan) Sick(Dan) -&gt; (Cook(George)</a:t>
            </a:r>
          </a:p>
          <a:p>
            <a:r>
              <a:rPr lang="en-US" sz="2400" dirty="0">
                <a:latin typeface="Times New Roman" panose="02020603050405020304" pitchFamily="18" charset="0"/>
                <a:cs typeface="Times New Roman" panose="02020603050405020304" pitchFamily="18" charset="0"/>
              </a:rPr>
              <a:t>To incorporate semantics into grammar we must have to figure out following like right representation for a single constituent based on the part of that constituent and for a category constituent based on other grammar rules making use of that constituent</a:t>
            </a:r>
          </a:p>
          <a:p>
            <a:pPr marL="0" indent="0">
              <a:buNone/>
            </a:pPr>
            <a:r>
              <a:rPr lang="en-US" sz="2400" dirty="0">
                <a:latin typeface="Times New Roman" panose="02020603050405020304" pitchFamily="18" charset="0"/>
                <a:cs typeface="Times New Roman" panose="02020603050405020304" pitchFamily="18" charset="0"/>
              </a:rPr>
              <a:t>            e.g. Nom</a:t>
            </a:r>
            <a:r>
              <a:rPr lang="en-US" sz="2400" dirty="0">
                <a:latin typeface="Times New Roman" panose="02020603050405020304" pitchFamily="18" charset="0"/>
                <a:cs typeface="Times New Roman" panose="02020603050405020304" pitchFamily="18" charset="0"/>
                <a:sym typeface="Wingdings" pitchFamily="2" charset="2"/>
              </a:rPr>
              <a:t> Adj Nom</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And this give us a function like semantics attachments incorporated into our CFG</a:t>
            </a:r>
          </a:p>
          <a:p>
            <a:pPr marL="0" indent="0">
              <a:buNone/>
            </a:pPr>
            <a:r>
              <a:rPr lang="en-US" sz="2400" dirty="0">
                <a:latin typeface="Times New Roman" panose="02020603050405020304" pitchFamily="18" charset="0"/>
                <a:cs typeface="Times New Roman" panose="02020603050405020304" pitchFamily="18" charset="0"/>
              </a:rPr>
              <a:t>    E.g. </a:t>
            </a:r>
          </a:p>
          <a:p>
            <a:pPr marL="0" indent="0">
              <a:buNone/>
            </a:pPr>
            <a:r>
              <a:rPr lang="en-US" sz="2400" dirty="0">
                <a:latin typeface="Times New Roman" panose="02020603050405020304" pitchFamily="18" charset="0"/>
                <a:cs typeface="Times New Roman" panose="02020603050405020304" pitchFamily="18" charset="0"/>
              </a:rPr>
              <a:t>    Nom</a:t>
            </a:r>
            <a:r>
              <a:rPr lang="en-US" sz="2400" dirty="0">
                <a:latin typeface="Times New Roman" panose="02020603050405020304" pitchFamily="18" charset="0"/>
                <a:cs typeface="Times New Roman" panose="02020603050405020304" pitchFamily="18" charset="0"/>
                <a:sym typeface="Wingdings" pitchFamily="2" charset="2"/>
              </a:rPr>
              <a:t> Adj Nom{</a:t>
            </a:r>
            <a:r>
              <a:rPr lang="el-GR" sz="2400" b="1" dirty="0">
                <a:latin typeface="Times New Roman" panose="02020603050405020304" pitchFamily="18" charset="0"/>
                <a:cs typeface="Times New Roman" panose="02020603050405020304" pitchFamily="18" charset="0"/>
              </a:rPr>
              <a:t>λ</a:t>
            </a:r>
            <a:r>
              <a:rPr lang="en-US" sz="2400" dirty="0">
                <a:latin typeface="Times New Roman" panose="02020603050405020304" pitchFamily="18" charset="0"/>
                <a:cs typeface="Times New Roman" panose="02020603050405020304" pitchFamily="18" charset="0"/>
              </a:rPr>
              <a:t>x </a:t>
            </a:r>
            <a:r>
              <a:rPr lang="en-US" sz="2400" dirty="0" err="1">
                <a:latin typeface="Times New Roman" panose="02020603050405020304" pitchFamily="18" charset="0"/>
                <a:cs typeface="Times New Roman" panose="02020603050405020304" pitchFamily="18" charset="0"/>
              </a:rPr>
              <a:t>Nom.sem</a:t>
            </a:r>
            <a:r>
              <a:rPr lang="en-US" sz="2400" dirty="0">
                <a:latin typeface="Times New Roman" panose="02020603050405020304" pitchFamily="18" charset="0"/>
                <a:cs typeface="Times New Roman" panose="02020603050405020304" pitchFamily="18" charset="0"/>
              </a:rPr>
              <a:t>(x)^</a:t>
            </a:r>
            <a:r>
              <a:rPr lang="en-US" sz="2400" dirty="0" err="1">
                <a:latin typeface="Times New Roman" panose="02020603050405020304" pitchFamily="18" charset="0"/>
                <a:cs typeface="Times New Roman" panose="02020603050405020304" pitchFamily="18" charset="0"/>
              </a:rPr>
              <a:t>lsa</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x,Adj.sem</a:t>
            </a:r>
            <a:r>
              <a:rPr lang="en-US" sz="2400" dirty="0">
                <a:latin typeface="Times New Roman" panose="02020603050405020304" pitchFamily="18" charset="0"/>
                <a:cs typeface="Times New Roman" panose="02020603050405020304" pitchFamily="18" charset="0"/>
              </a:rPr>
              <a:t>)}</a:t>
            </a:r>
          </a:p>
          <a:p>
            <a:pPr marL="457200" lvl="1" indent="0">
              <a:buNone/>
            </a:pPr>
            <a:endParaRPr lang="en-US" dirty="0"/>
          </a:p>
        </p:txBody>
      </p:sp>
      <p:pic>
        <p:nvPicPr>
          <p:cNvPr id="4" name="Picture 4" descr="DSpace at Air University Islamabad: Home">
            <a:extLst>
              <a:ext uri="{FF2B5EF4-FFF2-40B4-BE49-F238E27FC236}">
                <a16:creationId xmlns="" xmlns:a16="http://schemas.microsoft.com/office/drawing/2014/main" id="{58C59E5D-B940-4A25-AB97-2226A9B791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1325563" cy="1325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072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51A3AB6-B5AE-4D15-9BB2-197CDDE50811}"/>
              </a:ext>
            </a:extLst>
          </p:cNvPr>
          <p:cNvSpPr>
            <a:spLocks noGrp="1"/>
          </p:cNvSpPr>
          <p:nvPr>
            <p:ph type="title"/>
          </p:nvPr>
        </p:nvSpPr>
        <p:spPr/>
        <p:txBody>
          <a:bodyPr/>
          <a:lstStyle/>
          <a:p>
            <a:pPr algn="ctr"/>
            <a:r>
              <a:rPr lang="en-US" b="1" dirty="0">
                <a:latin typeface="Algerian" panose="04020705040A02060702" pitchFamily="82" charset="0"/>
              </a:rPr>
              <a:t>Syntax- Driven Semantics</a:t>
            </a:r>
            <a:endParaRPr lang="x-none" b="1" dirty="0">
              <a:latin typeface="Algerian" panose="04020705040A02060702" pitchFamily="82" charset="0"/>
            </a:endParaRPr>
          </a:p>
        </p:txBody>
      </p:sp>
      <p:pic>
        <p:nvPicPr>
          <p:cNvPr id="5" name="Picture 4">
            <a:extLst>
              <a:ext uri="{FF2B5EF4-FFF2-40B4-BE49-F238E27FC236}">
                <a16:creationId xmlns="" xmlns:a16="http://schemas.microsoft.com/office/drawing/2014/main" id="{5A93BA4F-221F-469E-B55F-F838444C70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65945" y="1523199"/>
            <a:ext cx="5102795" cy="5108572"/>
          </a:xfrm>
          <a:prstGeom prst="rect">
            <a:avLst/>
          </a:prstGeom>
        </p:spPr>
      </p:pic>
      <p:pic>
        <p:nvPicPr>
          <p:cNvPr id="4" name="Picture 4" descr="DSpace at Air University Islamabad: Home">
            <a:extLst>
              <a:ext uri="{FF2B5EF4-FFF2-40B4-BE49-F238E27FC236}">
                <a16:creationId xmlns="" xmlns:a16="http://schemas.microsoft.com/office/drawing/2014/main" id="{EE7604A9-B41D-451E-BF5F-4584B14F4A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25563" cy="1325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595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BA1374B-1DA9-4051-AE53-99E4B17314B0}"/>
              </a:ext>
            </a:extLst>
          </p:cNvPr>
          <p:cNvSpPr>
            <a:spLocks noGrp="1"/>
          </p:cNvSpPr>
          <p:nvPr>
            <p:ph type="title"/>
          </p:nvPr>
        </p:nvSpPr>
        <p:spPr/>
        <p:txBody>
          <a:bodyPr/>
          <a:lstStyle/>
          <a:p>
            <a:pPr algn="ctr"/>
            <a:r>
              <a:rPr lang="en-US" b="1" dirty="0">
                <a:latin typeface="Algerian" panose="04020705040A02060702" pitchFamily="82" charset="0"/>
              </a:rPr>
              <a:t>What do we do with them?</a:t>
            </a:r>
            <a:br>
              <a:rPr lang="en-US" b="1" dirty="0">
                <a:latin typeface="Algerian" panose="04020705040A02060702" pitchFamily="82" charset="0"/>
              </a:rPr>
            </a:br>
            <a:endParaRPr lang="x-none" b="1" dirty="0">
              <a:latin typeface="Algerian" panose="04020705040A02060702" pitchFamily="82" charset="0"/>
            </a:endParaRPr>
          </a:p>
        </p:txBody>
      </p:sp>
      <p:sp>
        <p:nvSpPr>
          <p:cNvPr id="3" name="Content Placeholder 2">
            <a:extLst>
              <a:ext uri="{FF2B5EF4-FFF2-40B4-BE49-F238E27FC236}">
                <a16:creationId xmlns="" xmlns:a16="http://schemas.microsoft.com/office/drawing/2014/main" id="{F1F96E7B-1062-4A65-A708-740DBF182E45}"/>
              </a:ext>
            </a:extLst>
          </p:cNvPr>
          <p:cNvSpPr>
            <a:spLocks noGrp="1"/>
          </p:cNvSpPr>
          <p:nvPr>
            <p:ph idx="1"/>
          </p:nvPr>
        </p:nvSpPr>
        <p:spPr>
          <a:xfrm>
            <a:off x="225777" y="1825625"/>
            <a:ext cx="11548533" cy="4507442"/>
          </a:xfrm>
        </p:spPr>
        <p:txBody>
          <a:bodyPr/>
          <a:lstStyle/>
          <a:p>
            <a:r>
              <a:rPr lang="en-US" sz="2400" dirty="0">
                <a:latin typeface="Times New Roman" panose="02020603050405020304" pitchFamily="18" charset="0"/>
                <a:cs typeface="Times New Roman" panose="02020603050405020304" pitchFamily="18" charset="0"/>
              </a:rPr>
              <a:t>As we did with feature structure:</a:t>
            </a:r>
          </a:p>
          <a:p>
            <a:pPr marL="0" indent="0">
              <a:buNone/>
            </a:pPr>
            <a:r>
              <a:rPr lang="en-US" sz="2400" dirty="0">
                <a:latin typeface="Times New Roman" panose="02020603050405020304" pitchFamily="18" charset="0"/>
                <a:cs typeface="Times New Roman" panose="02020603050405020304" pitchFamily="18" charset="0"/>
              </a:rPr>
              <a:t>    alter an early-style parser so when    </a:t>
            </a:r>
          </a:p>
          <a:p>
            <a:pPr marL="0" indent="0">
              <a:buNone/>
            </a:pPr>
            <a:r>
              <a:rPr lang="en-US" sz="2400" dirty="0">
                <a:latin typeface="Times New Roman" panose="02020603050405020304" pitchFamily="18" charset="0"/>
                <a:cs typeface="Times New Roman" panose="02020603050405020304" pitchFamily="18" charset="0"/>
              </a:rPr>
              <a:t>    constituents are completed the attached  </a:t>
            </a:r>
          </a:p>
          <a:p>
            <a:pPr marL="0" indent="0">
              <a:buNone/>
            </a:pPr>
            <a:r>
              <a:rPr lang="en-US" sz="2400" dirty="0">
                <a:latin typeface="Times New Roman" panose="02020603050405020304" pitchFamily="18" charset="0"/>
                <a:cs typeface="Times New Roman" panose="02020603050405020304" pitchFamily="18" charset="0"/>
              </a:rPr>
              <a:t>    semantic function applied and meaning  </a:t>
            </a:r>
          </a:p>
          <a:p>
            <a:pPr marL="0" indent="0">
              <a:buNone/>
            </a:pPr>
            <a:r>
              <a:rPr lang="en-US" sz="2400" dirty="0">
                <a:latin typeface="Times New Roman" panose="02020603050405020304" pitchFamily="18" charset="0"/>
                <a:cs typeface="Times New Roman" panose="02020603050405020304" pitchFamily="18" charset="0"/>
              </a:rPr>
              <a:t>    representation created and stored with state</a:t>
            </a:r>
          </a:p>
          <a:p>
            <a:r>
              <a:rPr lang="en-US" sz="2400" dirty="0">
                <a:latin typeface="Times New Roman" panose="02020603050405020304" pitchFamily="18" charset="0"/>
                <a:cs typeface="Times New Roman" panose="02020603050405020304" pitchFamily="18" charset="0"/>
              </a:rPr>
              <a:t>And let parser run to completion and then walk through resulting tree running semantic attachments from bottom-up    </a:t>
            </a:r>
          </a:p>
          <a:p>
            <a:endParaRPr lang="x-none" dirty="0"/>
          </a:p>
        </p:txBody>
      </p:sp>
      <p:pic>
        <p:nvPicPr>
          <p:cNvPr id="4" name="Picture 4" descr="DSpace at Air University Islamabad: Home">
            <a:extLst>
              <a:ext uri="{FF2B5EF4-FFF2-40B4-BE49-F238E27FC236}">
                <a16:creationId xmlns="" xmlns:a16="http://schemas.microsoft.com/office/drawing/2014/main" id="{1A096643-B88E-40D9-B7BA-6AA1AB4B48D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1"/>
            <a:ext cx="914400"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401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9EECB52-ED59-4833-ACDF-490C86E9BB53}"/>
              </a:ext>
            </a:extLst>
          </p:cNvPr>
          <p:cNvSpPr>
            <a:spLocks noGrp="1"/>
          </p:cNvSpPr>
          <p:nvPr>
            <p:ph type="title"/>
          </p:nvPr>
        </p:nvSpPr>
        <p:spPr/>
        <p:txBody>
          <a:bodyPr/>
          <a:lstStyle/>
          <a:p>
            <a:pPr algn="ctr"/>
            <a:r>
              <a:rPr lang="en-US" b="1" dirty="0">
                <a:latin typeface="Algerian" panose="04020705040A02060702" pitchFamily="82" charset="0"/>
              </a:rPr>
              <a:t>Example</a:t>
            </a:r>
            <a:endParaRPr lang="x-none" b="1" dirty="0">
              <a:latin typeface="Algerian" panose="04020705040A02060702" pitchFamily="82" charset="0"/>
            </a:endParaRPr>
          </a:p>
        </p:txBody>
      </p:sp>
      <p:sp>
        <p:nvSpPr>
          <p:cNvPr id="3" name="Content Placeholder 2">
            <a:extLst>
              <a:ext uri="{FF2B5EF4-FFF2-40B4-BE49-F238E27FC236}">
                <a16:creationId xmlns="" xmlns:a16="http://schemas.microsoft.com/office/drawing/2014/main" id="{2DDF52FC-7EA5-4CF7-AC73-933C5FE6EC52}"/>
              </a:ext>
            </a:extLst>
          </p:cNvPr>
          <p:cNvSpPr>
            <a:spLocks noGrp="1"/>
          </p:cNvSpPr>
          <p:nvPr>
            <p:ph idx="1"/>
          </p:nvPr>
        </p:nvSpPr>
        <p:spPr>
          <a:xfrm>
            <a:off x="254000" y="1825624"/>
            <a:ext cx="11938000" cy="4829175"/>
          </a:xfrm>
        </p:spPr>
        <p:txBody>
          <a:bodyPr>
            <a:normAutofit/>
          </a:bodyPr>
          <a:lstStyle/>
          <a:p>
            <a:pPr marL="0" indent="0" algn="ctr">
              <a:buNone/>
            </a:pPr>
            <a:r>
              <a:rPr lang="en-US" dirty="0"/>
              <a:t>   </a:t>
            </a:r>
            <a:r>
              <a:rPr lang="en-US" sz="3200" b="1" dirty="0">
                <a:latin typeface="Times New Roman" panose="02020603050405020304" pitchFamily="18" charset="0"/>
                <a:cs typeface="Times New Roman" panose="02020603050405020304" pitchFamily="18" charset="0"/>
              </a:rPr>
              <a:t>AyCaramba serves meat</a:t>
            </a:r>
            <a:endParaRPr lang="en-US"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Associating Constants with constituents</a:t>
            </a:r>
          </a:p>
          <a:p>
            <a:pPr marL="457200" lvl="1" indent="0">
              <a:buNone/>
            </a:pPr>
            <a:r>
              <a:rPr lang="en-US" dirty="0">
                <a:latin typeface="Times New Roman" panose="02020603050405020304" pitchFamily="18" charset="0"/>
                <a:cs typeface="Times New Roman" panose="02020603050405020304" pitchFamily="18" charset="0"/>
              </a:rPr>
              <a:t>-  ProperNoun -&gt; AyCaramba { AyCaramba}</a:t>
            </a:r>
          </a:p>
          <a:p>
            <a:pPr marL="457200" lvl="1"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MassNoun</a:t>
            </a:r>
            <a:r>
              <a:rPr lang="en-US" dirty="0">
                <a:latin typeface="Times New Roman" panose="02020603050405020304" pitchFamily="18" charset="0"/>
                <a:cs typeface="Times New Roman" panose="02020603050405020304" pitchFamily="18" charset="0"/>
              </a:rPr>
              <a:t> -&gt; meat {Meat}</a:t>
            </a:r>
          </a:p>
          <a:p>
            <a:r>
              <a:rPr lang="en-US" sz="2400" dirty="0">
                <a:latin typeface="Times New Roman" panose="02020603050405020304" pitchFamily="18" charset="0"/>
                <a:cs typeface="Times New Roman" panose="02020603050405020304" pitchFamily="18" charset="0"/>
              </a:rPr>
              <a:t>Defining function to produce this from input</a:t>
            </a:r>
          </a:p>
          <a:p>
            <a:pPr marL="457200" lvl="1" indent="0">
              <a:buNone/>
            </a:pPr>
            <a:r>
              <a:rPr lang="en-US" dirty="0">
                <a:latin typeface="Times New Roman" panose="02020603050405020304" pitchFamily="18" charset="0"/>
                <a:cs typeface="Times New Roman" panose="02020603050405020304" pitchFamily="18" charset="0"/>
              </a:rPr>
              <a:t>- NP -&gt; ProperNoun {</a:t>
            </a:r>
            <a:r>
              <a:rPr lang="en-US" dirty="0" err="1">
                <a:latin typeface="Times New Roman" panose="02020603050405020304" pitchFamily="18" charset="0"/>
                <a:cs typeface="Times New Roman" panose="02020603050405020304" pitchFamily="18" charset="0"/>
              </a:rPr>
              <a:t>properNoun.sem</a:t>
            </a:r>
            <a:r>
              <a:rPr lang="en-US" dirty="0">
                <a:latin typeface="Times New Roman" panose="02020603050405020304" pitchFamily="18" charset="0"/>
                <a:cs typeface="Times New Roman" panose="02020603050405020304" pitchFamily="18" charset="0"/>
              </a:rPr>
              <a:t>}</a:t>
            </a:r>
          </a:p>
          <a:p>
            <a:pPr marL="457200" lvl="1" indent="0">
              <a:buNone/>
            </a:pPr>
            <a:r>
              <a:rPr lang="en-US" dirty="0">
                <a:latin typeface="Times New Roman" panose="02020603050405020304" pitchFamily="18" charset="0"/>
                <a:cs typeface="Times New Roman" panose="02020603050405020304" pitchFamily="18" charset="0"/>
              </a:rPr>
              <a:t>- NP -&gt; </a:t>
            </a:r>
            <a:r>
              <a:rPr lang="en-US" dirty="0" err="1">
                <a:latin typeface="Times New Roman" panose="02020603050405020304" pitchFamily="18" charset="0"/>
                <a:cs typeface="Times New Roman" panose="02020603050405020304" pitchFamily="18" charset="0"/>
              </a:rPr>
              <a:t>MassNoun</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MassNoun.sem</a:t>
            </a:r>
            <a:r>
              <a:rPr lang="en-US" dirty="0">
                <a:latin typeface="Times New Roman" panose="02020603050405020304" pitchFamily="18" charset="0"/>
                <a:cs typeface="Times New Roman" panose="02020603050405020304" pitchFamily="18" charset="0"/>
              </a:rPr>
              <a:t>}</a:t>
            </a:r>
          </a:p>
          <a:p>
            <a:pPr marL="457200" lvl="1" indent="0">
              <a:buNone/>
            </a:pPr>
            <a:r>
              <a:rPr lang="en-US" dirty="0">
                <a:latin typeface="Times New Roman" panose="02020603050405020304" pitchFamily="18" charset="0"/>
                <a:cs typeface="Times New Roman" panose="02020603050405020304" pitchFamily="18" charset="0"/>
              </a:rPr>
              <a:t>     -Assumption: meaning  reps of children are passed up to the parents for non branching </a:t>
            </a:r>
            <a:r>
              <a:rPr lang="en-US" dirty="0" err="1">
                <a:latin typeface="Times New Roman" panose="02020603050405020304" pitchFamily="18" charset="0"/>
                <a:cs typeface="Times New Roman" panose="02020603050405020304" pitchFamily="18" charset="0"/>
              </a:rPr>
              <a:t>constuents</a:t>
            </a:r>
            <a:endParaRPr lang="en-US"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Verb here are action </a:t>
            </a:r>
          </a:p>
          <a:p>
            <a:pPr marL="457200" lvl="1" indent="0">
              <a:buNone/>
            </a:pPr>
            <a:endParaRPr lang="en-US" dirty="0">
              <a:latin typeface="Times New Roman" panose="02020603050405020304" pitchFamily="18" charset="0"/>
              <a:cs typeface="Times New Roman" panose="02020603050405020304" pitchFamily="18" charset="0"/>
            </a:endParaRPr>
          </a:p>
          <a:p>
            <a:pPr marL="0" indent="0">
              <a:buNone/>
            </a:pPr>
            <a:endParaRPr lang="x-none" dirty="0"/>
          </a:p>
        </p:txBody>
      </p:sp>
      <p:pic>
        <p:nvPicPr>
          <p:cNvPr id="4" name="Picture 4" descr="DSpace at Air University Islamabad: Home">
            <a:extLst>
              <a:ext uri="{FF2B5EF4-FFF2-40B4-BE49-F238E27FC236}">
                <a16:creationId xmlns="" xmlns:a16="http://schemas.microsoft.com/office/drawing/2014/main" id="{75B9700D-6125-4C4A-9419-C10F72C6A0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25563" cy="1325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21333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5A44AD35-7394-4E2A-91D2-0826C099332F}"/>
              </a:ext>
            </a:extLst>
          </p:cNvPr>
          <p:cNvSpPr>
            <a:spLocks noGrp="1"/>
          </p:cNvSpPr>
          <p:nvPr>
            <p:ph idx="1"/>
          </p:nvPr>
        </p:nvSpPr>
        <p:spPr>
          <a:xfrm>
            <a:off x="407581" y="1221168"/>
            <a:ext cx="11376837" cy="6081823"/>
          </a:xfrm>
        </p:spPr>
        <p:txBody>
          <a:bodyPr>
            <a:normAutofit/>
          </a:bodyPr>
          <a:lstStyle/>
          <a:p>
            <a:pPr marL="457200" lvl="1" indent="0">
              <a:buNone/>
            </a:pPr>
            <a:r>
              <a:rPr lang="en-US" dirty="0">
                <a:latin typeface="Times New Roman" panose="02020603050405020304" pitchFamily="18" charset="0"/>
                <a:cs typeface="Times New Roman" panose="02020603050405020304" pitchFamily="18" charset="0"/>
              </a:rPr>
              <a:t>-  V-&gt; serves {E(</a:t>
            </a:r>
            <a:r>
              <a:rPr lang="en-US" dirty="0" err="1">
                <a:latin typeface="Times New Roman" panose="02020603050405020304" pitchFamily="18" charset="0"/>
                <a:cs typeface="Times New Roman" panose="02020603050405020304" pitchFamily="18" charset="0"/>
              </a:rPr>
              <a:t>e,x,y</a:t>
            </a:r>
            <a:r>
              <a:rPr lang="en-US" dirty="0">
                <a:latin typeface="Times New Roman" panose="02020603050405020304" pitchFamily="18" charset="0"/>
                <a:cs typeface="Times New Roman" panose="02020603050405020304" pitchFamily="18" charset="0"/>
              </a:rPr>
              <a:t>) Isa(e Serving) ^ Server(</a:t>
            </a:r>
            <a:r>
              <a:rPr lang="en-US" dirty="0" err="1">
                <a:latin typeface="Times New Roman" panose="02020603050405020304" pitchFamily="18" charset="0"/>
                <a:cs typeface="Times New Roman" panose="02020603050405020304" pitchFamily="18" charset="0"/>
              </a:rPr>
              <a:t>e,x</a:t>
            </a:r>
            <a:r>
              <a:rPr lang="en-US" dirty="0">
                <a:latin typeface="Times New Roman" panose="02020603050405020304" pitchFamily="18" charset="0"/>
                <a:cs typeface="Times New Roman" panose="02020603050405020304" pitchFamily="18" charset="0"/>
              </a:rPr>
              <a:t>) ^ Served(</a:t>
            </a:r>
            <a:r>
              <a:rPr lang="en-US" dirty="0" err="1">
                <a:latin typeface="Times New Roman" panose="02020603050405020304" pitchFamily="18" charset="0"/>
                <a:cs typeface="Times New Roman" panose="02020603050405020304" pitchFamily="18" charset="0"/>
              </a:rPr>
              <a:t>e,y</a:t>
            </a:r>
            <a:r>
              <a:rPr lang="en-US" dirty="0">
                <a:latin typeface="Times New Roman" panose="02020603050405020304" pitchFamily="18" charset="0"/>
                <a:cs typeface="Times New Roman" panose="02020603050405020304" pitchFamily="18" charset="0"/>
              </a:rPr>
              <a:t>)}</a:t>
            </a:r>
          </a:p>
          <a:p>
            <a:pPr marL="457200" lvl="1" indent="0">
              <a:buNone/>
            </a:pPr>
            <a:r>
              <a:rPr lang="en-US" dirty="0">
                <a:latin typeface="Times New Roman" panose="02020603050405020304" pitchFamily="18" charset="0"/>
                <a:cs typeface="Times New Roman" panose="02020603050405020304" pitchFamily="18" charset="0"/>
              </a:rPr>
              <a:t>- Will every verb have its own distinct representation?</a:t>
            </a:r>
          </a:p>
          <a:p>
            <a:pPr marL="457200" lvl="1" indent="0">
              <a:buNone/>
            </a:pPr>
            <a:r>
              <a:rPr lang="en-US" dirty="0">
                <a:latin typeface="Times New Roman" panose="02020603050405020304" pitchFamily="18" charset="0"/>
                <a:cs typeface="Times New Roman" panose="02020603050405020304" pitchFamily="18" charset="0"/>
              </a:rPr>
              <a:t>- Predicate(Agent, Patient)</a:t>
            </a:r>
          </a:p>
          <a:p>
            <a:r>
              <a:rPr lang="en-US" sz="2400" dirty="0">
                <a:latin typeface="Times New Roman" panose="02020603050405020304" pitchFamily="18" charset="0"/>
                <a:cs typeface="Times New Roman" panose="02020603050405020304" pitchFamily="18" charset="0"/>
              </a:rPr>
              <a:t>How do we combine these Pieces?</a:t>
            </a:r>
          </a:p>
          <a:p>
            <a:pPr marL="457200" lvl="1" indent="0">
              <a:buNone/>
            </a:pPr>
            <a:r>
              <a:rPr lang="en-US" dirty="0">
                <a:latin typeface="Times New Roman" panose="02020603050405020304" pitchFamily="18" charset="0"/>
                <a:cs typeface="Times New Roman" panose="02020603050405020304" pitchFamily="18" charset="0"/>
              </a:rPr>
              <a:t>- VP -&gt; V NP</a:t>
            </a:r>
          </a:p>
          <a:p>
            <a:pPr marL="457200" lvl="1" indent="0">
              <a:buNone/>
            </a:pPr>
            <a:r>
              <a:rPr lang="en-US" dirty="0">
                <a:latin typeface="Times New Roman" panose="02020603050405020304" pitchFamily="18" charset="0"/>
                <a:cs typeface="Times New Roman" panose="02020603050405020304" pitchFamily="18" charset="0"/>
              </a:rPr>
              <a:t>- Goal : E(</a:t>
            </a:r>
            <a:r>
              <a:rPr lang="en-US" dirty="0" err="1">
                <a:latin typeface="Times New Roman" panose="02020603050405020304" pitchFamily="18" charset="0"/>
                <a:cs typeface="Times New Roman" panose="02020603050405020304" pitchFamily="18" charset="0"/>
              </a:rPr>
              <a:t>e,x</a:t>
            </a:r>
            <a:r>
              <a:rPr lang="en-US" dirty="0">
                <a:latin typeface="Times New Roman" panose="02020603050405020304" pitchFamily="18" charset="0"/>
                <a:cs typeface="Times New Roman" panose="02020603050405020304" pitchFamily="18" charset="0"/>
              </a:rPr>
              <a:t>) Isa(e, Serving) ^Server(</a:t>
            </a:r>
            <a:r>
              <a:rPr lang="en-US" dirty="0" err="1">
                <a:latin typeface="Times New Roman" panose="02020603050405020304" pitchFamily="18" charset="0"/>
                <a:cs typeface="Times New Roman" panose="02020603050405020304" pitchFamily="18" charset="0"/>
              </a:rPr>
              <a:t>e,x</a:t>
            </a:r>
            <a:r>
              <a:rPr lang="en-US" dirty="0">
                <a:latin typeface="Times New Roman" panose="02020603050405020304" pitchFamily="18" charset="0"/>
                <a:cs typeface="Times New Roman" panose="02020603050405020304" pitchFamily="18" charset="0"/>
              </a:rPr>
              <a:t>) ^ Served(e, Meat)</a:t>
            </a:r>
          </a:p>
          <a:p>
            <a:pPr marL="457200" lvl="1" indent="0">
              <a:buNone/>
            </a:pPr>
            <a:endParaRPr lang="en-US"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-VP semantics must tell us    </a:t>
            </a:r>
          </a:p>
          <a:p>
            <a:pPr lvl="1"/>
            <a:r>
              <a:rPr lang="en-US" dirty="0">
                <a:latin typeface="Times New Roman" panose="02020603050405020304" pitchFamily="18" charset="0"/>
                <a:cs typeface="Times New Roman" panose="02020603050405020304" pitchFamily="18" charset="0"/>
              </a:rPr>
              <a:t>Which vars to be replaced by which </a:t>
            </a:r>
            <a:r>
              <a:rPr lang="en-US" dirty="0" err="1">
                <a:latin typeface="Times New Roman" panose="02020603050405020304" pitchFamily="18" charset="0"/>
                <a:cs typeface="Times New Roman" panose="02020603050405020304" pitchFamily="18" charset="0"/>
              </a:rPr>
              <a:t>args</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How this replacement is done   </a:t>
            </a:r>
            <a:endParaRPr lang="x-none" dirty="0">
              <a:latin typeface="Times New Roman" panose="02020603050405020304" pitchFamily="18" charset="0"/>
              <a:cs typeface="Times New Roman" panose="02020603050405020304" pitchFamily="18" charset="0"/>
            </a:endParaRPr>
          </a:p>
        </p:txBody>
      </p:sp>
      <p:pic>
        <p:nvPicPr>
          <p:cNvPr id="4" name="Picture 4" descr="DSpace at Air University Islamabad: Home">
            <a:extLst>
              <a:ext uri="{FF2B5EF4-FFF2-40B4-BE49-F238E27FC236}">
                <a16:creationId xmlns="" xmlns:a16="http://schemas.microsoft.com/office/drawing/2014/main" id="{EBACB0B2-4E6C-40F0-82E0-E9DCE36B07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25563" cy="1325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58565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EB76000-7CC1-49B7-92AA-943191B50EB5}"/>
              </a:ext>
            </a:extLst>
          </p:cNvPr>
          <p:cNvSpPr>
            <a:spLocks noGrp="1"/>
          </p:cNvSpPr>
          <p:nvPr>
            <p:ph type="title"/>
          </p:nvPr>
        </p:nvSpPr>
        <p:spPr/>
        <p:txBody>
          <a:bodyPr/>
          <a:lstStyle/>
          <a:p>
            <a:pPr algn="ctr"/>
            <a:r>
              <a:rPr lang="en-US" b="1" dirty="0">
                <a:latin typeface="Algerian" panose="04020705040A02060702" pitchFamily="82" charset="0"/>
              </a:rPr>
              <a:t>Lambda Notation</a:t>
            </a:r>
            <a:endParaRPr lang="x-none" dirty="0">
              <a:latin typeface="Algerian" panose="04020705040A02060702" pitchFamily="82"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 xmlns:a16="http://schemas.microsoft.com/office/drawing/2014/main" id="{F96E9628-280D-46CD-998E-E03982667B6A}"/>
                  </a:ext>
                </a:extLst>
              </p:cNvPr>
              <p:cNvSpPr>
                <a:spLocks noGrp="1"/>
              </p:cNvSpPr>
              <p:nvPr>
                <p:ph idx="1"/>
              </p:nvPr>
            </p:nvSpPr>
            <p:spPr/>
            <p:txBody>
              <a:bodyPr>
                <a:normAutofit/>
              </a:bodyPr>
              <a:lstStyle/>
              <a:p>
                <a:pPr marL="457200" indent="-457200" algn="l">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Extension to FOPC</a:t>
                </a:r>
              </a:p>
              <a:p>
                <a:pPr marL="0" indent="0" algn="l">
                  <a:buNone/>
                </a:pPr>
                <a:r>
                  <a:rPr lang="en-US" sz="24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m:rPr>
                        <m:sty m:val="p"/>
                      </m:rPr>
                      <a:rPr lang="el-GR" sz="2400" i="1" smtClean="0">
                        <a:solidFill>
                          <a:schemeClr val="tx1"/>
                        </a:solidFill>
                        <a:latin typeface="Cambria Math"/>
                      </a:rPr>
                      <m:t>λ</m:t>
                    </m:r>
                  </m:oMath>
                </a14:m>
                <a:r>
                  <a:rPr lang="en-US" sz="2400" dirty="0">
                    <a:solidFill>
                      <a:schemeClr val="tx1"/>
                    </a:solidFill>
                    <a:latin typeface="Times New Roman" panose="02020603050405020304" pitchFamily="18" charset="0"/>
                    <a:cs typeface="Times New Roman" panose="02020603050405020304" pitchFamily="18" charset="0"/>
                  </a:rPr>
                  <a:t> x P(x)</a:t>
                </a:r>
              </a:p>
              <a:p>
                <a:pPr marL="0" indent="0" algn="l">
                  <a:buNone/>
                </a:pPr>
                <a:r>
                  <a:rPr lang="en-US" sz="24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m:rPr>
                        <m:sty m:val="p"/>
                      </m:rPr>
                      <a:rPr lang="el-GR" sz="2400" i="1" smtClean="0">
                        <a:solidFill>
                          <a:schemeClr val="tx1"/>
                        </a:solidFill>
                        <a:latin typeface="Cambria Math"/>
                      </a:rPr>
                      <m:t>λ</m:t>
                    </m:r>
                  </m:oMath>
                </a14:m>
                <a:r>
                  <a:rPr lang="en-US" sz="2400" dirty="0">
                    <a:solidFill>
                      <a:schemeClr val="tx1"/>
                    </a:solidFill>
                    <a:latin typeface="Times New Roman" panose="02020603050405020304" pitchFamily="18" charset="0"/>
                    <a:cs typeface="Times New Roman" panose="02020603050405020304" pitchFamily="18" charset="0"/>
                  </a:rPr>
                  <a:t> + variable(s) + FOPC expression in 	those variables</a:t>
                </a:r>
              </a:p>
              <a:p>
                <a:pPr marL="457200" indent="-457200" algn="l">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Lambda binding				</a:t>
                </a:r>
              </a:p>
              <a:p>
                <a:pPr marL="914400" lvl="1" indent="-457200" algn="l">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Apply lambda-expression to logical terms to bind lambda-expression’s parameters to terms (</a:t>
                </a:r>
                <a:r>
                  <a:rPr lang="en-US" b="1" dirty="0">
                    <a:latin typeface="Times New Roman" panose="02020603050405020304" pitchFamily="18" charset="0"/>
                    <a:cs typeface="Times New Roman" panose="02020603050405020304" pitchFamily="18" charset="0"/>
                  </a:rPr>
                  <a:t>lambda reduction</a:t>
                </a:r>
                <a:r>
                  <a:rPr lang="en-US" dirty="0">
                    <a:solidFill>
                      <a:schemeClr val="tx1"/>
                    </a:solidFill>
                    <a:latin typeface="Times New Roman" panose="02020603050405020304" pitchFamily="18" charset="0"/>
                    <a:cs typeface="Times New Roman" panose="02020603050405020304" pitchFamily="18" charset="0"/>
                  </a:rPr>
                  <a:t>)</a:t>
                </a:r>
              </a:p>
              <a:p>
                <a:pPr marL="914400" lvl="1" indent="-457200" algn="l">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Simple process: substitute terms for variables in lambda expression</a:t>
                </a:r>
              </a:p>
              <a:p>
                <a:pPr marL="457200" lvl="1" indent="0" algn="l">
                  <a:buNone/>
                </a:pPr>
                <a:r>
                  <a:rPr lang="en-US"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m:rPr>
                        <m:sty m:val="p"/>
                      </m:rPr>
                      <a:rPr lang="el-GR" i="1" smtClean="0">
                        <a:solidFill>
                          <a:schemeClr val="tx1"/>
                        </a:solidFill>
                        <a:latin typeface="Cambria Math"/>
                      </a:rPr>
                      <m:t>λ</m:t>
                    </m:r>
                  </m:oMath>
                </a14:m>
                <a:r>
                  <a:rPr lang="en-US" dirty="0" err="1">
                    <a:solidFill>
                      <a:schemeClr val="tx1"/>
                    </a:solidFill>
                    <a:latin typeface="Times New Roman" panose="02020603050405020304" pitchFamily="18" charset="0"/>
                    <a:cs typeface="Times New Roman" panose="02020603050405020304" pitchFamily="18" charset="0"/>
                  </a:rPr>
                  <a:t>xP</a:t>
                </a:r>
                <a:r>
                  <a:rPr lang="en-US" dirty="0">
                    <a:solidFill>
                      <a:schemeClr val="tx1"/>
                    </a:solidFill>
                    <a:latin typeface="Times New Roman" panose="02020603050405020304" pitchFamily="18" charset="0"/>
                    <a:cs typeface="Times New Roman" panose="02020603050405020304" pitchFamily="18" charset="0"/>
                  </a:rPr>
                  <a:t>(x)(car)</a:t>
                </a:r>
              </a:p>
              <a:p>
                <a:pPr marL="457200" lvl="1" indent="0" algn="l">
                  <a:buNone/>
                </a:pPr>
                <a:r>
                  <a:rPr lang="en-US" dirty="0">
                    <a:solidFill>
                      <a:schemeClr val="tx1"/>
                    </a:solidFill>
                    <a:latin typeface="Times New Roman" panose="02020603050405020304" pitchFamily="18" charset="0"/>
                    <a:cs typeface="Times New Roman" panose="02020603050405020304" pitchFamily="18" charset="0"/>
                  </a:rPr>
                  <a:t>     P(car)</a:t>
                </a:r>
              </a:p>
              <a:p>
                <a:endParaRPr lang="x-none" dirty="0"/>
              </a:p>
            </p:txBody>
          </p:sp>
        </mc:Choice>
        <mc:Fallback xmlns="">
          <p:sp>
            <p:nvSpPr>
              <p:cNvPr id="3" name="Content Placeholder 2">
                <a:extLst>
                  <a:ext uri="{FF2B5EF4-FFF2-40B4-BE49-F238E27FC236}">
                    <a16:creationId xmlns:a16="http://schemas.microsoft.com/office/drawing/2014/main" id="{F96E9628-280D-46CD-998E-E03982667B6A}"/>
                  </a:ext>
                </a:extLst>
              </p:cNvPr>
              <p:cNvSpPr>
                <a:spLocks noGrp="1" noRot="1" noChangeAspect="1" noMove="1" noResize="1" noEditPoints="1" noAdjustHandles="1" noChangeArrowheads="1" noChangeShapeType="1" noTextEdit="1"/>
              </p:cNvSpPr>
              <p:nvPr>
                <p:ph idx="1"/>
              </p:nvPr>
            </p:nvSpPr>
            <p:spPr>
              <a:blipFill>
                <a:blip r:embed="rId2"/>
                <a:stretch>
                  <a:fillRect l="-812" t="-1961"/>
                </a:stretch>
              </a:blipFill>
            </p:spPr>
            <p:txBody>
              <a:bodyPr/>
              <a:lstStyle/>
              <a:p>
                <a:r>
                  <a:rPr lang="en-PK">
                    <a:noFill/>
                  </a:rPr>
                  <a:t> </a:t>
                </a:r>
              </a:p>
            </p:txBody>
          </p:sp>
        </mc:Fallback>
      </mc:AlternateContent>
      <p:pic>
        <p:nvPicPr>
          <p:cNvPr id="4" name="Picture 4" descr="DSpace at Air University Islamabad: Home">
            <a:extLst>
              <a:ext uri="{FF2B5EF4-FFF2-40B4-BE49-F238E27FC236}">
                <a16:creationId xmlns="" xmlns:a16="http://schemas.microsoft.com/office/drawing/2014/main" id="{8E7D6FD4-191B-4837-B868-BC5F1E1F52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25563" cy="1325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50452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4E2DCD7-4850-448F-BA32-E5601AFE0D78}"/>
              </a:ext>
            </a:extLst>
          </p:cNvPr>
          <p:cNvSpPr>
            <a:spLocks noGrp="1"/>
          </p:cNvSpPr>
          <p:nvPr>
            <p:ph type="title"/>
          </p:nvPr>
        </p:nvSpPr>
        <p:spPr/>
        <p:txBody>
          <a:bodyPr/>
          <a:lstStyle/>
          <a:p>
            <a:pPr algn="ctr"/>
            <a:r>
              <a:rPr lang="en-US" b="1" dirty="0" err="1">
                <a:latin typeface="Algerian" panose="04020705040A02060702" pitchFamily="82" charset="0"/>
              </a:rPr>
              <a:t>Cont</a:t>
            </a:r>
            <a:r>
              <a:rPr lang="en-US" b="1" dirty="0">
                <a:latin typeface="Algerian" panose="04020705040A02060702" pitchFamily="82" charset="0"/>
              </a:rPr>
              <a:t>…</a:t>
            </a:r>
            <a:endParaRPr lang="x-none" b="1" dirty="0">
              <a:latin typeface="Algerian" panose="04020705040A02060702" pitchFamily="82"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 xmlns:a16="http://schemas.microsoft.com/office/drawing/2014/main" id="{5C7B6B80-4387-4C12-A1D2-087EC9218B0F}"/>
                  </a:ext>
                </a:extLst>
              </p:cNvPr>
              <p:cNvSpPr>
                <a:spLocks noGrp="1"/>
              </p:cNvSpPr>
              <p:nvPr>
                <p:ph idx="1"/>
              </p:nvPr>
            </p:nvSpPr>
            <p:spPr/>
            <p:txBody>
              <a:bodyPr>
                <a:normAutofit/>
              </a:bodyPr>
              <a:lstStyle/>
              <a:p>
                <a:r>
                  <a:rPr lang="en-US" sz="2400" dirty="0">
                    <a:solidFill>
                      <a:schemeClr val="tx1"/>
                    </a:solidFill>
                    <a:latin typeface="Times New Roman" panose="02020603050405020304" pitchFamily="18" charset="0"/>
                    <a:cs typeface="Times New Roman" panose="02020603050405020304" pitchFamily="18" charset="0"/>
                  </a:rPr>
                  <a:t>Lambda notation provides requisite verb semantics</a:t>
                </a:r>
              </a:p>
              <a:p>
                <a:pPr marL="457200" lvl="1" indent="0">
                  <a:buNone/>
                </a:pPr>
                <a:r>
                  <a:rPr lang="en-US" dirty="0">
                    <a:solidFill>
                      <a:schemeClr val="tx1"/>
                    </a:solidFill>
                    <a:latin typeface="Times New Roman" panose="02020603050405020304" pitchFamily="18" charset="0"/>
                    <a:cs typeface="Times New Roman" panose="02020603050405020304" pitchFamily="18" charset="0"/>
                  </a:rPr>
                  <a:t>- Formal parameter list makes variables within the body of the  logical expression available for binding to external arguments.</a:t>
                </a:r>
              </a:p>
              <a:p>
                <a:pPr marL="457200" lvl="1" indent="0">
                  <a:buNone/>
                </a:pPr>
                <a:r>
                  <a:rPr lang="en-US" dirty="0">
                    <a:solidFill>
                      <a:schemeClr val="tx1"/>
                    </a:solidFill>
                    <a:latin typeface="Times New Roman" panose="02020603050405020304" pitchFamily="18" charset="0"/>
                    <a:cs typeface="Times New Roman" panose="02020603050405020304" pitchFamily="18" charset="0"/>
                  </a:rPr>
                  <a:t>- Lambda reduction implements the replacement</a:t>
                </a:r>
              </a:p>
              <a:p>
                <a:r>
                  <a:rPr lang="en-US" sz="2400" dirty="0">
                    <a:solidFill>
                      <a:schemeClr val="tx1"/>
                    </a:solidFill>
                    <a:latin typeface="Times New Roman" panose="02020603050405020304" pitchFamily="18" charset="0"/>
                    <a:cs typeface="Times New Roman" panose="02020603050405020304" pitchFamily="18" charset="0"/>
                  </a:rPr>
                  <a:t>Semantic attachment for </a:t>
                </a:r>
              </a:p>
              <a:p>
                <a:pPr marL="457200" lvl="1" indent="0">
                  <a:buNone/>
                </a:pPr>
                <a:r>
                  <a:rPr lang="en-US" dirty="0">
                    <a:solidFill>
                      <a:schemeClr val="tx1"/>
                    </a:solidFill>
                    <a:latin typeface="Times New Roman" panose="02020603050405020304" pitchFamily="18" charset="0"/>
                    <a:cs typeface="Times New Roman" panose="02020603050405020304" pitchFamily="18" charset="0"/>
                  </a:rPr>
                  <a:t>-V</a:t>
                </a:r>
                <a14:m>
                  <m:oMath xmlns:m="http://schemas.openxmlformats.org/officeDocument/2006/math">
                    <m:r>
                      <a:rPr lang="en-US" i="1" smtClean="0">
                        <a:solidFill>
                          <a:schemeClr val="tx1"/>
                        </a:solidFill>
                        <a:latin typeface="Cambria Math"/>
                        <a:ea typeface="Cambria Math"/>
                      </a:rPr>
                      <m:t>→</m:t>
                    </m:r>
                    <m:r>
                      <m:rPr>
                        <m:sty m:val="p"/>
                      </m:rPr>
                      <a:rPr lang="en-US" b="0" i="0" smtClean="0">
                        <a:solidFill>
                          <a:schemeClr val="tx1"/>
                        </a:solidFill>
                        <a:latin typeface="Cambria Math"/>
                        <a:ea typeface="Cambria Math"/>
                      </a:rPr>
                      <m:t>serves</m:t>
                    </m:r>
                    <m:r>
                      <a:rPr lang="en-US" b="0" i="1" smtClean="0">
                        <a:solidFill>
                          <a:schemeClr val="tx1"/>
                        </a:solidFill>
                        <a:latin typeface="Cambria Math"/>
                        <a:ea typeface="Cambria Math"/>
                      </a:rPr>
                      <m:t>{</m:t>
                    </m:r>
                  </m:oMath>
                </a14:m>
                <a:r>
                  <a:rPr lang="en-US" dirty="0">
                    <a:solidFill>
                      <a:schemeClr val="tx1"/>
                    </a:solidFill>
                    <a:latin typeface="Times New Roman" panose="02020603050405020304" pitchFamily="18" charset="0"/>
                    <a:cs typeface="Times New Roman" panose="02020603050405020304" pitchFamily="18" charset="0"/>
                  </a:rPr>
                  <a:t>V.sem(NP.sem)} 			</a:t>
                </a:r>
              </a:p>
              <a:p>
                <a:pPr marL="457200" lvl="1" indent="0">
                  <a:buNone/>
                </a:pPr>
                <a:r>
                  <a:rPr lang="en-US" dirty="0">
                    <a:solidFill>
                      <a:schemeClr val="tx1"/>
                    </a:solidFill>
                    <a:latin typeface="Times New Roman" panose="02020603050405020304" pitchFamily="18" charset="0"/>
                    <a:cs typeface="Times New Roman" panose="02020603050405020304" pitchFamily="18" charset="0"/>
                  </a:rPr>
                  <a:t>   </a:t>
                </a:r>
                <a:r>
                  <a:rPr lang="en-US" b="1" dirty="0">
                    <a:solidFill>
                      <a:schemeClr val="tx1"/>
                    </a:solidFill>
                    <a:latin typeface="Times New Roman" panose="02020603050405020304" pitchFamily="18" charset="0"/>
                    <a:cs typeface="Times New Roman" panose="02020603050405020304" pitchFamily="18" charset="0"/>
                  </a:rPr>
                  <a:t>{E(</a:t>
                </a:r>
                <a:r>
                  <a:rPr lang="en-US" b="1" dirty="0" err="1">
                    <a:solidFill>
                      <a:schemeClr val="tx1"/>
                    </a:solidFill>
                    <a:latin typeface="Times New Roman" panose="02020603050405020304" pitchFamily="18" charset="0"/>
                    <a:cs typeface="Times New Roman" panose="02020603050405020304" pitchFamily="18" charset="0"/>
                  </a:rPr>
                  <a:t>e,x,y</a:t>
                </a:r>
                <a:r>
                  <a:rPr lang="en-US" b="1" dirty="0">
                    <a:solidFill>
                      <a:schemeClr val="tx1"/>
                    </a:solidFill>
                    <a:latin typeface="Times New Roman" panose="02020603050405020304" pitchFamily="18" charset="0"/>
                    <a:cs typeface="Times New Roman" panose="02020603050405020304" pitchFamily="18" charset="0"/>
                  </a:rPr>
                  <a:t>) Isa(</a:t>
                </a:r>
                <a:r>
                  <a:rPr lang="en-US" b="1" dirty="0" err="1">
                    <a:solidFill>
                      <a:schemeClr val="tx1"/>
                    </a:solidFill>
                    <a:latin typeface="Times New Roman" panose="02020603050405020304" pitchFamily="18" charset="0"/>
                    <a:cs typeface="Times New Roman" panose="02020603050405020304" pitchFamily="18" charset="0"/>
                  </a:rPr>
                  <a:t>e,Serving</a:t>
                </a:r>
                <a:r>
                  <a:rPr lang="en-US" b="1"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r>
                      <a:rPr lang="en-US" b="1" i="1" smtClean="0">
                        <a:solidFill>
                          <a:schemeClr val="tx1"/>
                        </a:solidFill>
                        <a:latin typeface="Cambria Math"/>
                        <a:ea typeface="Cambria Math"/>
                      </a:rPr>
                      <m:t>^</m:t>
                    </m:r>
                    <m:r>
                      <a:rPr lang="en-US" b="1" i="0" smtClean="0">
                        <a:solidFill>
                          <a:schemeClr val="tx1"/>
                        </a:solidFill>
                        <a:latin typeface="Cambria Math"/>
                        <a:ea typeface="Cambria Math"/>
                      </a:rPr>
                      <m:t>𝐒𝐞𝐫𝐯𝐞𝐫</m:t>
                    </m:r>
                    <m:r>
                      <a:rPr lang="en-US" b="1" i="0" smtClean="0">
                        <a:solidFill>
                          <a:schemeClr val="tx1"/>
                        </a:solidFill>
                        <a:latin typeface="Cambria Math"/>
                        <a:ea typeface="Cambria Math"/>
                      </a:rPr>
                      <m:t>(</m:t>
                    </m:r>
                    <m:r>
                      <a:rPr lang="en-US" b="1" i="0" smtClean="0">
                        <a:solidFill>
                          <a:schemeClr val="tx1"/>
                        </a:solidFill>
                        <a:latin typeface="Cambria Math"/>
                        <a:ea typeface="Cambria Math"/>
                      </a:rPr>
                      <m:t>𝐞</m:t>
                    </m:r>
                    <m:r>
                      <a:rPr lang="en-US" b="1" i="0" smtClean="0">
                        <a:solidFill>
                          <a:schemeClr val="tx1"/>
                        </a:solidFill>
                        <a:latin typeface="Cambria Math"/>
                        <a:ea typeface="Cambria Math"/>
                      </a:rPr>
                      <m:t>,</m:t>
                    </m:r>
                    <m:r>
                      <a:rPr lang="en-US" b="1" i="0" smtClean="0">
                        <a:solidFill>
                          <a:schemeClr val="tx1"/>
                        </a:solidFill>
                        <a:latin typeface="Cambria Math"/>
                        <a:ea typeface="Cambria Math"/>
                      </a:rPr>
                      <m:t>𝐲</m:t>
                    </m:r>
                    <m:r>
                      <a:rPr lang="en-US" b="1" i="0" smtClean="0">
                        <a:solidFill>
                          <a:schemeClr val="tx1"/>
                        </a:solidFill>
                        <a:latin typeface="Cambria Math"/>
                        <a:ea typeface="Cambria Math"/>
                      </a:rPr>
                      <m:t>)</m:t>
                    </m:r>
                  </m:oMath>
                </a14:m>
                <a:r>
                  <a:rPr lang="en-US" b="1" dirty="0">
                    <a:solidFill>
                      <a:schemeClr val="tx1"/>
                    </a:solidFill>
                    <a:latin typeface="Times New Roman" panose="02020603050405020304" pitchFamily="18" charset="0"/>
                    <a:ea typeface="Cambria Math"/>
                    <a:cs typeface="Times New Roman" panose="02020603050405020304" pitchFamily="18" charset="0"/>
                  </a:rPr>
                  <a:t> </a:t>
                </a:r>
                <a14:m>
                  <m:oMath xmlns:m="http://schemas.openxmlformats.org/officeDocument/2006/math">
                    <m:r>
                      <a:rPr lang="en-US" b="1" i="1" smtClean="0">
                        <a:solidFill>
                          <a:schemeClr val="tx1"/>
                        </a:solidFill>
                        <a:latin typeface="Cambria Math"/>
                        <a:ea typeface="Cambria Math"/>
                      </a:rPr>
                      <m:t>^</m:t>
                    </m:r>
                  </m:oMath>
                </a14:m>
                <a:r>
                  <a:rPr lang="en-US" b="1" dirty="0">
                    <a:solidFill>
                      <a:schemeClr val="tx1"/>
                    </a:solidFill>
                    <a:latin typeface="Times New Roman" panose="02020603050405020304" pitchFamily="18" charset="0"/>
                    <a:cs typeface="Times New Roman" panose="02020603050405020304" pitchFamily="18" charset="0"/>
                  </a:rPr>
                  <a:t>Served(</a:t>
                </a:r>
                <a:r>
                  <a:rPr lang="en-US" b="1" dirty="0" err="1">
                    <a:solidFill>
                      <a:schemeClr val="tx1"/>
                    </a:solidFill>
                    <a:latin typeface="Times New Roman" panose="02020603050405020304" pitchFamily="18" charset="0"/>
                    <a:cs typeface="Times New Roman" panose="02020603050405020304" pitchFamily="18" charset="0"/>
                  </a:rPr>
                  <a:t>e,x</a:t>
                </a:r>
                <a:r>
                  <a:rPr lang="en-US" b="1" dirty="0">
                    <a:solidFill>
                      <a:schemeClr val="tx1"/>
                    </a:solidFill>
                    <a:latin typeface="Times New Roman" panose="02020603050405020304" pitchFamily="18" charset="0"/>
                    <a:cs typeface="Times New Roman" panose="02020603050405020304" pitchFamily="18" charset="0"/>
                  </a:rPr>
                  <a:t>)}</a:t>
                </a:r>
                <a:endParaRPr lang="en-US" b="1" dirty="0">
                  <a:solidFill>
                    <a:schemeClr val="accent6">
                      <a:lumMod val="75000"/>
                    </a:schemeClr>
                  </a:solidFill>
                  <a:latin typeface="Times New Roman" panose="02020603050405020304" pitchFamily="18" charset="0"/>
                  <a:cs typeface="Times New Roman" panose="02020603050405020304" pitchFamily="18" charset="0"/>
                </a:endParaRPr>
              </a:p>
              <a:p>
                <a:pPr marL="0" indent="0">
                  <a:buNone/>
                </a:pPr>
                <a:r>
                  <a:rPr lang="en-US" sz="2400" dirty="0">
                    <a:solidFill>
                      <a:schemeClr val="tx1"/>
                    </a:solidFill>
                    <a:latin typeface="Times New Roman" panose="02020603050405020304" pitchFamily="18" charset="0"/>
                    <a:cs typeface="Times New Roman" panose="02020603050405020304" pitchFamily="18" charset="0"/>
                  </a:rPr>
                  <a:t>	becomes</a:t>
                </a:r>
              </a:p>
              <a:p>
                <a:pPr marL="0" indent="0">
                  <a:buNone/>
                </a:pPr>
                <a:r>
                  <a:rPr lang="en-US" sz="2400" dirty="0">
                    <a:solidFill>
                      <a:schemeClr val="tx1"/>
                    </a:solidFill>
                    <a:latin typeface="Times New Roman" panose="02020603050405020304" pitchFamily="18" charset="0"/>
                    <a:cs typeface="Times New Roman" panose="02020603050405020304" pitchFamily="18" charset="0"/>
                  </a:rPr>
                  <a:t>	</a:t>
                </a:r>
                <a:r>
                  <a:rPr lang="en-US" sz="2400" b="1"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r>
                      <a:rPr lang="el-GR" sz="2400" b="1" i="1">
                        <a:solidFill>
                          <a:schemeClr val="tx1"/>
                        </a:solidFill>
                        <a:latin typeface="Cambria Math" panose="02040503050406030204" pitchFamily="18" charset="0"/>
                        <a:cs typeface="Times New Roman" panose="02020603050405020304" pitchFamily="18" charset="0"/>
                      </a:rPr>
                      <m:t>𝛌</m:t>
                    </m:r>
                  </m:oMath>
                </a14:m>
                <a:r>
                  <a:rPr lang="en-US" sz="2400" b="1" dirty="0">
                    <a:solidFill>
                      <a:schemeClr val="tx1"/>
                    </a:solidFill>
                    <a:latin typeface="Times New Roman" panose="02020603050405020304" pitchFamily="18" charset="0"/>
                    <a:cs typeface="Times New Roman" panose="02020603050405020304" pitchFamily="18" charset="0"/>
                  </a:rPr>
                  <a:t>x E(</a:t>
                </a:r>
                <a:r>
                  <a:rPr lang="en-US" sz="2400" b="1" dirty="0" err="1">
                    <a:solidFill>
                      <a:schemeClr val="tx1"/>
                    </a:solidFill>
                    <a:latin typeface="Times New Roman" panose="02020603050405020304" pitchFamily="18" charset="0"/>
                    <a:cs typeface="Times New Roman" panose="02020603050405020304" pitchFamily="18" charset="0"/>
                  </a:rPr>
                  <a:t>e,y</a:t>
                </a:r>
                <a:r>
                  <a:rPr lang="en-US" sz="2400" b="1" dirty="0">
                    <a:solidFill>
                      <a:schemeClr val="tx1"/>
                    </a:solidFill>
                    <a:latin typeface="Times New Roman" panose="02020603050405020304" pitchFamily="18" charset="0"/>
                    <a:cs typeface="Times New Roman" panose="02020603050405020304" pitchFamily="18" charset="0"/>
                  </a:rPr>
                  <a:t>) Isa(</a:t>
                </a:r>
                <a:r>
                  <a:rPr lang="en-US" sz="2400" b="1" dirty="0" err="1">
                    <a:solidFill>
                      <a:schemeClr val="tx1"/>
                    </a:solidFill>
                    <a:latin typeface="Times New Roman" panose="02020603050405020304" pitchFamily="18" charset="0"/>
                    <a:cs typeface="Times New Roman" panose="02020603050405020304" pitchFamily="18" charset="0"/>
                  </a:rPr>
                  <a:t>e,Serving</a:t>
                </a:r>
                <a:r>
                  <a:rPr lang="en-US" sz="2400" b="1"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r>
                      <a:rPr lang="en-US" sz="2400" b="1">
                        <a:solidFill>
                          <a:schemeClr val="tx1"/>
                        </a:solidFill>
                        <a:latin typeface="Cambria Math" panose="02040503050406030204" pitchFamily="18" charset="0"/>
                        <a:cs typeface="Times New Roman" panose="02020603050405020304" pitchFamily="18" charset="0"/>
                      </a:rPr>
                      <m:t>^</m:t>
                    </m:r>
                    <m:r>
                      <a:rPr lang="en-US" sz="2400" b="1" i="1">
                        <a:solidFill>
                          <a:schemeClr val="tx1"/>
                        </a:solidFill>
                        <a:latin typeface="Cambria Math" panose="02040503050406030204" pitchFamily="18" charset="0"/>
                        <a:cs typeface="Times New Roman" panose="02020603050405020304" pitchFamily="18" charset="0"/>
                      </a:rPr>
                      <m:t>𝐒𝐞𝐫𝐯𝐞𝐫</m:t>
                    </m:r>
                    <m:r>
                      <a:rPr lang="en-US" sz="2400" b="1">
                        <a:solidFill>
                          <a:schemeClr val="tx1"/>
                        </a:solidFill>
                        <a:latin typeface="Cambria Math" panose="02040503050406030204" pitchFamily="18" charset="0"/>
                        <a:cs typeface="Times New Roman" panose="02020603050405020304" pitchFamily="18" charset="0"/>
                      </a:rPr>
                      <m:t>(</m:t>
                    </m:r>
                    <m:r>
                      <a:rPr lang="en-US" sz="2400" b="1" i="1">
                        <a:solidFill>
                          <a:schemeClr val="tx1"/>
                        </a:solidFill>
                        <a:latin typeface="Cambria Math" panose="02040503050406030204" pitchFamily="18" charset="0"/>
                        <a:cs typeface="Times New Roman" panose="02020603050405020304" pitchFamily="18" charset="0"/>
                      </a:rPr>
                      <m:t>𝐞</m:t>
                    </m:r>
                    <m:r>
                      <a:rPr lang="en-US" sz="2400" b="1">
                        <a:solidFill>
                          <a:schemeClr val="tx1"/>
                        </a:solidFill>
                        <a:latin typeface="Cambria Math" panose="02040503050406030204" pitchFamily="18" charset="0"/>
                        <a:cs typeface="Times New Roman" panose="02020603050405020304" pitchFamily="18" charset="0"/>
                      </a:rPr>
                      <m:t>,</m:t>
                    </m:r>
                    <m:r>
                      <a:rPr lang="en-US" sz="2400" b="1" i="1">
                        <a:solidFill>
                          <a:schemeClr val="tx1"/>
                        </a:solidFill>
                        <a:latin typeface="Cambria Math" panose="02040503050406030204" pitchFamily="18" charset="0"/>
                        <a:cs typeface="Times New Roman" panose="02020603050405020304" pitchFamily="18" charset="0"/>
                      </a:rPr>
                      <m:t>𝐲</m:t>
                    </m:r>
                    <m:r>
                      <a:rPr lang="en-US" sz="2400" b="1">
                        <a:solidFill>
                          <a:schemeClr val="tx1"/>
                        </a:solidFill>
                        <a:latin typeface="Cambria Math" panose="02040503050406030204" pitchFamily="18" charset="0"/>
                        <a:cs typeface="Times New Roman" panose="02020603050405020304" pitchFamily="18" charset="0"/>
                      </a:rPr>
                      <m:t>)</m:t>
                    </m:r>
                  </m:oMath>
                </a14:m>
                <a:r>
                  <a:rPr lang="en-US" sz="2400" b="1"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en-US" sz="2400" b="1">
                        <a:solidFill>
                          <a:schemeClr val="tx1"/>
                        </a:solidFill>
                        <a:latin typeface="Cambria Math" panose="02040503050406030204" pitchFamily="18" charset="0"/>
                        <a:cs typeface="Times New Roman" panose="02020603050405020304" pitchFamily="18" charset="0"/>
                      </a:rPr>
                      <m:t>^</m:t>
                    </m:r>
                  </m:oMath>
                </a14:m>
                <a:r>
                  <a:rPr lang="en-US" sz="2400" b="1" dirty="0">
                    <a:solidFill>
                      <a:schemeClr val="tx1"/>
                    </a:solidFill>
                    <a:latin typeface="Times New Roman" panose="02020603050405020304" pitchFamily="18" charset="0"/>
                    <a:cs typeface="Times New Roman" panose="02020603050405020304" pitchFamily="18" charset="0"/>
                  </a:rPr>
                  <a:t>Served(</a:t>
                </a:r>
                <a:r>
                  <a:rPr lang="en-US" sz="2400" b="1" dirty="0" err="1">
                    <a:solidFill>
                      <a:schemeClr val="tx1"/>
                    </a:solidFill>
                    <a:latin typeface="Times New Roman" panose="02020603050405020304" pitchFamily="18" charset="0"/>
                    <a:cs typeface="Times New Roman" panose="02020603050405020304" pitchFamily="18" charset="0"/>
                  </a:rPr>
                  <a:t>e,x</a:t>
                </a:r>
                <a:r>
                  <a:rPr lang="en-US" sz="2400" b="1" dirty="0">
                    <a:solidFill>
                      <a:schemeClr val="tx1"/>
                    </a:solidFill>
                    <a:latin typeface="Times New Roman" panose="02020603050405020304" pitchFamily="18" charset="0"/>
                    <a:cs typeface="Times New Roman" panose="02020603050405020304" pitchFamily="18" charset="0"/>
                  </a:rPr>
                  <a:t>)}</a:t>
                </a:r>
              </a:p>
              <a:p>
                <a:pPr marL="457200" lvl="1" indent="0">
                  <a:buNone/>
                </a:pPr>
                <a:r>
                  <a:rPr lang="en-US" dirty="0">
                    <a:solidFill>
                      <a:schemeClr val="tx1"/>
                    </a:solidFill>
                    <a:latin typeface="Times New Roman" panose="02020603050405020304" pitchFamily="18" charset="0"/>
                    <a:cs typeface="Times New Roman" panose="02020603050405020304" pitchFamily="18" charset="0"/>
                  </a:rPr>
                  <a:t>- Now ‘x’ is available to be bound when </a:t>
                </a:r>
                <a:r>
                  <a:rPr lang="en-US" dirty="0" err="1">
                    <a:solidFill>
                      <a:schemeClr val="tx1"/>
                    </a:solidFill>
                    <a:latin typeface="Times New Roman" panose="02020603050405020304" pitchFamily="18" charset="0"/>
                    <a:cs typeface="Times New Roman" panose="02020603050405020304" pitchFamily="18" charset="0"/>
                  </a:rPr>
                  <a:t>V.sem</a:t>
                </a:r>
                <a:r>
                  <a:rPr lang="en-US" dirty="0">
                    <a:solidFill>
                      <a:schemeClr val="tx1"/>
                    </a:solidFill>
                    <a:latin typeface="Times New Roman" panose="02020603050405020304" pitchFamily="18" charset="0"/>
                    <a:cs typeface="Times New Roman" panose="02020603050405020304" pitchFamily="18" charset="0"/>
                  </a:rPr>
                  <a:t> is applied to </a:t>
                </a:r>
                <a:r>
                  <a:rPr lang="en-US" dirty="0" err="1">
                    <a:solidFill>
                      <a:schemeClr val="tx1"/>
                    </a:solidFill>
                    <a:latin typeface="Times New Roman" panose="02020603050405020304" pitchFamily="18" charset="0"/>
                    <a:cs typeface="Times New Roman" panose="02020603050405020304" pitchFamily="18" charset="0"/>
                  </a:rPr>
                  <a:t>NP.sem</a:t>
                </a:r>
                <a:endParaRPr lang="en-US" dirty="0">
                  <a:solidFill>
                    <a:schemeClr val="tx1"/>
                  </a:solidFill>
                  <a:latin typeface="Times New Roman" panose="02020603050405020304" pitchFamily="18" charset="0"/>
                  <a:cs typeface="Times New Roman" panose="02020603050405020304" pitchFamily="18" charset="0"/>
                </a:endParaRPr>
              </a:p>
              <a:p>
                <a:pPr marL="0" indent="0">
                  <a:buNone/>
                </a:pPr>
                <a:endParaRPr lang="x-none" dirty="0"/>
              </a:p>
            </p:txBody>
          </p:sp>
        </mc:Choice>
        <mc:Fallback xmlns="">
          <p:sp>
            <p:nvSpPr>
              <p:cNvPr id="3" name="Content Placeholder 2">
                <a:extLst>
                  <a:ext uri="{FF2B5EF4-FFF2-40B4-BE49-F238E27FC236}">
                    <a16:creationId xmlns:a16="http://schemas.microsoft.com/office/drawing/2014/main" id="{5C7B6B80-4387-4C12-A1D2-087EC9218B0F}"/>
                  </a:ext>
                </a:extLst>
              </p:cNvPr>
              <p:cNvSpPr>
                <a:spLocks noGrp="1" noRot="1" noChangeAspect="1" noMove="1" noResize="1" noEditPoints="1" noAdjustHandles="1" noChangeArrowheads="1" noChangeShapeType="1" noTextEdit="1"/>
              </p:cNvSpPr>
              <p:nvPr>
                <p:ph idx="1"/>
              </p:nvPr>
            </p:nvSpPr>
            <p:spPr>
              <a:blipFill>
                <a:blip r:embed="rId2"/>
                <a:stretch>
                  <a:fillRect l="-812" t="-1961"/>
                </a:stretch>
              </a:blipFill>
            </p:spPr>
            <p:txBody>
              <a:bodyPr/>
              <a:lstStyle/>
              <a:p>
                <a:r>
                  <a:rPr lang="en-PK">
                    <a:noFill/>
                  </a:rPr>
                  <a:t> </a:t>
                </a:r>
              </a:p>
            </p:txBody>
          </p:sp>
        </mc:Fallback>
      </mc:AlternateContent>
      <p:pic>
        <p:nvPicPr>
          <p:cNvPr id="4" name="Picture 4" descr="DSpace at Air University Islamabad: Home">
            <a:extLst>
              <a:ext uri="{FF2B5EF4-FFF2-40B4-BE49-F238E27FC236}">
                <a16:creationId xmlns="" xmlns:a16="http://schemas.microsoft.com/office/drawing/2014/main" id="{91C5C99C-D87B-421F-B6E3-9CFBE26236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25563" cy="1325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72214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FAEBB42-515C-49FD-B0E7-6227E2D300BF}"/>
              </a:ext>
            </a:extLst>
          </p:cNvPr>
          <p:cNvSpPr>
            <a:spLocks noGrp="1"/>
          </p:cNvSpPr>
          <p:nvPr>
            <p:ph type="title"/>
          </p:nvPr>
        </p:nvSpPr>
        <p:spPr>
          <a:xfrm>
            <a:off x="838200" y="66260"/>
            <a:ext cx="10515600" cy="1325563"/>
          </a:xfrm>
        </p:spPr>
        <p:txBody>
          <a:bodyPr/>
          <a:lstStyle/>
          <a:p>
            <a:pPr algn="ctr"/>
            <a:r>
              <a:rPr lang="en-US" b="1" dirty="0" err="1">
                <a:latin typeface="Algerian" panose="04020705040A02060702" pitchFamily="82" charset="0"/>
              </a:rPr>
              <a:t>Cont</a:t>
            </a:r>
            <a:r>
              <a:rPr lang="en-US" b="1" dirty="0">
                <a:latin typeface="Algerian" panose="04020705040A02060702" pitchFamily="82" charset="0"/>
              </a:rPr>
              <a:t>…</a:t>
            </a:r>
            <a:endParaRPr lang="x-none" b="1" dirty="0">
              <a:latin typeface="Algerian" panose="04020705040A02060702" pitchFamily="82"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 xmlns:a16="http://schemas.microsoft.com/office/drawing/2014/main" id="{96A4B82C-DACB-447D-B309-8ACE2A79508A}"/>
                  </a:ext>
                </a:extLst>
              </p:cNvPr>
              <p:cNvSpPr>
                <a:spLocks noGrp="1"/>
              </p:cNvSpPr>
              <p:nvPr>
                <p:ph idx="1"/>
              </p:nvPr>
            </p:nvSpPr>
            <p:spPr>
              <a:xfrm>
                <a:off x="848139" y="1391823"/>
                <a:ext cx="10515600" cy="4667250"/>
              </a:xfrm>
            </p:spPr>
            <p:txBody>
              <a:bodyPr>
                <a:normAutofit fontScale="77500" lnSpcReduction="20000"/>
              </a:bodyPr>
              <a:lstStyle/>
              <a:p>
                <a:pPr marL="457200" lvl="1" indent="0">
                  <a:spcBef>
                    <a:spcPts val="1000"/>
                  </a:spcBef>
                  <a:buNone/>
                </a:pPr>
                <a:r>
                  <a:rPr lang="en-US" sz="30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m:rPr>
                        <m:sty m:val="p"/>
                      </m:rPr>
                      <a:rPr lang="el-GR" sz="3000" i="1" smtClean="0">
                        <a:solidFill>
                          <a:schemeClr val="tx1"/>
                        </a:solidFill>
                        <a:latin typeface="Cambria Math"/>
                      </a:rPr>
                      <m:t>λ</m:t>
                    </m:r>
                  </m:oMath>
                </a14:m>
                <a:r>
                  <a:rPr lang="en-US" sz="3000" dirty="0">
                    <a:solidFill>
                      <a:schemeClr val="tx1"/>
                    </a:solidFill>
                    <a:latin typeface="Times New Roman" panose="02020603050405020304" pitchFamily="18" charset="0"/>
                    <a:cs typeface="Times New Roman" panose="02020603050405020304" pitchFamily="18" charset="0"/>
                  </a:rPr>
                  <a:t>-application binds x to value of </a:t>
                </a:r>
                <a:r>
                  <a:rPr lang="en-US" sz="3000" dirty="0" err="1">
                    <a:solidFill>
                      <a:schemeClr val="tx1"/>
                    </a:solidFill>
                    <a:latin typeface="Times New Roman" panose="02020603050405020304" pitchFamily="18" charset="0"/>
                    <a:cs typeface="Times New Roman" panose="02020603050405020304" pitchFamily="18" charset="0"/>
                  </a:rPr>
                  <a:t>NP.sem</a:t>
                </a:r>
                <a:r>
                  <a:rPr lang="en-US" sz="3000" dirty="0">
                    <a:solidFill>
                      <a:schemeClr val="tx1"/>
                    </a:solidFill>
                    <a:latin typeface="Times New Roman" panose="02020603050405020304" pitchFamily="18" charset="0"/>
                    <a:cs typeface="Times New Roman" panose="02020603050405020304" pitchFamily="18" charset="0"/>
                  </a:rPr>
                  <a:t>(Meat)</a:t>
                </a:r>
              </a:p>
              <a:p>
                <a:pPr marL="457200" lvl="1" indent="0">
                  <a:spcBef>
                    <a:spcPts val="1000"/>
                  </a:spcBef>
                  <a:buNone/>
                </a:pPr>
                <a:r>
                  <a:rPr lang="en-US" sz="30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m:rPr>
                        <m:sty m:val="p"/>
                      </m:rPr>
                      <a:rPr lang="el-GR" sz="3000" i="1" smtClean="0">
                        <a:solidFill>
                          <a:schemeClr val="tx1"/>
                        </a:solidFill>
                        <a:latin typeface="Cambria Math"/>
                      </a:rPr>
                      <m:t>λ</m:t>
                    </m:r>
                  </m:oMath>
                </a14:m>
                <a:r>
                  <a:rPr lang="en-US" sz="3000" dirty="0">
                    <a:solidFill>
                      <a:schemeClr val="tx1"/>
                    </a:solidFill>
                    <a:latin typeface="Times New Roman" panose="02020603050405020304" pitchFamily="18" charset="0"/>
                    <a:cs typeface="Times New Roman" panose="02020603050405020304" pitchFamily="18" charset="0"/>
                  </a:rPr>
                  <a:t>-reduction replaces x within </a:t>
                </a:r>
                <a14:m>
                  <m:oMath xmlns:m="http://schemas.openxmlformats.org/officeDocument/2006/math">
                    <m:r>
                      <m:rPr>
                        <m:sty m:val="p"/>
                      </m:rPr>
                      <a:rPr lang="el-GR" sz="3000" i="1" smtClean="0">
                        <a:solidFill>
                          <a:schemeClr val="tx1"/>
                        </a:solidFill>
                        <a:latin typeface="Cambria Math"/>
                      </a:rPr>
                      <m:t>λ</m:t>
                    </m:r>
                  </m:oMath>
                </a14:m>
                <a:r>
                  <a:rPr lang="en-US" sz="3000" dirty="0">
                    <a:solidFill>
                      <a:schemeClr val="tx1"/>
                    </a:solidFill>
                    <a:latin typeface="Times New Roman" panose="02020603050405020304" pitchFamily="18" charset="0"/>
                    <a:cs typeface="Times New Roman" panose="02020603050405020304" pitchFamily="18" charset="0"/>
                  </a:rPr>
                  <a:t>-expression to Meat</a:t>
                </a:r>
              </a:p>
              <a:p>
                <a:pPr marL="457200" lvl="1" indent="0">
                  <a:spcBef>
                    <a:spcPts val="1000"/>
                  </a:spcBef>
                  <a:buNone/>
                </a:pPr>
                <a:r>
                  <a:rPr lang="en-US" sz="3000" dirty="0">
                    <a:solidFill>
                      <a:schemeClr val="tx1"/>
                    </a:solidFill>
                    <a:latin typeface="Times New Roman" panose="02020603050405020304" pitchFamily="18" charset="0"/>
                    <a:cs typeface="Times New Roman" panose="02020603050405020304" pitchFamily="18" charset="0"/>
                  </a:rPr>
                  <a:t>- Value of </a:t>
                </a:r>
                <a:r>
                  <a:rPr lang="en-US" sz="3000" dirty="0" err="1">
                    <a:solidFill>
                      <a:schemeClr val="tx1"/>
                    </a:solidFill>
                    <a:latin typeface="Times New Roman" panose="02020603050405020304" pitchFamily="18" charset="0"/>
                    <a:cs typeface="Times New Roman" panose="02020603050405020304" pitchFamily="18" charset="0"/>
                  </a:rPr>
                  <a:t>VP.Sem</a:t>
                </a:r>
                <a:r>
                  <a:rPr lang="en-US" sz="3000" dirty="0">
                    <a:solidFill>
                      <a:schemeClr val="tx1"/>
                    </a:solidFill>
                    <a:latin typeface="Times New Roman" panose="02020603050405020304" pitchFamily="18" charset="0"/>
                    <a:cs typeface="Times New Roman" panose="02020603050405020304" pitchFamily="18" charset="0"/>
                  </a:rPr>
                  <a:t> becomes:</a:t>
                </a:r>
              </a:p>
              <a:p>
                <a:pPr marL="457200" lvl="1" indent="0" algn="ctr">
                  <a:spcBef>
                    <a:spcPts val="1000"/>
                  </a:spcBef>
                  <a:buNone/>
                </a:pPr>
                <a:r>
                  <a:rPr lang="en-US" sz="3000" b="1" dirty="0">
                    <a:solidFill>
                      <a:schemeClr val="tx1"/>
                    </a:solidFill>
                    <a:latin typeface="Times New Roman" panose="02020603050405020304" pitchFamily="18" charset="0"/>
                    <a:cs typeface="Times New Roman" panose="02020603050405020304" pitchFamily="18" charset="0"/>
                  </a:rPr>
                  <a:t>{E(</a:t>
                </a:r>
                <a:r>
                  <a:rPr lang="en-US" sz="3000" b="1" dirty="0" err="1">
                    <a:solidFill>
                      <a:schemeClr val="tx1"/>
                    </a:solidFill>
                    <a:latin typeface="Times New Roman" panose="02020603050405020304" pitchFamily="18" charset="0"/>
                    <a:cs typeface="Times New Roman" panose="02020603050405020304" pitchFamily="18" charset="0"/>
                  </a:rPr>
                  <a:t>e,y</a:t>
                </a:r>
                <a:r>
                  <a:rPr lang="en-US" sz="3000" b="1" dirty="0">
                    <a:solidFill>
                      <a:schemeClr val="tx1"/>
                    </a:solidFill>
                    <a:latin typeface="Times New Roman" panose="02020603050405020304" pitchFamily="18" charset="0"/>
                    <a:cs typeface="Times New Roman" panose="02020603050405020304" pitchFamily="18" charset="0"/>
                  </a:rPr>
                  <a:t>) Isa(</a:t>
                </a:r>
                <a:r>
                  <a:rPr lang="en-US" sz="3000" b="1" dirty="0" err="1">
                    <a:solidFill>
                      <a:schemeClr val="tx1"/>
                    </a:solidFill>
                    <a:latin typeface="Times New Roman" panose="02020603050405020304" pitchFamily="18" charset="0"/>
                    <a:cs typeface="Times New Roman" panose="02020603050405020304" pitchFamily="18" charset="0"/>
                  </a:rPr>
                  <a:t>e,Serving</a:t>
                </a:r>
                <a:r>
                  <a:rPr lang="en-US" sz="3000" b="1"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r>
                      <a:rPr lang="en-US" sz="3000" b="1">
                        <a:solidFill>
                          <a:schemeClr val="tx1"/>
                        </a:solidFill>
                        <a:latin typeface="Cambria Math"/>
                        <a:cs typeface="Times New Roman" panose="02020603050405020304" pitchFamily="18" charset="0"/>
                      </a:rPr>
                      <m:t>^</m:t>
                    </m:r>
                    <m:r>
                      <a:rPr lang="en-US" sz="3000" b="1" i="1">
                        <a:solidFill>
                          <a:schemeClr val="tx1"/>
                        </a:solidFill>
                        <a:latin typeface="Cambria Math"/>
                        <a:cs typeface="Times New Roman" panose="02020603050405020304" pitchFamily="18" charset="0"/>
                      </a:rPr>
                      <m:t>𝐒𝐞𝐫𝐯𝐞𝐫</m:t>
                    </m:r>
                    <m:r>
                      <a:rPr lang="en-US" sz="3000" b="1">
                        <a:solidFill>
                          <a:schemeClr val="tx1"/>
                        </a:solidFill>
                        <a:latin typeface="Cambria Math"/>
                        <a:cs typeface="Times New Roman" panose="02020603050405020304" pitchFamily="18" charset="0"/>
                      </a:rPr>
                      <m:t>(</m:t>
                    </m:r>
                    <m:r>
                      <a:rPr lang="en-US" sz="3000" b="1" i="1">
                        <a:solidFill>
                          <a:schemeClr val="tx1"/>
                        </a:solidFill>
                        <a:latin typeface="Cambria Math"/>
                        <a:cs typeface="Times New Roman" panose="02020603050405020304" pitchFamily="18" charset="0"/>
                      </a:rPr>
                      <m:t>𝐞</m:t>
                    </m:r>
                    <m:r>
                      <a:rPr lang="en-US" sz="3000" b="1">
                        <a:solidFill>
                          <a:schemeClr val="tx1"/>
                        </a:solidFill>
                        <a:latin typeface="Cambria Math"/>
                        <a:cs typeface="Times New Roman" panose="02020603050405020304" pitchFamily="18" charset="0"/>
                      </a:rPr>
                      <m:t>,</m:t>
                    </m:r>
                    <m:r>
                      <a:rPr lang="en-US" sz="3000" b="1" i="1">
                        <a:solidFill>
                          <a:schemeClr val="tx1"/>
                        </a:solidFill>
                        <a:latin typeface="Cambria Math"/>
                        <a:cs typeface="Times New Roman" panose="02020603050405020304" pitchFamily="18" charset="0"/>
                      </a:rPr>
                      <m:t>𝐲</m:t>
                    </m:r>
                    <m:r>
                      <a:rPr lang="en-US" sz="3000" b="1">
                        <a:solidFill>
                          <a:schemeClr val="tx1"/>
                        </a:solidFill>
                        <a:latin typeface="Cambria Math"/>
                        <a:cs typeface="Times New Roman" panose="02020603050405020304" pitchFamily="18" charset="0"/>
                      </a:rPr>
                      <m:t>)</m:t>
                    </m:r>
                  </m:oMath>
                </a14:m>
                <a:r>
                  <a:rPr lang="en-US" sz="3000" b="1"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en-US" sz="3000" b="1">
                        <a:solidFill>
                          <a:schemeClr val="tx1"/>
                        </a:solidFill>
                        <a:latin typeface="Cambria Math"/>
                        <a:cs typeface="Times New Roman" panose="02020603050405020304" pitchFamily="18" charset="0"/>
                      </a:rPr>
                      <m:t>^</m:t>
                    </m:r>
                  </m:oMath>
                </a14:m>
                <a:r>
                  <a:rPr lang="en-US" sz="3000" b="1" dirty="0">
                    <a:solidFill>
                      <a:schemeClr val="tx1"/>
                    </a:solidFill>
                    <a:latin typeface="Times New Roman" panose="02020603050405020304" pitchFamily="18" charset="0"/>
                    <a:cs typeface="Times New Roman" panose="02020603050405020304" pitchFamily="18" charset="0"/>
                  </a:rPr>
                  <a:t>Served(</a:t>
                </a:r>
                <a:r>
                  <a:rPr lang="en-US" sz="3000" b="1" dirty="0" err="1">
                    <a:solidFill>
                      <a:schemeClr val="tx1"/>
                    </a:solidFill>
                    <a:latin typeface="Times New Roman" panose="02020603050405020304" pitchFamily="18" charset="0"/>
                    <a:cs typeface="Times New Roman" panose="02020603050405020304" pitchFamily="18" charset="0"/>
                  </a:rPr>
                  <a:t>e,Meat</a:t>
                </a:r>
                <a:r>
                  <a:rPr lang="en-US" sz="3000" b="1" dirty="0">
                    <a:solidFill>
                      <a:schemeClr val="tx1"/>
                    </a:solidFill>
                    <a:latin typeface="Times New Roman" panose="02020603050405020304" pitchFamily="18" charset="0"/>
                    <a:cs typeface="Times New Roman" panose="02020603050405020304" pitchFamily="18" charset="0"/>
                  </a:rPr>
                  <a:t>)}</a:t>
                </a:r>
              </a:p>
              <a:p>
                <a:pPr marL="457200" lvl="1" indent="0">
                  <a:spcBef>
                    <a:spcPts val="1000"/>
                  </a:spcBef>
                  <a:buNone/>
                </a:pPr>
                <a:r>
                  <a:rPr lang="en-US" sz="3000" dirty="0">
                    <a:solidFill>
                      <a:schemeClr val="tx1"/>
                    </a:solidFill>
                    <a:latin typeface="Times New Roman" panose="02020603050405020304" pitchFamily="18" charset="0"/>
                    <a:cs typeface="Times New Roman" panose="02020603050405020304" pitchFamily="18" charset="0"/>
                  </a:rPr>
                  <a:t>Similarly we need a semantic attachment for S</a:t>
                </a:r>
                <a:r>
                  <a:rPr lang="en-US" sz="3000" dirty="0">
                    <a:solidFill>
                      <a:schemeClr val="tx1"/>
                    </a:solidFill>
                    <a:latin typeface="Times New Roman" panose="02020603050405020304" pitchFamily="18" charset="0"/>
                    <a:ea typeface="Cambria Math"/>
                    <a:cs typeface="Times New Roman" panose="02020603050405020304" pitchFamily="18" charset="0"/>
                  </a:rPr>
                  <a:t> </a:t>
                </a:r>
                <a14:m>
                  <m:oMath xmlns:m="http://schemas.openxmlformats.org/officeDocument/2006/math">
                    <m:r>
                      <a:rPr lang="en-US" sz="3000" i="1" smtClean="0">
                        <a:solidFill>
                          <a:schemeClr val="tx1"/>
                        </a:solidFill>
                        <a:latin typeface="Cambria Math"/>
                        <a:ea typeface="Cambria Math"/>
                      </a:rPr>
                      <m:t>→</m:t>
                    </m:r>
                  </m:oMath>
                </a14:m>
                <a:r>
                  <a:rPr lang="en-US" sz="3000" dirty="0">
                    <a:solidFill>
                      <a:schemeClr val="tx1"/>
                    </a:solidFill>
                    <a:latin typeface="Times New Roman" panose="02020603050405020304" pitchFamily="18" charset="0"/>
                    <a:cs typeface="Times New Roman" panose="02020603050405020304" pitchFamily="18" charset="0"/>
                  </a:rPr>
                  <a:t>NP VP</a:t>
                </a:r>
              </a:p>
              <a:p>
                <a:pPr marL="457200" lvl="1" indent="0">
                  <a:spcBef>
                    <a:spcPts val="1000"/>
                  </a:spcBef>
                  <a:buNone/>
                </a:pPr>
                <a:r>
                  <a:rPr lang="en-US" sz="3000" dirty="0">
                    <a:solidFill>
                      <a:schemeClr val="tx1"/>
                    </a:solidFill>
                    <a:latin typeface="Times New Roman" panose="02020603050405020304" pitchFamily="18" charset="0"/>
                    <a:cs typeface="Times New Roman" panose="02020603050405020304" pitchFamily="18" charset="0"/>
                  </a:rPr>
                  <a:t> {</a:t>
                </a:r>
                <a:r>
                  <a:rPr lang="en-US" sz="3000" dirty="0" err="1">
                    <a:solidFill>
                      <a:schemeClr val="tx1"/>
                    </a:solidFill>
                    <a:latin typeface="Times New Roman" panose="02020603050405020304" pitchFamily="18" charset="0"/>
                    <a:cs typeface="Times New Roman" panose="02020603050405020304" pitchFamily="18" charset="0"/>
                  </a:rPr>
                  <a:t>VP.sem</a:t>
                </a:r>
                <a:r>
                  <a:rPr lang="en-US" sz="3000" dirty="0">
                    <a:solidFill>
                      <a:schemeClr val="tx1"/>
                    </a:solidFill>
                    <a:latin typeface="Times New Roman" panose="02020603050405020304" pitchFamily="18" charset="0"/>
                    <a:cs typeface="Times New Roman" panose="02020603050405020304" pitchFamily="18" charset="0"/>
                  </a:rPr>
                  <a:t>(</a:t>
                </a:r>
                <a:r>
                  <a:rPr lang="en-US" sz="3000" dirty="0" err="1">
                    <a:solidFill>
                      <a:schemeClr val="tx1"/>
                    </a:solidFill>
                    <a:latin typeface="Times New Roman" panose="02020603050405020304" pitchFamily="18" charset="0"/>
                    <a:cs typeface="Times New Roman" panose="02020603050405020304" pitchFamily="18" charset="0"/>
                  </a:rPr>
                  <a:t>NP.sem</a:t>
                </a:r>
                <a:r>
                  <a:rPr lang="en-US" sz="3000" dirty="0">
                    <a:solidFill>
                      <a:schemeClr val="tx1"/>
                    </a:solidFill>
                    <a:latin typeface="Times New Roman" panose="02020603050405020304" pitchFamily="18" charset="0"/>
                    <a:cs typeface="Times New Roman" panose="02020603050405020304" pitchFamily="18" charset="0"/>
                  </a:rPr>
                  <a:t>)} to add the subject NP to our semantic representation of</a:t>
                </a:r>
              </a:p>
              <a:p>
                <a:pPr marL="457200" lvl="1" indent="0">
                  <a:spcBef>
                    <a:spcPts val="1000"/>
                  </a:spcBef>
                  <a:buNone/>
                </a:pPr>
                <a:r>
                  <a:rPr lang="en-US" sz="3000" dirty="0">
                    <a:solidFill>
                      <a:schemeClr val="tx1"/>
                    </a:solidFill>
                    <a:latin typeface="Times New Roman" panose="02020603050405020304" pitchFamily="18" charset="0"/>
                    <a:cs typeface="Times New Roman" panose="02020603050405020304" pitchFamily="18" charset="0"/>
                  </a:rPr>
                  <a:t> </a:t>
                </a:r>
                <a:r>
                  <a:rPr lang="en-US" sz="3000" b="1" dirty="0">
                    <a:solidFill>
                      <a:schemeClr val="tx1"/>
                    </a:solidFill>
                    <a:latin typeface="Times New Roman" panose="02020603050405020304" pitchFamily="18" charset="0"/>
                    <a:cs typeface="Times New Roman" panose="02020603050405020304" pitchFamily="18" charset="0"/>
                  </a:rPr>
                  <a:t>AyCaramba serves meat</a:t>
                </a:r>
              </a:p>
              <a:p>
                <a:pPr marL="457200" lvl="1" indent="0" algn="just">
                  <a:spcBef>
                    <a:spcPts val="1000"/>
                  </a:spcBef>
                  <a:buNone/>
                </a:pPr>
                <a:r>
                  <a:rPr lang="en-US" sz="3000" dirty="0">
                    <a:latin typeface="Times New Roman" panose="02020603050405020304" pitchFamily="18" charset="0"/>
                    <a:cs typeface="Times New Roman" panose="02020603050405020304" pitchFamily="18" charset="0"/>
                  </a:rPr>
                  <a:t>-</a:t>
                </a:r>
                <a:r>
                  <a:rPr lang="en-US" sz="3000" dirty="0">
                    <a:solidFill>
                      <a:schemeClr val="tx1"/>
                    </a:solidFill>
                    <a:latin typeface="Times New Roman" panose="02020603050405020304" pitchFamily="18" charset="0"/>
                    <a:cs typeface="Times New Roman" panose="02020603050405020304" pitchFamily="18" charset="0"/>
                  </a:rPr>
                  <a:t>   We need another </a:t>
                </a:r>
                <a14:m>
                  <m:oMath xmlns:m="http://schemas.openxmlformats.org/officeDocument/2006/math">
                    <m:r>
                      <m:rPr>
                        <m:sty m:val="p"/>
                      </m:rPr>
                      <a:rPr lang="el-GR" sz="3000" i="1" smtClean="0">
                        <a:solidFill>
                          <a:schemeClr val="tx1"/>
                        </a:solidFill>
                        <a:latin typeface="Cambria Math"/>
                      </a:rPr>
                      <m:t>λ</m:t>
                    </m:r>
                  </m:oMath>
                </a14:m>
                <a:r>
                  <a:rPr lang="en-US" sz="3000" dirty="0">
                    <a:solidFill>
                      <a:schemeClr val="tx1"/>
                    </a:solidFill>
                    <a:latin typeface="Times New Roman" panose="02020603050405020304" pitchFamily="18" charset="0"/>
                    <a:cs typeface="Times New Roman" panose="02020603050405020304" pitchFamily="18" charset="0"/>
                  </a:rPr>
                  <a:t>-expression in the value of </a:t>
                </a:r>
                <a:r>
                  <a:rPr lang="en-US" sz="3000" dirty="0" err="1">
                    <a:solidFill>
                      <a:schemeClr val="tx1"/>
                    </a:solidFill>
                    <a:latin typeface="Times New Roman" panose="02020603050405020304" pitchFamily="18" charset="0"/>
                    <a:cs typeface="Times New Roman" panose="02020603050405020304" pitchFamily="18" charset="0"/>
                  </a:rPr>
                  <a:t>VP.sem</a:t>
                </a:r>
                <a:endParaRPr lang="en-US" sz="3000" dirty="0">
                  <a:solidFill>
                    <a:schemeClr val="tx1"/>
                  </a:solidFill>
                  <a:latin typeface="Times New Roman" panose="02020603050405020304" pitchFamily="18" charset="0"/>
                  <a:cs typeface="Times New Roman" panose="02020603050405020304" pitchFamily="18" charset="0"/>
                </a:endParaRPr>
              </a:p>
              <a:p>
                <a:pPr marL="457200" lvl="1" indent="0" algn="just">
                  <a:spcBef>
                    <a:spcPts val="1000"/>
                  </a:spcBef>
                  <a:buNone/>
                </a:pPr>
                <a:r>
                  <a:rPr lang="en-US" sz="3000" dirty="0">
                    <a:solidFill>
                      <a:schemeClr val="tx1"/>
                    </a:solidFill>
                    <a:latin typeface="Times New Roman" panose="02020603050405020304" pitchFamily="18" charset="0"/>
                    <a:cs typeface="Times New Roman" panose="02020603050405020304" pitchFamily="18" charset="0"/>
                  </a:rPr>
                  <a:t>-  But currently </a:t>
                </a:r>
                <a:r>
                  <a:rPr lang="en-US" sz="3000" dirty="0" err="1">
                    <a:solidFill>
                      <a:schemeClr val="tx1"/>
                    </a:solidFill>
                    <a:latin typeface="Times New Roman" panose="02020603050405020304" pitchFamily="18" charset="0"/>
                    <a:cs typeface="Times New Roman" panose="02020603050405020304" pitchFamily="18" charset="0"/>
                  </a:rPr>
                  <a:t>V.sem</a:t>
                </a:r>
                <a:r>
                  <a:rPr lang="en-US" sz="3000" dirty="0">
                    <a:solidFill>
                      <a:schemeClr val="tx1"/>
                    </a:solidFill>
                    <a:latin typeface="Times New Roman" panose="02020603050405020304" pitchFamily="18" charset="0"/>
                    <a:cs typeface="Times New Roman" panose="02020603050405020304" pitchFamily="18" charset="0"/>
                  </a:rPr>
                  <a:t> does not give us one-     So, we change </a:t>
                </a:r>
                <a:r>
                  <a:rPr lang="en-US" sz="3000" dirty="0" err="1">
                    <a:solidFill>
                      <a:schemeClr val="tx1"/>
                    </a:solidFill>
                    <a:latin typeface="Times New Roman" panose="02020603050405020304" pitchFamily="18" charset="0"/>
                    <a:cs typeface="Times New Roman" panose="02020603050405020304" pitchFamily="18" charset="0"/>
                  </a:rPr>
                  <a:t>V.sem</a:t>
                </a:r>
                <a:r>
                  <a:rPr lang="en-US" sz="3000" dirty="0">
                    <a:solidFill>
                      <a:schemeClr val="tx1"/>
                    </a:solidFill>
                    <a:latin typeface="Times New Roman" panose="02020603050405020304" pitchFamily="18" charset="0"/>
                    <a:cs typeface="Times New Roman" panose="02020603050405020304" pitchFamily="18" charset="0"/>
                  </a:rPr>
                  <a:t> to include another </a:t>
                </a:r>
                <a14:m>
                  <m:oMath xmlns:m="http://schemas.openxmlformats.org/officeDocument/2006/math">
                    <m:r>
                      <m:rPr>
                        <m:sty m:val="p"/>
                      </m:rPr>
                      <a:rPr lang="el-GR" sz="3000" i="1" smtClean="0">
                        <a:solidFill>
                          <a:schemeClr val="tx1"/>
                        </a:solidFill>
                        <a:latin typeface="Cambria Math"/>
                      </a:rPr>
                      <m:t>λ</m:t>
                    </m:r>
                  </m:oMath>
                </a14:m>
                <a:r>
                  <a:rPr lang="en-US" sz="3000" dirty="0">
                    <a:solidFill>
                      <a:schemeClr val="tx1"/>
                    </a:solidFill>
                    <a:latin typeface="Times New Roman" panose="02020603050405020304" pitchFamily="18" charset="0"/>
                    <a:cs typeface="Times New Roman" panose="02020603050405020304" pitchFamily="18" charset="0"/>
                  </a:rPr>
                  <a:t>-expression </a:t>
                </a:r>
              </a:p>
              <a:p>
                <a:pPr marL="457200" lvl="1" indent="0">
                  <a:spcBef>
                    <a:spcPts val="1000"/>
                  </a:spcBef>
                  <a:buNone/>
                </a:pPr>
                <a:r>
                  <a:rPr lang="en-US" sz="3000" dirty="0">
                    <a:solidFill>
                      <a:schemeClr val="tx1"/>
                    </a:solidFill>
                    <a:latin typeface="Times New Roman" panose="02020603050405020304" pitchFamily="18" charset="0"/>
                    <a:cs typeface="Times New Roman" panose="02020603050405020304" pitchFamily="18" charset="0"/>
                  </a:rPr>
                  <a:t>-   V </a:t>
                </a:r>
                <a14:m>
                  <m:oMath xmlns:m="http://schemas.openxmlformats.org/officeDocument/2006/math">
                    <m:r>
                      <a:rPr lang="en-US" sz="3000">
                        <a:solidFill>
                          <a:schemeClr val="tx1"/>
                        </a:solidFill>
                        <a:latin typeface="Cambria Math" panose="02040503050406030204" pitchFamily="18" charset="0"/>
                        <a:cs typeface="Times New Roman" panose="02020603050405020304" pitchFamily="18" charset="0"/>
                      </a:rPr>
                      <m:t>→</m:t>
                    </m:r>
                  </m:oMath>
                </a14:m>
                <a:r>
                  <a:rPr lang="en-US" sz="3000" dirty="0">
                    <a:solidFill>
                      <a:schemeClr val="tx1"/>
                    </a:solidFill>
                    <a:latin typeface="Times New Roman" panose="02020603050405020304" pitchFamily="18" charset="0"/>
                    <a:cs typeface="Times New Roman" panose="02020603050405020304" pitchFamily="18" charset="0"/>
                  </a:rPr>
                  <a:t>serves</a:t>
                </a:r>
              </a:p>
              <a:p>
                <a:pPr marL="457200" lvl="1" indent="0">
                  <a:spcBef>
                    <a:spcPts val="1000"/>
                  </a:spcBef>
                  <a:buNone/>
                </a:pPr>
                <a:r>
                  <a:rPr lang="en-US" sz="3000" dirty="0">
                    <a:solidFill>
                      <a:schemeClr val="tx1"/>
                    </a:solidFill>
                    <a:latin typeface="Times New Roman" panose="02020603050405020304" pitchFamily="18" charset="0"/>
                    <a:cs typeface="Times New Roman" panose="02020603050405020304" pitchFamily="18" charset="0"/>
                  </a:rPr>
                  <a:t>         </a:t>
                </a:r>
                <a:r>
                  <a:rPr lang="en-US" sz="3600"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r>
                      <a:rPr lang="el-GR" sz="3600" b="1" i="1">
                        <a:solidFill>
                          <a:schemeClr val="tx1"/>
                        </a:solidFill>
                        <a:latin typeface="Cambria Math" panose="02040503050406030204" pitchFamily="18" charset="0"/>
                        <a:cs typeface="Times New Roman" panose="02020603050405020304" pitchFamily="18" charset="0"/>
                      </a:rPr>
                      <m:t>𝛌</m:t>
                    </m:r>
                  </m:oMath>
                </a14:m>
                <a:r>
                  <a:rPr lang="en-US" sz="3600" b="1" dirty="0">
                    <a:solidFill>
                      <a:schemeClr val="tx1"/>
                    </a:solidFill>
                    <a:latin typeface="Times New Roman" panose="02020603050405020304" pitchFamily="18" charset="0"/>
                    <a:cs typeface="Times New Roman" panose="02020603050405020304" pitchFamily="18" charset="0"/>
                  </a:rPr>
                  <a:t>x </a:t>
                </a:r>
                <a14:m>
                  <m:oMath xmlns:m="http://schemas.openxmlformats.org/officeDocument/2006/math">
                    <m:r>
                      <a:rPr lang="el-GR" sz="3600" b="1" i="1">
                        <a:solidFill>
                          <a:schemeClr val="tx1"/>
                        </a:solidFill>
                        <a:latin typeface="Cambria Math" panose="02040503050406030204" pitchFamily="18" charset="0"/>
                        <a:cs typeface="Times New Roman" panose="02020603050405020304" pitchFamily="18" charset="0"/>
                      </a:rPr>
                      <m:t>𝛌</m:t>
                    </m:r>
                  </m:oMath>
                </a14:m>
                <a:r>
                  <a:rPr lang="en-US" sz="3600" b="1" dirty="0">
                    <a:solidFill>
                      <a:schemeClr val="tx1"/>
                    </a:solidFill>
                    <a:latin typeface="Times New Roman" panose="02020603050405020304" pitchFamily="18" charset="0"/>
                    <a:cs typeface="Times New Roman" panose="02020603050405020304" pitchFamily="18" charset="0"/>
                  </a:rPr>
                  <a:t>y  E(e) Isa(</a:t>
                </a:r>
                <a:r>
                  <a:rPr lang="en-US" sz="3600" b="1" dirty="0" err="1">
                    <a:solidFill>
                      <a:schemeClr val="tx1"/>
                    </a:solidFill>
                    <a:latin typeface="Times New Roman" panose="02020603050405020304" pitchFamily="18" charset="0"/>
                    <a:cs typeface="Times New Roman" panose="02020603050405020304" pitchFamily="18" charset="0"/>
                  </a:rPr>
                  <a:t>e,Serving</a:t>
                </a:r>
                <a:r>
                  <a:rPr lang="en-US" sz="3600" b="1"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r>
                      <a:rPr lang="en-US" sz="3600" b="1">
                        <a:solidFill>
                          <a:schemeClr val="tx1"/>
                        </a:solidFill>
                        <a:latin typeface="Cambria Math" panose="02040503050406030204" pitchFamily="18" charset="0"/>
                        <a:cs typeface="Times New Roman" panose="02020603050405020304" pitchFamily="18" charset="0"/>
                      </a:rPr>
                      <m:t>^</m:t>
                    </m:r>
                    <m:r>
                      <a:rPr lang="en-US" sz="3600" b="1" i="1">
                        <a:solidFill>
                          <a:schemeClr val="tx1"/>
                        </a:solidFill>
                        <a:latin typeface="Cambria Math" panose="02040503050406030204" pitchFamily="18" charset="0"/>
                        <a:cs typeface="Times New Roman" panose="02020603050405020304" pitchFamily="18" charset="0"/>
                      </a:rPr>
                      <m:t>𝐒𝐞𝐫𝐯𝐞𝐫</m:t>
                    </m:r>
                    <m:r>
                      <a:rPr lang="en-US" sz="3600" b="1">
                        <a:solidFill>
                          <a:schemeClr val="tx1"/>
                        </a:solidFill>
                        <a:latin typeface="Cambria Math" panose="02040503050406030204" pitchFamily="18" charset="0"/>
                        <a:cs typeface="Times New Roman" panose="02020603050405020304" pitchFamily="18" charset="0"/>
                      </a:rPr>
                      <m:t>(</m:t>
                    </m:r>
                    <m:r>
                      <a:rPr lang="en-US" sz="3600" b="1" i="1">
                        <a:solidFill>
                          <a:schemeClr val="tx1"/>
                        </a:solidFill>
                        <a:latin typeface="Cambria Math" panose="02040503050406030204" pitchFamily="18" charset="0"/>
                        <a:cs typeface="Times New Roman" panose="02020603050405020304" pitchFamily="18" charset="0"/>
                      </a:rPr>
                      <m:t>𝐞</m:t>
                    </m:r>
                    <m:r>
                      <a:rPr lang="en-US" sz="3600" b="1">
                        <a:solidFill>
                          <a:schemeClr val="tx1"/>
                        </a:solidFill>
                        <a:latin typeface="Cambria Math" panose="02040503050406030204" pitchFamily="18" charset="0"/>
                        <a:cs typeface="Times New Roman" panose="02020603050405020304" pitchFamily="18" charset="0"/>
                      </a:rPr>
                      <m:t>,</m:t>
                    </m:r>
                    <m:r>
                      <a:rPr lang="en-US" sz="3600" b="1" i="1">
                        <a:solidFill>
                          <a:schemeClr val="tx1"/>
                        </a:solidFill>
                        <a:latin typeface="Cambria Math" panose="02040503050406030204" pitchFamily="18" charset="0"/>
                        <a:cs typeface="Times New Roman" panose="02020603050405020304" pitchFamily="18" charset="0"/>
                      </a:rPr>
                      <m:t>𝐲</m:t>
                    </m:r>
                    <m:r>
                      <a:rPr lang="en-US" sz="3600" b="1">
                        <a:solidFill>
                          <a:schemeClr val="tx1"/>
                        </a:solidFill>
                        <a:latin typeface="Cambria Math" panose="02040503050406030204" pitchFamily="18" charset="0"/>
                        <a:cs typeface="Times New Roman" panose="02020603050405020304" pitchFamily="18" charset="0"/>
                      </a:rPr>
                      <m:t>)</m:t>
                    </m:r>
                  </m:oMath>
                </a14:m>
                <a:r>
                  <a:rPr lang="en-US" sz="3600" b="1"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en-US" sz="3600" b="1">
                        <a:solidFill>
                          <a:schemeClr val="tx1"/>
                        </a:solidFill>
                        <a:latin typeface="Cambria Math" panose="02040503050406030204" pitchFamily="18" charset="0"/>
                        <a:cs typeface="Times New Roman" panose="02020603050405020304" pitchFamily="18" charset="0"/>
                      </a:rPr>
                      <m:t>^</m:t>
                    </m:r>
                  </m:oMath>
                </a14:m>
                <a:r>
                  <a:rPr lang="en-US" sz="3600" b="1" dirty="0">
                    <a:solidFill>
                      <a:schemeClr val="tx1"/>
                    </a:solidFill>
                    <a:latin typeface="Times New Roman" panose="02020603050405020304" pitchFamily="18" charset="0"/>
                    <a:cs typeface="Times New Roman" panose="02020603050405020304" pitchFamily="18" charset="0"/>
                  </a:rPr>
                  <a:t>Served(</a:t>
                </a:r>
                <a:r>
                  <a:rPr lang="en-US" sz="3600" b="1" dirty="0" err="1">
                    <a:solidFill>
                      <a:schemeClr val="tx1"/>
                    </a:solidFill>
                    <a:latin typeface="Times New Roman" panose="02020603050405020304" pitchFamily="18" charset="0"/>
                    <a:cs typeface="Times New Roman" panose="02020603050405020304" pitchFamily="18" charset="0"/>
                  </a:rPr>
                  <a:t>e,x</a:t>
                </a:r>
                <a:r>
                  <a:rPr lang="en-US" sz="3600" b="1" dirty="0">
                    <a:solidFill>
                      <a:schemeClr val="tx1"/>
                    </a:solidFill>
                    <a:latin typeface="Times New Roman" panose="02020603050405020304" pitchFamily="18" charset="0"/>
                    <a:cs typeface="Times New Roman" panose="02020603050405020304" pitchFamily="18" charset="0"/>
                  </a:rPr>
                  <a:t>)}</a:t>
                </a:r>
              </a:p>
              <a:p>
                <a:endParaRPr lang="x-none" dirty="0"/>
              </a:p>
            </p:txBody>
          </p:sp>
        </mc:Choice>
        <mc:Fallback xmlns="">
          <p:sp>
            <p:nvSpPr>
              <p:cNvPr id="3" name="Content Placeholder 2">
                <a:extLst>
                  <a:ext uri="{FF2B5EF4-FFF2-40B4-BE49-F238E27FC236}">
                    <a16:creationId xmlns:a16="http://schemas.microsoft.com/office/drawing/2014/main" id="{96A4B82C-DACB-447D-B309-8ACE2A79508A}"/>
                  </a:ext>
                </a:extLst>
              </p:cNvPr>
              <p:cNvSpPr>
                <a:spLocks noGrp="1" noRot="1" noChangeAspect="1" noMove="1" noResize="1" noEditPoints="1" noAdjustHandles="1" noChangeArrowheads="1" noChangeShapeType="1" noTextEdit="1"/>
              </p:cNvSpPr>
              <p:nvPr>
                <p:ph idx="1"/>
              </p:nvPr>
            </p:nvSpPr>
            <p:spPr>
              <a:xfrm>
                <a:off x="848139" y="1391823"/>
                <a:ext cx="10515600" cy="4667250"/>
              </a:xfrm>
              <a:blipFill>
                <a:blip r:embed="rId2"/>
                <a:stretch>
                  <a:fillRect t="-3133" r="-870"/>
                </a:stretch>
              </a:blipFill>
            </p:spPr>
            <p:txBody>
              <a:bodyPr/>
              <a:lstStyle/>
              <a:p>
                <a:r>
                  <a:rPr lang="en-PK">
                    <a:noFill/>
                  </a:rPr>
                  <a:t> </a:t>
                </a:r>
              </a:p>
            </p:txBody>
          </p:sp>
        </mc:Fallback>
      </mc:AlternateContent>
      <p:pic>
        <p:nvPicPr>
          <p:cNvPr id="4" name="Picture 4" descr="DSpace at Air University Islamabad: Home">
            <a:extLst>
              <a:ext uri="{FF2B5EF4-FFF2-40B4-BE49-F238E27FC236}">
                <a16:creationId xmlns="" xmlns:a16="http://schemas.microsoft.com/office/drawing/2014/main" id="{AF173CFC-A666-4767-802D-3C67E018F09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848139" cy="848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87625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1BB7555-CC9D-4C0F-B036-BA50BB89375D}"/>
              </a:ext>
            </a:extLst>
          </p:cNvPr>
          <p:cNvSpPr>
            <a:spLocks noGrp="1"/>
          </p:cNvSpPr>
          <p:nvPr>
            <p:ph type="title"/>
          </p:nvPr>
        </p:nvSpPr>
        <p:spPr/>
        <p:txBody>
          <a:bodyPr/>
          <a:lstStyle/>
          <a:p>
            <a:pPr algn="ctr"/>
            <a:r>
              <a:rPr lang="en-US" b="1" dirty="0" err="1">
                <a:latin typeface="Algerian" panose="04020705040A02060702" pitchFamily="82" charset="0"/>
              </a:rPr>
              <a:t>Cont</a:t>
            </a:r>
            <a:r>
              <a:rPr lang="en-US" b="1" dirty="0">
                <a:latin typeface="Algerian" panose="04020705040A02060702" pitchFamily="82" charset="0"/>
              </a:rPr>
              <a:t>…</a:t>
            </a:r>
            <a:endParaRPr lang="x-none" b="1" dirty="0">
              <a:latin typeface="Algerian" panose="04020705040A02060702" pitchFamily="82"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 xmlns:a16="http://schemas.microsoft.com/office/drawing/2014/main" id="{C91691D1-A2DE-43B7-ABE5-413DBB2A4759}"/>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VP semantics(</a:t>
                </a:r>
                <a:r>
                  <a:rPr lang="en-US" sz="2400" dirty="0" err="1">
                    <a:latin typeface="Times New Roman" panose="02020603050405020304" pitchFamily="18" charset="0"/>
                    <a:cs typeface="Times New Roman" panose="02020603050405020304" pitchFamily="18" charset="0"/>
                  </a:rPr>
                  <a:t>V.sem</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NP.sem</a:t>
                </a:r>
                <a:r>
                  <a:rPr lang="en-US" sz="2400" dirty="0">
                    <a:latin typeface="Times New Roman" panose="02020603050405020304" pitchFamily="18" charset="0"/>
                    <a:cs typeface="Times New Roman" panose="02020603050405020304" pitchFamily="18" charset="0"/>
                  </a:rPr>
                  <a:t>) binds the outer </a:t>
                </a:r>
                <a14:m>
                  <m:oMath xmlns:m="http://schemas.openxmlformats.org/officeDocument/2006/math">
                    <m:r>
                      <m:rPr>
                        <m:sty m:val="p"/>
                      </m:rPr>
                      <a:rPr lang="el-GR" sz="2400" i="1" smtClean="0">
                        <a:latin typeface="Cambria Math"/>
                      </a:rPr>
                      <m:t>λ</m:t>
                    </m:r>
                  </m:oMath>
                </a14:m>
                <a:r>
                  <a:rPr lang="en-US" sz="2400" dirty="0">
                    <a:latin typeface="Times New Roman" panose="02020603050405020304" pitchFamily="18" charset="0"/>
                    <a:cs typeface="Times New Roman" panose="02020603050405020304" pitchFamily="18" charset="0"/>
                  </a:rPr>
                  <a:t>-expression to the object NP (Meat) but leaves the inner </a:t>
                </a:r>
                <a14:m>
                  <m:oMath xmlns:m="http://schemas.openxmlformats.org/officeDocument/2006/math">
                    <m:r>
                      <m:rPr>
                        <m:sty m:val="p"/>
                      </m:rPr>
                      <a:rPr lang="el-GR" sz="2400" i="1" smtClean="0">
                        <a:latin typeface="Cambria Math"/>
                      </a:rPr>
                      <m:t>λ</m:t>
                    </m:r>
                  </m:oMath>
                </a14:m>
                <a:r>
                  <a:rPr lang="en-US" sz="2400" dirty="0">
                    <a:latin typeface="Times New Roman" panose="02020603050405020304" pitchFamily="18" charset="0"/>
                    <a:cs typeface="Times New Roman" panose="02020603050405020304" pitchFamily="18" charset="0"/>
                  </a:rPr>
                  <a:t>-expression for subsequent binding to the subject NP when the semantics of S is determined :</a:t>
                </a:r>
              </a:p>
              <a:p>
                <a:pPr marL="0" indent="0" algn="justLow">
                  <a:buNone/>
                </a:pPr>
                <a:endParaRPr lang="en-US" sz="2400" dirty="0">
                  <a:latin typeface="Times New Roman" panose="02020603050405020304" pitchFamily="18" charset="0"/>
                  <a:cs typeface="Times New Roman" panose="02020603050405020304" pitchFamily="18" charset="0"/>
                </a:endParaRPr>
              </a:p>
              <a:p>
                <a:pPr marL="0" lvl="1" indent="0" algn="ctr">
                  <a:buNone/>
                </a:pPr>
                <a:r>
                  <a:rPr lang="en-US" dirty="0">
                    <a:latin typeface="Times New Roman" panose="02020603050405020304" pitchFamily="18" charset="0"/>
                    <a:cs typeface="Times New Roman" panose="02020603050405020304" pitchFamily="18" charset="0"/>
                  </a:rPr>
                  <a:t>	</a:t>
                </a:r>
                <a:r>
                  <a:rPr lang="en-US" b="1" dirty="0">
                    <a:solidFill>
                      <a:schemeClr val="tx1"/>
                    </a:solidFill>
                    <a:latin typeface="Times New Roman" panose="02020603050405020304" pitchFamily="18" charset="0"/>
                    <a:cs typeface="Times New Roman" panose="02020603050405020304" pitchFamily="18" charset="0"/>
                  </a:rPr>
                  <a:t>{E(e)Isa(</a:t>
                </a:r>
                <a:r>
                  <a:rPr lang="en-US" b="1" dirty="0" err="1">
                    <a:solidFill>
                      <a:schemeClr val="tx1"/>
                    </a:solidFill>
                    <a:latin typeface="Times New Roman" panose="02020603050405020304" pitchFamily="18" charset="0"/>
                    <a:cs typeface="Times New Roman" panose="02020603050405020304" pitchFamily="18" charset="0"/>
                  </a:rPr>
                  <a:t>e,Serving</a:t>
                </a:r>
                <a:r>
                  <a:rPr lang="en-US" b="1"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r>
                      <a:rPr lang="en-US" b="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𝐒𝐞𝐫𝐯𝐞𝐫</m:t>
                    </m:r>
                    <m:r>
                      <a:rPr lang="en-US" b="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𝐞</m:t>
                    </m:r>
                    <m:r>
                      <a:rPr lang="en-US" b="1">
                        <a:solidFill>
                          <a:schemeClr val="tx1"/>
                        </a:solidFill>
                        <a:latin typeface="Cambria Math" panose="02040503050406030204" pitchFamily="18" charset="0"/>
                        <a:cs typeface="Times New Roman" panose="02020603050405020304" pitchFamily="18" charset="0"/>
                      </a:rPr>
                      <m:t>,</m:t>
                    </m:r>
                    <m:r>
                      <a:rPr lang="en-US" b="1" i="1">
                        <a:solidFill>
                          <a:schemeClr val="tx1"/>
                        </a:solidFill>
                        <a:latin typeface="Cambria Math" panose="02040503050406030204" pitchFamily="18" charset="0"/>
                        <a:cs typeface="Times New Roman" panose="02020603050405020304" pitchFamily="18" charset="0"/>
                      </a:rPr>
                      <m:t>𝐀𝐲𝐂𝐚𝐫𝐚𝐦𝐛𝐚</m:t>
                    </m:r>
                    <m:r>
                      <a:rPr lang="en-US" b="1">
                        <a:solidFill>
                          <a:schemeClr val="tx1"/>
                        </a:solidFill>
                        <a:latin typeface="Cambria Math" panose="02040503050406030204" pitchFamily="18" charset="0"/>
                        <a:cs typeface="Times New Roman" panose="02020603050405020304" pitchFamily="18" charset="0"/>
                      </a:rPr>
                      <m:t>)</m:t>
                    </m:r>
                    <m:r>
                      <a:rPr lang="en-US" b="1">
                        <a:solidFill>
                          <a:schemeClr val="tx1"/>
                        </a:solidFill>
                        <a:latin typeface="Cambria Math"/>
                        <a:cs typeface="Times New Roman" panose="02020603050405020304" pitchFamily="18" charset="0"/>
                      </a:rPr>
                      <m:t>^</m:t>
                    </m:r>
                  </m:oMath>
                </a14:m>
                <a:r>
                  <a:rPr lang="en-US" b="1" dirty="0">
                    <a:solidFill>
                      <a:schemeClr val="tx1"/>
                    </a:solidFill>
                    <a:latin typeface="Times New Roman" panose="02020603050405020304" pitchFamily="18" charset="0"/>
                    <a:cs typeface="Times New Roman" panose="02020603050405020304" pitchFamily="18" charset="0"/>
                  </a:rPr>
                  <a:t>Served(e,Meat)}</a:t>
                </a:r>
                <a:endParaRPr lang="en-US" b="1" dirty="0">
                  <a:solidFill>
                    <a:schemeClr val="tx2">
                      <a:lumMod val="60000"/>
                      <a:lumOff val="40000"/>
                    </a:schemeClr>
                  </a:solidFill>
                  <a:latin typeface="Times New Roman" panose="02020603050405020304" pitchFamily="18" charset="0"/>
                  <a:cs typeface="Times New Roman" panose="02020603050405020304" pitchFamily="18" charset="0"/>
                </a:endParaRPr>
              </a:p>
              <a:p>
                <a:pPr marL="0" indent="0">
                  <a:buNone/>
                </a:pPr>
                <a:endParaRPr lang="x-none" sz="2400" dirty="0"/>
              </a:p>
            </p:txBody>
          </p:sp>
        </mc:Choice>
        <mc:Fallback xmlns="">
          <p:sp>
            <p:nvSpPr>
              <p:cNvPr id="3" name="Content Placeholder 2">
                <a:extLst>
                  <a:ext uri="{FF2B5EF4-FFF2-40B4-BE49-F238E27FC236}">
                    <a16:creationId xmlns:a16="http://schemas.microsoft.com/office/drawing/2014/main" id="{C91691D1-A2DE-43B7-ABE5-413DBB2A4759}"/>
                  </a:ext>
                </a:extLst>
              </p:cNvPr>
              <p:cNvSpPr>
                <a:spLocks noGrp="1" noRot="1" noChangeAspect="1" noMove="1" noResize="1" noEditPoints="1" noAdjustHandles="1" noChangeArrowheads="1" noChangeShapeType="1" noTextEdit="1"/>
              </p:cNvSpPr>
              <p:nvPr>
                <p:ph idx="1"/>
              </p:nvPr>
            </p:nvSpPr>
            <p:spPr>
              <a:blipFill>
                <a:blip r:embed="rId2"/>
                <a:stretch>
                  <a:fillRect l="-812" t="-1961" r="-1449"/>
                </a:stretch>
              </a:blipFill>
            </p:spPr>
            <p:txBody>
              <a:bodyPr/>
              <a:lstStyle/>
              <a:p>
                <a:r>
                  <a:rPr lang="en-PK">
                    <a:noFill/>
                  </a:rPr>
                  <a:t> </a:t>
                </a:r>
              </a:p>
            </p:txBody>
          </p:sp>
        </mc:Fallback>
      </mc:AlternateContent>
      <p:pic>
        <p:nvPicPr>
          <p:cNvPr id="4" name="Picture 4" descr="DSpace at Air University Islamabad: Home">
            <a:extLst>
              <a:ext uri="{FF2B5EF4-FFF2-40B4-BE49-F238E27FC236}">
                <a16:creationId xmlns="" xmlns:a16="http://schemas.microsoft.com/office/drawing/2014/main" id="{25E19617-E407-4F56-944A-08141FD7456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 y="1"/>
            <a:ext cx="914400"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97816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E0B6B2-1C6A-43BB-BF79-D3130F89ADC2}"/>
              </a:ext>
            </a:extLst>
          </p:cNvPr>
          <p:cNvSpPr>
            <a:spLocks noGrp="1"/>
          </p:cNvSpPr>
          <p:nvPr>
            <p:ph type="title"/>
          </p:nvPr>
        </p:nvSpPr>
        <p:spPr>
          <a:xfrm>
            <a:off x="135401" y="294787"/>
            <a:ext cx="11921197" cy="1325563"/>
          </a:xfrm>
        </p:spPr>
        <p:txBody>
          <a:bodyPr/>
          <a:lstStyle/>
          <a:p>
            <a:pPr algn="ctr"/>
            <a:r>
              <a:rPr lang="en-US" b="1" dirty="0">
                <a:latin typeface="Algerian" panose="04020705040A02060702" pitchFamily="82" charset="0"/>
              </a:rPr>
              <a:t>Option1 (Integrated Semantics Analysis)</a:t>
            </a:r>
            <a:endParaRPr lang="x-none" b="1" dirty="0">
              <a:latin typeface="Algerian" panose="04020705040A02060702" pitchFamily="82" charset="0"/>
            </a:endParaRPr>
          </a:p>
        </p:txBody>
      </p:sp>
      <p:sp>
        <p:nvSpPr>
          <p:cNvPr id="3" name="Content Placeholder 2">
            <a:extLst>
              <a:ext uri="{FF2B5EF4-FFF2-40B4-BE49-F238E27FC236}">
                <a16:creationId xmlns="" xmlns:a16="http://schemas.microsoft.com/office/drawing/2014/main" id="{60818005-AC1F-4E75-AB8E-AB0868DCC3C1}"/>
              </a:ext>
            </a:extLst>
          </p:cNvPr>
          <p:cNvSpPr>
            <a:spLocks noGrp="1"/>
          </p:cNvSpPr>
          <p:nvPr>
            <p:ph idx="1"/>
          </p:nvPr>
        </p:nvSpPr>
        <p:spPr>
          <a:xfrm>
            <a:off x="838199" y="2211875"/>
            <a:ext cx="10515600" cy="4351338"/>
          </a:xfrm>
        </p:spPr>
        <p:txBody>
          <a:bodyPr>
            <a:normAutofit fontScale="92500" lnSpcReduction="10000"/>
          </a:bodyPr>
          <a:lstStyle/>
          <a:p>
            <a:pPr marL="0" indent="0">
              <a:buNone/>
            </a:pPr>
            <a:r>
              <a:rPr lang="en-US" sz="2600" dirty="0">
                <a:latin typeface="Times New Roman" panose="02020603050405020304" pitchFamily="18" charset="0"/>
                <a:cs typeface="Times New Roman" panose="02020603050405020304" pitchFamily="18" charset="0"/>
              </a:rPr>
              <a:t>S -&gt; NP VP {</a:t>
            </a:r>
            <a:r>
              <a:rPr lang="en-US" sz="2600" dirty="0" err="1">
                <a:latin typeface="Times New Roman" panose="02020603050405020304" pitchFamily="18" charset="0"/>
                <a:cs typeface="Times New Roman" panose="02020603050405020304" pitchFamily="18" charset="0"/>
              </a:rPr>
              <a:t>VP.sem</a:t>
            </a:r>
            <a:r>
              <a:rPr lang="en-US" sz="2600" dirty="0">
                <a:latin typeface="Times New Roman" panose="02020603050405020304" pitchFamily="18" charset="0"/>
                <a:cs typeface="Times New Roman" panose="02020603050405020304" pitchFamily="18" charset="0"/>
              </a:rPr>
              <a:t>(</a:t>
            </a:r>
            <a:r>
              <a:rPr lang="en-US" sz="2600" dirty="0" err="1">
                <a:latin typeface="Times New Roman" panose="02020603050405020304" pitchFamily="18" charset="0"/>
                <a:cs typeface="Times New Roman" panose="02020603050405020304" pitchFamily="18" charset="0"/>
              </a:rPr>
              <a:t>NP.sem</a:t>
            </a:r>
            <a:r>
              <a:rPr lang="en-US" sz="2600" dirty="0">
                <a:latin typeface="Times New Roman" panose="02020603050405020304" pitchFamily="18" charset="0"/>
                <a:cs typeface="Times New Roman" panose="02020603050405020304" pitchFamily="18" charset="0"/>
              </a:rPr>
              <a:t>)}</a:t>
            </a:r>
          </a:p>
          <a:p>
            <a:pPr marL="0" indent="0">
              <a:buNone/>
            </a:pPr>
            <a:r>
              <a:rPr lang="en-US" sz="2600" dirty="0">
                <a:latin typeface="Times New Roman" panose="02020603050405020304" pitchFamily="18" charset="0"/>
                <a:cs typeface="Times New Roman" panose="02020603050405020304" pitchFamily="18" charset="0"/>
              </a:rPr>
              <a:t>      - VP. Sem has been stored in stats representing VP</a:t>
            </a:r>
          </a:p>
          <a:p>
            <a:pPr marL="0" indent="0">
              <a:buNone/>
            </a:pPr>
            <a:r>
              <a:rPr lang="en-US" sz="2600" dirty="0">
                <a:latin typeface="Times New Roman" panose="02020603050405020304" pitchFamily="18" charset="0"/>
                <a:cs typeface="Times New Roman" panose="02020603050405020304" pitchFamily="18" charset="0"/>
              </a:rPr>
              <a:t>      - </a:t>
            </a:r>
            <a:r>
              <a:rPr lang="en-US" sz="2600" dirty="0" err="1">
                <a:latin typeface="Times New Roman" panose="02020603050405020304" pitchFamily="18" charset="0"/>
                <a:cs typeface="Times New Roman" panose="02020603050405020304" pitchFamily="18" charset="0"/>
              </a:rPr>
              <a:t>Np.sem</a:t>
            </a:r>
            <a:r>
              <a:rPr lang="en-US" sz="2600" dirty="0">
                <a:latin typeface="Times New Roman" panose="02020603050405020304" pitchFamily="18" charset="0"/>
                <a:cs typeface="Times New Roman" panose="02020603050405020304" pitchFamily="18" charset="0"/>
              </a:rPr>
              <a:t> stored  with the state for NP</a:t>
            </a:r>
          </a:p>
          <a:p>
            <a:pPr marL="0" indent="0">
              <a:buNone/>
            </a:pPr>
            <a:r>
              <a:rPr lang="en-US" sz="2600" dirty="0">
                <a:latin typeface="Times New Roman" panose="02020603050405020304" pitchFamily="18" charset="0"/>
                <a:cs typeface="Times New Roman" panose="02020603050405020304" pitchFamily="18" charset="0"/>
              </a:rPr>
              <a:t>      - When rule completed, go get value of </a:t>
            </a:r>
            <a:r>
              <a:rPr lang="en-US" sz="2600" dirty="0" err="1">
                <a:latin typeface="Times New Roman" panose="02020603050405020304" pitchFamily="18" charset="0"/>
                <a:cs typeface="Times New Roman" panose="02020603050405020304" pitchFamily="18" charset="0"/>
              </a:rPr>
              <a:t>VP.sem</a:t>
            </a:r>
            <a:r>
              <a:rPr lang="en-US" sz="2600" dirty="0">
                <a:latin typeface="Times New Roman" panose="02020603050405020304" pitchFamily="18" charset="0"/>
                <a:cs typeface="Times New Roman" panose="02020603050405020304" pitchFamily="18" charset="0"/>
              </a:rPr>
              <a:t>, go get </a:t>
            </a:r>
            <a:r>
              <a:rPr lang="en-US" sz="2600" dirty="0" err="1">
                <a:latin typeface="Times New Roman" panose="02020603050405020304" pitchFamily="18" charset="0"/>
                <a:cs typeface="Times New Roman" panose="02020603050405020304" pitchFamily="18" charset="0"/>
              </a:rPr>
              <a:t>NP.sem</a:t>
            </a:r>
            <a:r>
              <a:rPr lang="en-US" sz="2600" dirty="0">
                <a:latin typeface="Times New Roman" panose="02020603050405020304" pitchFamily="18" charset="0"/>
                <a:cs typeface="Times New Roman" panose="02020603050405020304" pitchFamily="18" charset="0"/>
              </a:rPr>
              <a:t>, and                 </a:t>
            </a:r>
          </a:p>
          <a:p>
            <a:pPr marL="0" indent="0">
              <a:buNone/>
            </a:pPr>
            <a:r>
              <a:rPr lang="en-US" sz="2600" dirty="0">
                <a:latin typeface="Times New Roman" panose="02020603050405020304" pitchFamily="18" charset="0"/>
                <a:cs typeface="Times New Roman" panose="02020603050405020304" pitchFamily="18" charset="0"/>
              </a:rPr>
              <a:t>         apply </a:t>
            </a:r>
            <a:r>
              <a:rPr lang="en-US" sz="2600" dirty="0" err="1">
                <a:latin typeface="Times New Roman" panose="02020603050405020304" pitchFamily="18" charset="0"/>
                <a:cs typeface="Times New Roman" panose="02020603050405020304" pitchFamily="18" charset="0"/>
              </a:rPr>
              <a:t>VP.sem</a:t>
            </a:r>
            <a:r>
              <a:rPr lang="en-US" sz="2600" dirty="0">
                <a:latin typeface="Times New Roman" panose="02020603050405020304" pitchFamily="18" charset="0"/>
                <a:cs typeface="Times New Roman" panose="02020603050405020304" pitchFamily="18" charset="0"/>
              </a:rPr>
              <a:t> to NP. Sem</a:t>
            </a:r>
          </a:p>
          <a:p>
            <a:pPr marL="0" indent="0">
              <a:buNone/>
            </a:pPr>
            <a:r>
              <a:rPr lang="en-US" sz="2600" dirty="0">
                <a:latin typeface="Times New Roman" panose="02020603050405020304" pitchFamily="18" charset="0"/>
                <a:cs typeface="Times New Roman" panose="02020603050405020304" pitchFamily="18" charset="0"/>
              </a:rPr>
              <a:t>      - Store result in </a:t>
            </a:r>
            <a:r>
              <a:rPr lang="en-US" sz="2600" dirty="0" err="1">
                <a:latin typeface="Times New Roman" panose="02020603050405020304" pitchFamily="18" charset="0"/>
                <a:cs typeface="Times New Roman" panose="02020603050405020304" pitchFamily="18" charset="0"/>
              </a:rPr>
              <a:t>S.sem</a:t>
            </a:r>
            <a:r>
              <a:rPr lang="en-US" sz="2600" dirty="0">
                <a:latin typeface="Times New Roman" panose="02020603050405020304" pitchFamily="18" charset="0"/>
                <a:cs typeface="Times New Roman" panose="02020603050405020304" pitchFamily="18" charset="0"/>
              </a:rPr>
              <a:t> </a:t>
            </a:r>
          </a:p>
          <a:p>
            <a:r>
              <a:rPr lang="en-US" sz="2600" dirty="0">
                <a:latin typeface="Times New Roman" panose="02020603050405020304" pitchFamily="18" charset="0"/>
                <a:cs typeface="Times New Roman" panose="02020603050405020304" pitchFamily="18" charset="0"/>
              </a:rPr>
              <a:t>As fragments of input parsed, Semantic fragmented created </a:t>
            </a:r>
          </a:p>
          <a:p>
            <a:r>
              <a:rPr lang="en-US" sz="2600" dirty="0">
                <a:latin typeface="Times New Roman" panose="02020603050405020304" pitchFamily="18" charset="0"/>
                <a:cs typeface="Times New Roman" panose="02020603050405020304" pitchFamily="18" charset="0"/>
              </a:rPr>
              <a:t>Can be used to block ambiguous representation </a:t>
            </a:r>
          </a:p>
          <a:p>
            <a:pPr marL="0" indent="0">
              <a:buNone/>
            </a:pPr>
            <a:endParaRPr lang="en-US" dirty="0"/>
          </a:p>
          <a:p>
            <a:pPr marL="0" indent="0">
              <a:buNone/>
            </a:pPr>
            <a:r>
              <a:rPr lang="en-US" dirty="0"/>
              <a:t> </a:t>
            </a:r>
            <a:endParaRPr lang="x-none" dirty="0"/>
          </a:p>
        </p:txBody>
      </p:sp>
      <p:pic>
        <p:nvPicPr>
          <p:cNvPr id="4" name="Picture 4" descr="DSpace at Air University Islamabad: Home">
            <a:extLst>
              <a:ext uri="{FF2B5EF4-FFF2-40B4-BE49-F238E27FC236}">
                <a16:creationId xmlns="" xmlns:a16="http://schemas.microsoft.com/office/drawing/2014/main" id="{D83F9639-C298-42DD-A3A7-673E26C1615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1"/>
            <a:ext cx="914400"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50164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6D8DC21-6CDB-42F4-9189-AAAFF65FA378}"/>
              </a:ext>
            </a:extLst>
          </p:cNvPr>
          <p:cNvSpPr>
            <a:spLocks noGrp="1"/>
          </p:cNvSpPr>
          <p:nvPr>
            <p:ph type="title"/>
          </p:nvPr>
        </p:nvSpPr>
        <p:spPr/>
        <p:txBody>
          <a:bodyPr/>
          <a:lstStyle/>
          <a:p>
            <a:r>
              <a:rPr lang="en-US" b="1" dirty="0">
                <a:latin typeface="Algerian" panose="04020705040A02060702" pitchFamily="82" charset="0"/>
              </a:rPr>
              <a:t>NON- Compositional Language</a:t>
            </a:r>
            <a:endParaRPr lang="x-none" b="1" dirty="0">
              <a:latin typeface="Algerian" panose="04020705040A02060702" pitchFamily="82" charset="0"/>
            </a:endParaRPr>
          </a:p>
        </p:txBody>
      </p:sp>
      <p:sp>
        <p:nvSpPr>
          <p:cNvPr id="3" name="Content Placeholder 2">
            <a:extLst>
              <a:ext uri="{FF2B5EF4-FFF2-40B4-BE49-F238E27FC236}">
                <a16:creationId xmlns="" xmlns:a16="http://schemas.microsoft.com/office/drawing/2014/main" id="{2D5AF4B7-E6DD-4E2B-8A95-A22D8A4819A0}"/>
              </a:ext>
            </a:extLst>
          </p:cNvPr>
          <p:cNvSpPr>
            <a:spLocks noGrp="1"/>
          </p:cNvSpPr>
          <p:nvPr>
            <p:ph idx="1"/>
          </p:nvPr>
        </p:nvSpPr>
        <p:spPr>
          <a:xfrm>
            <a:off x="389467" y="1825625"/>
            <a:ext cx="11531599" cy="4667250"/>
          </a:xfrm>
        </p:spPr>
        <p:txBody>
          <a:bodyPr>
            <a:normAutofit/>
          </a:bodyPr>
          <a:lstStyle/>
          <a:p>
            <a:r>
              <a:rPr lang="en-US" sz="2400" dirty="0">
                <a:latin typeface="Times New Roman" panose="02020603050405020304" pitchFamily="18" charset="0"/>
                <a:cs typeface="Times New Roman" panose="02020603050405020304" pitchFamily="18" charset="0"/>
              </a:rPr>
              <a:t>What we do with language whose meaning is not derive from the meaning of its parts</a:t>
            </a:r>
          </a:p>
          <a:p>
            <a:pPr marL="0" indent="0">
              <a:buNone/>
            </a:pPr>
            <a:r>
              <a:rPr lang="en-US" sz="2400" dirty="0">
                <a:latin typeface="Times New Roman" panose="02020603050405020304" pitchFamily="18" charset="0"/>
                <a:cs typeface="Times New Roman" panose="02020603050405020304" pitchFamily="18" charset="0"/>
              </a:rPr>
              <a:t>        -Metaphor: You are the cream in my Coffee</a:t>
            </a:r>
          </a:p>
          <a:p>
            <a:pPr marL="0" indent="0">
              <a:buNone/>
            </a:pPr>
            <a:r>
              <a:rPr lang="en-US" sz="2400" dirty="0">
                <a:latin typeface="Times New Roman" panose="02020603050405020304" pitchFamily="18" charset="0"/>
                <a:cs typeface="Times New Roman" panose="02020603050405020304" pitchFamily="18" charset="0"/>
              </a:rPr>
              <a:t>        - She’s the cream in George’s coffee</a:t>
            </a:r>
          </a:p>
          <a:p>
            <a:pPr marL="0" indent="0">
              <a:buNone/>
            </a:pPr>
            <a:r>
              <a:rPr lang="en-US" sz="2400" dirty="0">
                <a:latin typeface="Times New Roman" panose="02020603050405020304" pitchFamily="18" charset="0"/>
                <a:cs typeface="Times New Roman" panose="02020603050405020304" pitchFamily="18" charset="0"/>
              </a:rPr>
              <a:t>        - The break-in was just the tip of the iceberg</a:t>
            </a:r>
          </a:p>
          <a:p>
            <a:pPr marL="0" indent="0">
              <a:buNone/>
            </a:pPr>
            <a:r>
              <a:rPr lang="en-US" sz="2400" dirty="0">
                <a:latin typeface="Times New Roman" panose="02020603050405020304" pitchFamily="18" charset="0"/>
                <a:cs typeface="Times New Roman" panose="02020603050405020304" pitchFamily="18" charset="0"/>
              </a:rPr>
              <a:t>        - This was only the tip of Shirley’s iceberg</a:t>
            </a:r>
          </a:p>
          <a:p>
            <a:pPr marL="0" indent="0">
              <a:buNone/>
            </a:pPr>
            <a:r>
              <a:rPr lang="en-US" sz="2400" dirty="0">
                <a:latin typeface="Times New Roman" panose="02020603050405020304" pitchFamily="18" charset="0"/>
                <a:cs typeface="Times New Roman" panose="02020603050405020304" pitchFamily="18" charset="0"/>
              </a:rPr>
              <a:t>       - </a:t>
            </a:r>
            <a:r>
              <a:rPr lang="en-US" sz="2400" b="1" dirty="0">
                <a:latin typeface="Times New Roman" panose="02020603050405020304" pitchFamily="18" charset="0"/>
                <a:cs typeface="Times New Roman" panose="02020603050405020304" pitchFamily="18" charset="0"/>
              </a:rPr>
              <a:t>Idioms: </a:t>
            </a:r>
            <a:r>
              <a:rPr lang="en-US" sz="2400" dirty="0">
                <a:latin typeface="Times New Roman" panose="02020603050405020304" pitchFamily="18" charset="0"/>
                <a:cs typeface="Times New Roman" panose="02020603050405020304" pitchFamily="18" charset="0"/>
              </a:rPr>
              <a:t>The old man Finally kicked the bucket.</a:t>
            </a:r>
          </a:p>
          <a:p>
            <a:pPr marL="0" indent="0">
              <a:buNone/>
            </a:pPr>
            <a:r>
              <a:rPr lang="en-US" sz="2400" dirty="0">
                <a:latin typeface="Times New Roman" panose="02020603050405020304" pitchFamily="18" charset="0"/>
                <a:cs typeface="Times New Roman" panose="02020603050405020304" pitchFamily="18" charset="0"/>
              </a:rPr>
              <a:t>       -The old man finally kicked the proverbial bucket</a:t>
            </a:r>
          </a:p>
          <a:p>
            <a:r>
              <a:rPr lang="en-US" sz="2400" dirty="0">
                <a:latin typeface="Times New Roman" panose="02020603050405020304" pitchFamily="18" charset="0"/>
                <a:cs typeface="Times New Roman" panose="02020603050405020304" pitchFamily="18" charset="0"/>
              </a:rPr>
              <a:t>Solution?</a:t>
            </a:r>
          </a:p>
          <a:p>
            <a:pPr marL="0" indent="0">
              <a:buNone/>
            </a:pPr>
            <a:r>
              <a:rPr lang="en-US" sz="2400" dirty="0">
                <a:latin typeface="Times New Roman" panose="02020603050405020304" pitchFamily="18" charset="0"/>
                <a:cs typeface="Times New Roman" panose="02020603050405020304" pitchFamily="18" charset="0"/>
              </a:rPr>
              <a:t>     - Mix lexical item with special grammar rules?</a:t>
            </a:r>
            <a:endParaRPr lang="x-none" sz="2400" dirty="0">
              <a:latin typeface="Times New Roman" panose="02020603050405020304" pitchFamily="18" charset="0"/>
              <a:cs typeface="Times New Roman" panose="02020603050405020304" pitchFamily="18" charset="0"/>
            </a:endParaRPr>
          </a:p>
        </p:txBody>
      </p:sp>
      <p:pic>
        <p:nvPicPr>
          <p:cNvPr id="4" name="Picture 4" descr="DSpace at Air University Islamabad: Home">
            <a:extLst>
              <a:ext uri="{FF2B5EF4-FFF2-40B4-BE49-F238E27FC236}">
                <a16:creationId xmlns="" xmlns:a16="http://schemas.microsoft.com/office/drawing/2014/main" id="{5FCF621B-47B9-4541-897B-A373DF11041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1"/>
            <a:ext cx="914400"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67889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A0F4595-9987-4E9F-B824-1949BEB6F3A8}"/>
              </a:ext>
            </a:extLst>
          </p:cNvPr>
          <p:cNvSpPr>
            <a:spLocks noGrp="1"/>
          </p:cNvSpPr>
          <p:nvPr>
            <p:ph type="title"/>
          </p:nvPr>
        </p:nvSpPr>
        <p:spPr/>
        <p:txBody>
          <a:bodyPr/>
          <a:lstStyle/>
          <a:p>
            <a:pPr algn="ctr"/>
            <a:r>
              <a:rPr lang="en-US" b="1" dirty="0">
                <a:latin typeface="Algerian" panose="04020705040A02060702" pitchFamily="82" charset="0"/>
              </a:rPr>
              <a:t>Semantic Attachments</a:t>
            </a:r>
            <a:r>
              <a:rPr lang="en-US" dirty="0"/>
              <a:t/>
            </a:r>
            <a:br>
              <a:rPr lang="en-US" dirty="0"/>
            </a:br>
            <a:endParaRPr lang="x-none" dirty="0"/>
          </a:p>
        </p:txBody>
      </p:sp>
      <p:sp>
        <p:nvSpPr>
          <p:cNvPr id="3" name="Content Placeholder 2">
            <a:extLst>
              <a:ext uri="{FF2B5EF4-FFF2-40B4-BE49-F238E27FC236}">
                <a16:creationId xmlns="" xmlns:a16="http://schemas.microsoft.com/office/drawing/2014/main" id="{8A13CF28-27CF-401C-B59E-E0E9D6CC2A85}"/>
              </a:ext>
            </a:extLst>
          </p:cNvPr>
          <p:cNvSpPr>
            <a:spLocks noGrp="1"/>
          </p:cNvSpPr>
          <p:nvPr>
            <p:ph idx="1"/>
          </p:nvPr>
        </p:nvSpPr>
        <p:spPr>
          <a:xfrm>
            <a:off x="838200" y="1253331"/>
            <a:ext cx="10515600" cy="5079736"/>
          </a:xfrm>
        </p:spPr>
        <p:txBody>
          <a:bodyPr>
            <a:normAutofit/>
          </a:bodyPr>
          <a:lstStyle/>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attachments can be thought of as instructions that specify way to compute the meaning representation of a construction from the meanings of its constituents parts.</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notation of semantic attachments states that the meaning representation assigned to a construction.</a:t>
            </a:r>
            <a:endParaRPr lang="x-none" sz="2400" dirty="0">
              <a:latin typeface="Times New Roman" panose="02020603050405020304" pitchFamily="18" charset="0"/>
              <a:cs typeface="Times New Roman" panose="02020603050405020304" pitchFamily="18" charset="0"/>
            </a:endParaRPr>
          </a:p>
        </p:txBody>
      </p:sp>
      <p:pic>
        <p:nvPicPr>
          <p:cNvPr id="4" name="Picture 4" descr="DSpace at Air University Islamabad: Home">
            <a:extLst>
              <a:ext uri="{FF2B5EF4-FFF2-40B4-BE49-F238E27FC236}">
                <a16:creationId xmlns="" xmlns:a16="http://schemas.microsoft.com/office/drawing/2014/main" id="{ABD46B20-9BEA-4D50-B3B2-F670281D47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25563" cy="1325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30888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19A930-8BDA-4F0F-BBE2-9831C9840DEA}"/>
              </a:ext>
            </a:extLst>
          </p:cNvPr>
          <p:cNvSpPr>
            <a:spLocks noGrp="1"/>
          </p:cNvSpPr>
          <p:nvPr>
            <p:ph type="title"/>
          </p:nvPr>
        </p:nvSpPr>
        <p:spPr>
          <a:xfrm>
            <a:off x="876301" y="-108143"/>
            <a:ext cx="10515600" cy="1325563"/>
          </a:xfrm>
        </p:spPr>
        <p:txBody>
          <a:bodyPr/>
          <a:lstStyle/>
          <a:p>
            <a:pPr algn="ctr"/>
            <a:r>
              <a:rPr lang="en-US" b="1" dirty="0">
                <a:latin typeface="Algerian" panose="04020705040A02060702" pitchFamily="82" charset="0"/>
              </a:rPr>
              <a:t>Sentences</a:t>
            </a:r>
            <a:endParaRPr lang="x-none" b="1" dirty="0">
              <a:latin typeface="Algerian" panose="04020705040A02060702" pitchFamily="82" charset="0"/>
            </a:endParaRPr>
          </a:p>
        </p:txBody>
      </p:sp>
      <p:sp>
        <p:nvSpPr>
          <p:cNvPr id="3" name="Content Placeholder 2">
            <a:extLst>
              <a:ext uri="{FF2B5EF4-FFF2-40B4-BE49-F238E27FC236}">
                <a16:creationId xmlns="" xmlns:a16="http://schemas.microsoft.com/office/drawing/2014/main" id="{8ED39544-DAAD-4192-B0C7-40A5A6CB9090}"/>
              </a:ext>
            </a:extLst>
          </p:cNvPr>
          <p:cNvSpPr>
            <a:spLocks noGrp="1"/>
          </p:cNvSpPr>
          <p:nvPr>
            <p:ph idx="1"/>
          </p:nvPr>
        </p:nvSpPr>
        <p:spPr>
          <a:xfrm>
            <a:off x="876301" y="914401"/>
            <a:ext cx="10515600" cy="4351338"/>
          </a:xfrm>
        </p:spPr>
        <p:txBody>
          <a:bodyPr>
            <a:noAutofit/>
          </a:bodyPr>
          <a:lstStyle/>
          <a:p>
            <a:pPr marL="457200" lvl="1" indent="0">
              <a:buNone/>
            </a:pPr>
            <a:r>
              <a:rPr lang="en-US" dirty="0">
                <a:latin typeface="Times New Roman" panose="02020603050405020304" pitchFamily="18" charset="0"/>
                <a:cs typeface="Times New Roman" panose="02020603050405020304" pitchFamily="18" charset="0"/>
              </a:rPr>
              <a:t>This section expands our coverage to include the other sentence types. Let’s start by considering the following examples:</a:t>
            </a:r>
          </a:p>
          <a:p>
            <a:pPr marL="457200" lvl="1" indent="0">
              <a:buNone/>
            </a:pPr>
            <a:r>
              <a:rPr lang="en-US" dirty="0">
                <a:latin typeface="Times New Roman" panose="02020603050405020304" pitchFamily="18" charset="0"/>
                <a:cs typeface="Times New Roman" panose="02020603050405020304" pitchFamily="18" charset="0"/>
              </a:rPr>
              <a:t>  Flight 487 serves lunch.</a:t>
            </a:r>
          </a:p>
          <a:p>
            <a:pPr marL="457200" lvl="1" indent="0">
              <a:buNone/>
            </a:pPr>
            <a:r>
              <a:rPr lang="en-US" dirty="0">
                <a:latin typeface="Times New Roman" panose="02020603050405020304" pitchFamily="18" charset="0"/>
                <a:cs typeface="Times New Roman" panose="02020603050405020304" pitchFamily="18" charset="0"/>
              </a:rPr>
              <a:t>  Serve lunch.</a:t>
            </a:r>
          </a:p>
          <a:p>
            <a:pPr marL="457200" lvl="1" indent="0">
              <a:buNone/>
            </a:pPr>
            <a:r>
              <a:rPr lang="en-US" dirty="0">
                <a:latin typeface="Times New Roman" panose="02020603050405020304" pitchFamily="18" charset="0"/>
                <a:cs typeface="Times New Roman" panose="02020603050405020304" pitchFamily="18" charset="0"/>
              </a:rPr>
              <a:t>  Does flight 207 serve lunch? </a:t>
            </a:r>
          </a:p>
          <a:p>
            <a:pPr marL="457200" lvl="1" indent="0">
              <a:buNone/>
            </a:pPr>
            <a:r>
              <a:rPr lang="en-US" dirty="0">
                <a:latin typeface="Times New Roman" panose="02020603050405020304" pitchFamily="18" charset="0"/>
                <a:cs typeface="Times New Roman" panose="02020603050405020304" pitchFamily="18" charset="0"/>
              </a:rPr>
              <a:t>  Which flights serve lunch? </a:t>
            </a:r>
          </a:p>
          <a:p>
            <a:pPr marL="457200" lvl="1" indent="0">
              <a:buNone/>
            </a:pPr>
            <a:r>
              <a:rPr lang="en-US" b="1" dirty="0">
                <a:latin typeface="Times New Roman" panose="02020603050405020304" pitchFamily="18" charset="0"/>
                <a:cs typeface="Times New Roman" panose="02020603050405020304" pitchFamily="18" charset="0"/>
              </a:rPr>
              <a:t>Declarative sentences:</a:t>
            </a:r>
          </a:p>
          <a:p>
            <a:pPr marL="457200" lvl="1" indent="0">
              <a:buNone/>
            </a:pPr>
            <a:r>
              <a:rPr lang="en-US" dirty="0">
                <a:latin typeface="Times New Roman" panose="02020603050405020304" pitchFamily="18" charset="0"/>
                <a:cs typeface="Times New Roman" panose="02020603050405020304" pitchFamily="18" charset="0"/>
              </a:rPr>
              <a:t>	We can simply alter the basic sentence rule :</a:t>
            </a:r>
          </a:p>
          <a:p>
            <a:pPr marL="457200" lvl="1" indent="0">
              <a:buNone/>
            </a:pPr>
            <a:r>
              <a:rPr lang="en-US" dirty="0">
                <a:latin typeface="Times New Roman" panose="02020603050405020304" pitchFamily="18" charset="0"/>
                <a:cs typeface="Times New Roman" panose="02020603050405020304" pitchFamily="18" charset="0"/>
              </a:rPr>
              <a:t>                      S-&gt; NP VP { DCL(</a:t>
            </a:r>
            <a:r>
              <a:rPr lang="en-US" dirty="0" err="1">
                <a:latin typeface="Times New Roman" panose="02020603050405020304" pitchFamily="18" charset="0"/>
                <a:cs typeface="Times New Roman" panose="02020603050405020304" pitchFamily="18" charset="0"/>
              </a:rPr>
              <a:t>Vp.sem</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NP.sem</a:t>
            </a:r>
            <a:r>
              <a:rPr lang="en-US" dirty="0">
                <a:latin typeface="Times New Roman" panose="02020603050405020304" pitchFamily="18" charset="0"/>
                <a:cs typeface="Times New Roman" panose="02020603050405020304" pitchFamily="18" charset="0"/>
              </a:rPr>
              <a:t>))}        			∴ DCL is an operator   </a:t>
            </a:r>
          </a:p>
          <a:p>
            <a:pPr marL="457200" lvl="1" indent="0">
              <a:buNone/>
            </a:pPr>
            <a:r>
              <a:rPr lang="en-US" b="1" dirty="0">
                <a:latin typeface="Times New Roman" panose="02020603050405020304" pitchFamily="18" charset="0"/>
                <a:cs typeface="Times New Roman" panose="02020603050405020304" pitchFamily="18" charset="0"/>
              </a:rPr>
              <a:t>Imperative Sentences:</a:t>
            </a:r>
          </a:p>
          <a:p>
            <a:pPr marL="457200" lvl="1" indent="0">
              <a:buNone/>
            </a:pPr>
            <a:r>
              <a:rPr lang="en-US" dirty="0">
                <a:latin typeface="Times New Roman" panose="02020603050405020304" pitchFamily="18" charset="0"/>
                <a:cs typeface="Times New Roman" panose="02020603050405020304" pitchFamily="18" charset="0"/>
              </a:rPr>
              <a:t>	It begins with a verb phrase and lack an overt subject.</a:t>
            </a:r>
          </a:p>
          <a:p>
            <a:pPr marL="457200" lvl="1" indent="0">
              <a:buNone/>
            </a:pPr>
            <a:r>
              <a:rPr lang="en-US" dirty="0">
                <a:latin typeface="Times New Roman" panose="02020603050405020304" pitchFamily="18" charset="0"/>
                <a:cs typeface="Times New Roman" panose="02020603050405020304" pitchFamily="18" charset="0"/>
              </a:rPr>
              <a:t>                       S-&gt; VP {IMP(</a:t>
            </a:r>
            <a:r>
              <a:rPr lang="en-US" dirty="0" err="1">
                <a:latin typeface="Times New Roman" panose="02020603050405020304" pitchFamily="18" charset="0"/>
                <a:cs typeface="Times New Roman" panose="02020603050405020304" pitchFamily="18" charset="0"/>
              </a:rPr>
              <a:t>VP.sem</a:t>
            </a:r>
            <a:r>
              <a:rPr lang="en-US" dirty="0">
                <a:latin typeface="Times New Roman" panose="02020603050405020304" pitchFamily="18" charset="0"/>
                <a:cs typeface="Times New Roman" panose="02020603050405020304" pitchFamily="18" charset="0"/>
              </a:rPr>
              <a:t>(Dummy You))} 			∴ IMP is an operator     </a:t>
            </a:r>
          </a:p>
          <a:p>
            <a:pPr marL="0" indent="0">
              <a:buNone/>
            </a:pPr>
            <a:r>
              <a:rPr lang="en-US" sz="2400" dirty="0">
                <a:latin typeface="Times New Roman" panose="02020603050405020304" pitchFamily="18" charset="0"/>
                <a:cs typeface="Times New Roman" panose="02020603050405020304" pitchFamily="18" charset="0"/>
              </a:rPr>
              <a:t>  	</a:t>
            </a:r>
          </a:p>
        </p:txBody>
      </p:sp>
      <p:pic>
        <p:nvPicPr>
          <p:cNvPr id="4" name="Picture 4" descr="DSpace at Air University Islamabad: Home">
            <a:extLst>
              <a:ext uri="{FF2B5EF4-FFF2-40B4-BE49-F238E27FC236}">
                <a16:creationId xmlns="" xmlns:a16="http://schemas.microsoft.com/office/drawing/2014/main" id="{75081653-28C2-495B-8225-81FF1994213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1"/>
            <a:ext cx="914400"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41364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EB9B627-AB2A-478B-B3CB-FEBFC9BE4729}"/>
              </a:ext>
            </a:extLst>
          </p:cNvPr>
          <p:cNvSpPr>
            <a:spLocks noGrp="1"/>
          </p:cNvSpPr>
          <p:nvPr>
            <p:ph type="title"/>
          </p:nvPr>
        </p:nvSpPr>
        <p:spPr>
          <a:xfrm>
            <a:off x="1125414" y="365126"/>
            <a:ext cx="10228385" cy="549276"/>
          </a:xfrm>
        </p:spPr>
        <p:txBody>
          <a:bodyPr>
            <a:normAutofit fontScale="90000"/>
          </a:bodyPr>
          <a:lstStyle/>
          <a:p>
            <a:pPr algn="ctr"/>
            <a:r>
              <a:rPr lang="en-US" b="1" dirty="0">
                <a:latin typeface="Algerian" panose="04020705040A02060702" pitchFamily="82" charset="0"/>
              </a:rPr>
              <a:t>Sentences(Cont...)</a:t>
            </a:r>
            <a:endParaRPr lang="x-none" b="1" dirty="0">
              <a:latin typeface="Algerian" panose="04020705040A02060702" pitchFamily="82" charset="0"/>
            </a:endParaRPr>
          </a:p>
        </p:txBody>
      </p:sp>
      <p:sp>
        <p:nvSpPr>
          <p:cNvPr id="3" name="Content Placeholder 2">
            <a:extLst>
              <a:ext uri="{FF2B5EF4-FFF2-40B4-BE49-F238E27FC236}">
                <a16:creationId xmlns="" xmlns:a16="http://schemas.microsoft.com/office/drawing/2014/main" id="{673FF2C9-D452-434C-8FBC-A099C238938C}"/>
              </a:ext>
            </a:extLst>
          </p:cNvPr>
          <p:cNvSpPr>
            <a:spLocks noGrp="1"/>
          </p:cNvSpPr>
          <p:nvPr>
            <p:ph idx="1"/>
          </p:nvPr>
        </p:nvSpPr>
        <p:spPr>
          <a:xfrm>
            <a:off x="838200" y="1101969"/>
            <a:ext cx="10515600" cy="5215671"/>
          </a:xfrm>
        </p:spPr>
        <p:txBody>
          <a:bodyPr>
            <a:normAutofit fontScale="92500" lnSpcReduction="10000"/>
          </a:bodyPr>
          <a:lstStyle/>
          <a:p>
            <a:pPr>
              <a:buFont typeface="Wingdings" panose="05000000000000000000" pitchFamily="2" charset="2"/>
              <a:buChar char="v"/>
            </a:pPr>
            <a:r>
              <a:rPr lang="en-US" sz="2400" b="1" dirty="0">
                <a:solidFill>
                  <a:schemeClr val="accent5">
                    <a:lumMod val="75000"/>
                  </a:schemeClr>
                </a:solidFill>
                <a:latin typeface="Algerian" panose="04020705040A02060702" pitchFamily="82" charset="0"/>
              </a:rPr>
              <a:t>Yes or no Questions:</a:t>
            </a:r>
            <a:endParaRPr lang="en-US" sz="2400" dirty="0">
              <a:solidFill>
                <a:schemeClr val="accent5">
                  <a:lumMod val="75000"/>
                </a:schemeClr>
              </a:solidFill>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Yes-no-questions consist of a sentence initial auxiliary verb, followed by a subject noun phrase and verb phrase.</a:t>
            </a:r>
          </a:p>
          <a:p>
            <a:r>
              <a:rPr lang="en-US" dirty="0">
                <a:latin typeface="Times New Roman" panose="02020603050405020304" pitchFamily="18" charset="0"/>
                <a:cs typeface="Times New Roman" panose="02020603050405020304" pitchFamily="18" charset="0"/>
              </a:rPr>
              <a:t>The following asemantic attachment simply ignores the auxiliary and with the  exception of the YNQ operator, constructs the same representation that would created for the corresponding declarative sentence.</a:t>
            </a:r>
          </a:p>
          <a:p>
            <a:pPr marL="0" indent="0">
              <a:buNone/>
            </a:pPr>
            <a:r>
              <a:rPr lang="en-US" dirty="0">
                <a:latin typeface="Times New Roman" panose="02020603050405020304" pitchFamily="18" charset="0"/>
                <a:cs typeface="Times New Roman" panose="02020603050405020304" pitchFamily="18" charset="0"/>
              </a:rPr>
              <a:t>	</a:t>
            </a:r>
            <a:r>
              <a:rPr lang="en-US" dirty="0">
                <a:solidFill>
                  <a:schemeClr val="accent2">
                    <a:lumMod val="75000"/>
                  </a:schemeClr>
                </a:solidFill>
                <a:latin typeface="Times New Roman" panose="02020603050405020304" pitchFamily="18" charset="0"/>
                <a:cs typeface="Times New Roman" panose="02020603050405020304" pitchFamily="18" charset="0"/>
              </a:rPr>
              <a:t>S-&gt; Aux NP VP    { YNQ(</a:t>
            </a:r>
            <a:r>
              <a:rPr lang="en-US" dirty="0" err="1">
                <a:solidFill>
                  <a:schemeClr val="accent2">
                    <a:lumMod val="75000"/>
                  </a:schemeClr>
                </a:solidFill>
                <a:latin typeface="Times New Roman" panose="02020603050405020304" pitchFamily="18" charset="0"/>
                <a:cs typeface="Times New Roman" panose="02020603050405020304" pitchFamily="18" charset="0"/>
              </a:rPr>
              <a:t>VP.sem</a:t>
            </a:r>
            <a:r>
              <a:rPr lang="en-US" dirty="0">
                <a:solidFill>
                  <a:schemeClr val="accent2">
                    <a:lumMod val="75000"/>
                  </a:schemeClr>
                </a:solidFill>
                <a:latin typeface="Times New Roman" panose="02020603050405020304" pitchFamily="18" charset="0"/>
                <a:cs typeface="Times New Roman" panose="02020603050405020304" pitchFamily="18" charset="0"/>
              </a:rPr>
              <a:t>(</a:t>
            </a:r>
            <a:r>
              <a:rPr lang="en-US" dirty="0" err="1">
                <a:solidFill>
                  <a:schemeClr val="accent2">
                    <a:lumMod val="75000"/>
                  </a:schemeClr>
                </a:solidFill>
                <a:latin typeface="Times New Roman" panose="02020603050405020304" pitchFamily="18" charset="0"/>
                <a:cs typeface="Times New Roman" panose="02020603050405020304" pitchFamily="18" charset="0"/>
              </a:rPr>
              <a:t>NP.sem</a:t>
            </a:r>
            <a:r>
              <a:rPr lang="en-US" dirty="0">
                <a:solidFill>
                  <a:schemeClr val="accent2">
                    <a:lumMod val="75000"/>
                  </a:schemeClr>
                </a:solidFill>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sz="2400" b="1" dirty="0" err="1">
                <a:solidFill>
                  <a:schemeClr val="accent5">
                    <a:lumMod val="75000"/>
                  </a:schemeClr>
                </a:solidFill>
                <a:latin typeface="Algerian" panose="04020705040A02060702" pitchFamily="82" charset="0"/>
              </a:rPr>
              <a:t>Wh</a:t>
            </a:r>
            <a:r>
              <a:rPr lang="en-US" sz="2400" b="1" dirty="0">
                <a:solidFill>
                  <a:schemeClr val="accent5">
                    <a:lumMod val="75000"/>
                  </a:schemeClr>
                </a:solidFill>
                <a:latin typeface="Algerian" panose="04020705040A02060702" pitchFamily="82" charset="0"/>
              </a:rPr>
              <a:t>-Subject-questions</a:t>
            </a:r>
            <a:r>
              <a:rPr lang="en-US" b="1" dirty="0">
                <a:latin typeface="Algerian" panose="04020705040A02060702" pitchFamily="82" charset="0"/>
              </a:rPr>
              <a:t>:</a:t>
            </a:r>
          </a:p>
          <a:p>
            <a:r>
              <a:rPr lang="en-US" dirty="0" err="1">
                <a:latin typeface="Times New Roman" panose="02020603050405020304" pitchFamily="18" charset="0"/>
                <a:cs typeface="Times New Roman" panose="02020603050405020304" pitchFamily="18" charset="0"/>
              </a:rPr>
              <a:t>Wh</a:t>
            </a:r>
            <a:r>
              <a:rPr lang="en-US" dirty="0">
                <a:latin typeface="Times New Roman" panose="02020603050405020304" pitchFamily="18" charset="0"/>
                <a:cs typeface="Times New Roman" panose="02020603050405020304" pitchFamily="18" charset="0"/>
              </a:rPr>
              <a:t>-subject-questions  ask for specific information about the subject of the sentence rather than the sentence as a whole.</a:t>
            </a:r>
          </a:p>
          <a:p>
            <a:pPr marL="0" indent="0">
              <a:buNone/>
            </a:pPr>
            <a:r>
              <a:rPr lang="en-US" dirty="0">
                <a:latin typeface="Times New Roman" panose="02020603050405020304" pitchFamily="18" charset="0"/>
                <a:cs typeface="Times New Roman" panose="02020603050405020304" pitchFamily="18" charset="0"/>
              </a:rPr>
              <a:t>  	 </a:t>
            </a:r>
            <a:r>
              <a:rPr lang="en-US" dirty="0">
                <a:solidFill>
                  <a:schemeClr val="accent2">
                    <a:lumMod val="75000"/>
                  </a:schemeClr>
                </a:solidFill>
                <a:latin typeface="Times New Roman" panose="02020603050405020304" pitchFamily="18" charset="0"/>
                <a:cs typeface="Times New Roman" panose="02020603050405020304" pitchFamily="18" charset="0"/>
              </a:rPr>
              <a:t>S-&gt; </a:t>
            </a:r>
            <a:r>
              <a:rPr lang="en-US" dirty="0" err="1">
                <a:solidFill>
                  <a:schemeClr val="accent2">
                    <a:lumMod val="75000"/>
                  </a:schemeClr>
                </a:solidFill>
                <a:latin typeface="Times New Roman" panose="02020603050405020304" pitchFamily="18" charset="0"/>
                <a:cs typeface="Times New Roman" panose="02020603050405020304" pitchFamily="18" charset="0"/>
              </a:rPr>
              <a:t>Wh</a:t>
            </a:r>
            <a:r>
              <a:rPr lang="en-US" dirty="0">
                <a:solidFill>
                  <a:schemeClr val="accent2">
                    <a:lumMod val="75000"/>
                  </a:schemeClr>
                </a:solidFill>
                <a:latin typeface="Times New Roman" panose="02020603050405020304" pitchFamily="18" charset="0"/>
                <a:cs typeface="Times New Roman" panose="02020603050405020304" pitchFamily="18" charset="0"/>
              </a:rPr>
              <a:t> Word NP VP    { WHQ(</a:t>
            </a:r>
            <a:r>
              <a:rPr lang="en-US" dirty="0" err="1">
                <a:solidFill>
                  <a:schemeClr val="accent2">
                    <a:lumMod val="75000"/>
                  </a:schemeClr>
                </a:solidFill>
                <a:latin typeface="Times New Roman" panose="02020603050405020304" pitchFamily="18" charset="0"/>
                <a:cs typeface="Times New Roman" panose="02020603050405020304" pitchFamily="18" charset="0"/>
              </a:rPr>
              <a:t>NP.sem,var,VP.sem</a:t>
            </a:r>
            <a:r>
              <a:rPr lang="en-US" dirty="0">
                <a:solidFill>
                  <a:schemeClr val="accent2">
                    <a:lumMod val="75000"/>
                  </a:schemeClr>
                </a:solidFill>
                <a:latin typeface="Times New Roman" panose="02020603050405020304" pitchFamily="18" charset="0"/>
                <a:cs typeface="Times New Roman" panose="02020603050405020304" pitchFamily="18" charset="0"/>
              </a:rPr>
              <a:t>(</a:t>
            </a:r>
            <a:r>
              <a:rPr lang="en-US" dirty="0" err="1">
                <a:solidFill>
                  <a:schemeClr val="accent2">
                    <a:lumMod val="75000"/>
                  </a:schemeClr>
                </a:solidFill>
                <a:latin typeface="Times New Roman" panose="02020603050405020304" pitchFamily="18" charset="0"/>
                <a:cs typeface="Times New Roman" panose="02020603050405020304" pitchFamily="18" charset="0"/>
              </a:rPr>
              <a:t>NP.sem</a:t>
            </a:r>
            <a:r>
              <a:rPr lang="en-US" dirty="0">
                <a:solidFill>
                  <a:schemeClr val="accent2">
                    <a:lumMod val="75000"/>
                  </a:schemeClr>
                </a:solidFill>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WHQ is an operator and we can add variable x tells that what type of question it is.</a:t>
            </a:r>
            <a:endParaRPr lang="x-none">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x-none" dirty="0">
              <a:solidFill>
                <a:schemeClr val="accent2">
                  <a:lumMod val="50000"/>
                </a:schemeClr>
              </a:solidFill>
              <a:latin typeface="Times New Roman" panose="02020603050405020304" pitchFamily="18" charset="0"/>
              <a:cs typeface="Times New Roman" panose="02020603050405020304" pitchFamily="18" charset="0"/>
            </a:endParaRPr>
          </a:p>
        </p:txBody>
      </p:sp>
      <p:pic>
        <p:nvPicPr>
          <p:cNvPr id="4" name="Picture 4" descr="DSpace at Air University Islamabad: Home">
            <a:extLst>
              <a:ext uri="{FF2B5EF4-FFF2-40B4-BE49-F238E27FC236}">
                <a16:creationId xmlns="" xmlns:a16="http://schemas.microsoft.com/office/drawing/2014/main" id="{39F3F569-DBA8-449B-8962-A63C976497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1"/>
            <a:ext cx="914400"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91397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7AF6D02-1472-4328-8AE0-4B0973E05E6A}"/>
              </a:ext>
            </a:extLst>
          </p:cNvPr>
          <p:cNvSpPr>
            <a:spLocks noGrp="1"/>
          </p:cNvSpPr>
          <p:nvPr>
            <p:ph type="title"/>
          </p:nvPr>
        </p:nvSpPr>
        <p:spPr>
          <a:xfrm>
            <a:off x="838200" y="500062"/>
            <a:ext cx="10515600" cy="1325563"/>
          </a:xfrm>
        </p:spPr>
        <p:txBody>
          <a:bodyPr/>
          <a:lstStyle/>
          <a:p>
            <a:pPr algn="ctr"/>
            <a:r>
              <a:rPr lang="en-US" b="1" dirty="0">
                <a:latin typeface="Algerian" panose="04020705040A02060702" pitchFamily="82" charset="0"/>
              </a:rPr>
              <a:t>2. Noun Phrases</a:t>
            </a:r>
            <a:endParaRPr lang="x-none" b="1" dirty="0">
              <a:latin typeface="Algerian" panose="04020705040A02060702" pitchFamily="82" charset="0"/>
            </a:endParaRPr>
          </a:p>
        </p:txBody>
      </p:sp>
      <p:sp>
        <p:nvSpPr>
          <p:cNvPr id="3" name="Content Placeholder 2">
            <a:extLst>
              <a:ext uri="{FF2B5EF4-FFF2-40B4-BE49-F238E27FC236}">
                <a16:creationId xmlns="" xmlns:a16="http://schemas.microsoft.com/office/drawing/2014/main" id="{8ACED71C-AF08-4F04-899A-39C9A969716B}"/>
              </a:ext>
            </a:extLst>
          </p:cNvPr>
          <p:cNvSpPr>
            <a:spLocks noGrp="1"/>
          </p:cNvSpPr>
          <p:nvPr>
            <p:ph idx="1"/>
          </p:nvPr>
        </p:nvSpPr>
        <p:spPr>
          <a:xfrm>
            <a:off x="372533" y="2006599"/>
            <a:ext cx="10981267" cy="4614333"/>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Compound Nominals</a:t>
            </a:r>
            <a:r>
              <a:rPr lang="en-US" sz="2400" dirty="0">
                <a:latin typeface="Times New Roman" panose="02020603050405020304" pitchFamily="18" charset="0"/>
                <a:cs typeface="Times New Roman" panose="02020603050405020304" pitchFamily="18" charset="0"/>
              </a:rPr>
              <a:t>: Compound Nominals also known as noun-noun sequences consist of simple sequences of nouns .</a:t>
            </a:r>
          </a:p>
          <a:p>
            <a:pPr marL="0" indent="0">
              <a:buNone/>
            </a:pPr>
            <a:r>
              <a:rPr lang="en-US" sz="2400" b="1" u="sng" dirty="0">
                <a:latin typeface="Times New Roman" panose="02020603050405020304" pitchFamily="18" charset="0"/>
                <a:cs typeface="Times New Roman" panose="02020603050405020304" pitchFamily="18" charset="0"/>
              </a:rPr>
              <a:t>Example:</a:t>
            </a:r>
          </a:p>
          <a:p>
            <a:r>
              <a:rPr lang="en-US" sz="2400" dirty="0">
                <a:latin typeface="Times New Roman" panose="02020603050405020304" pitchFamily="18" charset="0"/>
                <a:cs typeface="Times New Roman" panose="02020603050405020304" pitchFamily="18" charset="0"/>
              </a:rPr>
              <a:t>Flight schedule</a:t>
            </a:r>
          </a:p>
          <a:p>
            <a:r>
              <a:rPr lang="en-US" sz="2400" dirty="0">
                <a:latin typeface="Times New Roman" panose="02020603050405020304" pitchFamily="18" charset="0"/>
                <a:cs typeface="Times New Roman" panose="02020603050405020304" pitchFamily="18" charset="0"/>
              </a:rPr>
              <a:t>Summer flight schedule</a:t>
            </a:r>
          </a:p>
          <a:p>
            <a:pPr marL="0" indent="0">
              <a:buNone/>
            </a:pPr>
            <a:r>
              <a:rPr lang="en-US" sz="2400" dirty="0">
                <a:latin typeface="Times New Roman" panose="02020603050405020304" pitchFamily="18" charset="0"/>
                <a:cs typeface="Times New Roman" panose="02020603050405020304" pitchFamily="18" charset="0"/>
              </a:rPr>
              <a:t>Both sentences contain only the nouns. The word schedule is taken as a head of the noun and remaining noun denoted as NN.</a:t>
            </a:r>
          </a:p>
          <a:p>
            <a:pPr marL="457200" lvl="1" indent="0">
              <a:buNone/>
            </a:pPr>
            <a:r>
              <a:rPr lang="el-GR" dirty="0">
                <a:latin typeface="Times New Roman" panose="02020603050405020304" pitchFamily="18" charset="0"/>
                <a:cs typeface="Times New Roman" panose="02020603050405020304" pitchFamily="18" charset="0"/>
              </a:rPr>
              <a:t>λ</a:t>
            </a:r>
            <a:r>
              <a:rPr lang="en-US" dirty="0" err="1">
                <a:latin typeface="Times New Roman" panose="02020603050405020304" pitchFamily="18" charset="0"/>
                <a:cs typeface="Times New Roman" panose="02020603050405020304" pitchFamily="18" charset="0"/>
              </a:rPr>
              <a:t>x.Schedule</a:t>
            </a:r>
            <a:r>
              <a:rPr lang="en-US" dirty="0">
                <a:latin typeface="Times New Roman" panose="02020603050405020304" pitchFamily="18" charset="0"/>
                <a:cs typeface="Times New Roman" panose="02020603050405020304" pitchFamily="18" charset="0"/>
              </a:rPr>
              <a:t>(x) ∧ NN(</a:t>
            </a:r>
            <a:r>
              <a:rPr lang="en-US" dirty="0" err="1">
                <a:latin typeface="Times New Roman" panose="02020603050405020304" pitchFamily="18" charset="0"/>
                <a:cs typeface="Times New Roman" panose="02020603050405020304" pitchFamily="18" charset="0"/>
              </a:rPr>
              <a:t>x,Flight</a:t>
            </a:r>
            <a:r>
              <a:rPr lang="en-US" dirty="0">
                <a:latin typeface="Times New Roman" panose="02020603050405020304" pitchFamily="18" charset="0"/>
                <a:cs typeface="Times New Roman" panose="02020603050405020304" pitchFamily="18" charset="0"/>
              </a:rPr>
              <a:t>) </a:t>
            </a:r>
          </a:p>
          <a:p>
            <a:pPr marL="457200" lvl="1" indent="0">
              <a:buNone/>
            </a:pPr>
            <a:r>
              <a:rPr lang="el-GR" dirty="0">
                <a:latin typeface="Times New Roman" panose="02020603050405020304" pitchFamily="18" charset="0"/>
                <a:cs typeface="Times New Roman" panose="02020603050405020304" pitchFamily="18" charset="0"/>
              </a:rPr>
              <a:t>λ</a:t>
            </a:r>
            <a:r>
              <a:rPr lang="en-US" dirty="0" err="1">
                <a:latin typeface="Times New Roman" panose="02020603050405020304" pitchFamily="18" charset="0"/>
                <a:cs typeface="Times New Roman" panose="02020603050405020304" pitchFamily="18" charset="0"/>
              </a:rPr>
              <a:t>x.Schedule</a:t>
            </a:r>
            <a:r>
              <a:rPr lang="en-US" dirty="0">
                <a:latin typeface="Times New Roman" panose="02020603050405020304" pitchFamily="18" charset="0"/>
                <a:cs typeface="Times New Roman" panose="02020603050405020304" pitchFamily="18" charset="0"/>
              </a:rPr>
              <a:t>(x)∧NN(</a:t>
            </a:r>
            <a:r>
              <a:rPr lang="en-US" dirty="0" err="1">
                <a:latin typeface="Times New Roman" panose="02020603050405020304" pitchFamily="18" charset="0"/>
                <a:cs typeface="Times New Roman" panose="02020603050405020304" pitchFamily="18" charset="0"/>
              </a:rPr>
              <a:t>x,Flight</a:t>
            </a:r>
            <a:r>
              <a:rPr lang="en-US" dirty="0">
                <a:latin typeface="Times New Roman" panose="02020603050405020304" pitchFamily="18" charset="0"/>
                <a:cs typeface="Times New Roman" panose="02020603050405020304" pitchFamily="18" charset="0"/>
              </a:rPr>
              <a:t>)∧NN(</a:t>
            </a:r>
            <a:r>
              <a:rPr lang="en-US" dirty="0" err="1">
                <a:latin typeface="Times New Roman" panose="02020603050405020304" pitchFamily="18" charset="0"/>
                <a:cs typeface="Times New Roman" panose="02020603050405020304" pitchFamily="18" charset="0"/>
              </a:rPr>
              <a:t>x,Summer</a:t>
            </a:r>
            <a:r>
              <a:rPr lang="en-US" dirty="0">
                <a:latin typeface="Times New Roman" panose="02020603050405020304" pitchFamily="18" charset="0"/>
                <a:cs typeface="Times New Roman" panose="02020603050405020304" pitchFamily="18" charset="0"/>
              </a:rPr>
              <a:t>)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x-none" dirty="0"/>
          </a:p>
        </p:txBody>
      </p:sp>
      <p:pic>
        <p:nvPicPr>
          <p:cNvPr id="4" name="Picture 4" descr="DSpace at Air University Islamabad: Home">
            <a:extLst>
              <a:ext uri="{FF2B5EF4-FFF2-40B4-BE49-F238E27FC236}">
                <a16:creationId xmlns="" xmlns:a16="http://schemas.microsoft.com/office/drawing/2014/main" id="{69813539-DE2A-41E8-95E8-78282C01CE8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1"/>
            <a:ext cx="914400"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51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9FF445C-665E-4654-95E4-EAED8FAFF68B}"/>
              </a:ext>
            </a:extLst>
          </p:cNvPr>
          <p:cNvSpPr>
            <a:spLocks noGrp="1"/>
          </p:cNvSpPr>
          <p:nvPr>
            <p:ph type="title"/>
          </p:nvPr>
        </p:nvSpPr>
        <p:spPr/>
        <p:txBody>
          <a:bodyPr/>
          <a:lstStyle/>
          <a:p>
            <a:pPr algn="ctr"/>
            <a:r>
              <a:rPr lang="en-US" b="1" dirty="0">
                <a:latin typeface="Algerian" panose="04020705040A02060702" pitchFamily="82" charset="0"/>
              </a:rPr>
              <a:t>2. Noun Phrases</a:t>
            </a:r>
            <a:endParaRPr lang="x-none" b="1" dirty="0">
              <a:latin typeface="Algerian" panose="04020705040A02060702" pitchFamily="82" charset="0"/>
            </a:endParaRPr>
          </a:p>
        </p:txBody>
      </p:sp>
      <p:sp>
        <p:nvSpPr>
          <p:cNvPr id="3" name="Content Placeholder 2">
            <a:extLst>
              <a:ext uri="{FF2B5EF4-FFF2-40B4-BE49-F238E27FC236}">
                <a16:creationId xmlns="" xmlns:a16="http://schemas.microsoft.com/office/drawing/2014/main" id="{E14827D4-C1F8-4CF8-AA77-FBF3303DBC0C}"/>
              </a:ext>
            </a:extLst>
          </p:cNvPr>
          <p:cNvSpPr>
            <a:spLocks noGrp="1"/>
          </p:cNvSpPr>
          <p:nvPr>
            <p:ph idx="1"/>
          </p:nvPr>
        </p:nvSpPr>
        <p:spPr>
          <a:xfrm>
            <a:off x="253999" y="1825625"/>
            <a:ext cx="11819467" cy="4667250"/>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Genitive Noun Phrases </a:t>
            </a:r>
            <a:r>
              <a:rPr lang="en-US" sz="2400" dirty="0">
                <a:latin typeface="Times New Roman" panose="02020603050405020304" pitchFamily="18" charset="0"/>
                <a:cs typeface="Times New Roman" panose="02020603050405020304" pitchFamily="18" charset="0"/>
              </a:rPr>
              <a:t>Genitive Noun Phrases make use of complex determiners that consist of noun phrases with possessive markers, as in ‘Atlanta’s airport’ and ‘Maharani’s menu’.</a:t>
            </a:r>
          </a:p>
          <a:p>
            <a:pPr marL="0" indent="0">
              <a:buNone/>
            </a:pPr>
            <a:r>
              <a:rPr lang="en-US" sz="2400" dirty="0">
                <a:latin typeface="Times New Roman" panose="02020603050405020304" pitchFamily="18" charset="0"/>
                <a:cs typeface="Times New Roman" panose="02020603050405020304" pitchFamily="18" charset="0"/>
              </a:rPr>
              <a:t>    NP → </a:t>
            </a:r>
            <a:r>
              <a:rPr lang="en-US" sz="2400" dirty="0" err="1">
                <a:latin typeface="Times New Roman" panose="02020603050405020304" pitchFamily="18" charset="0"/>
                <a:cs typeface="Times New Roman" panose="02020603050405020304" pitchFamily="18" charset="0"/>
              </a:rPr>
              <a:t>ComplexDet</a:t>
            </a:r>
            <a:r>
              <a:rPr lang="en-US" sz="2400" dirty="0">
                <a:latin typeface="Times New Roman" panose="02020603050405020304" pitchFamily="18" charset="0"/>
                <a:cs typeface="Times New Roman" panose="02020603050405020304" pitchFamily="18" charset="0"/>
              </a:rPr>
              <a:t> Nominal   </a:t>
            </a:r>
          </a:p>
          <a:p>
            <a:pPr marL="0" indent="0">
              <a:buNone/>
            </a:pPr>
            <a:r>
              <a:rPr lang="en-US" sz="2400" dirty="0">
                <a:latin typeface="Times New Roman" panose="02020603050405020304" pitchFamily="18" charset="0"/>
                <a:cs typeface="Times New Roman" panose="02020603050405020304" pitchFamily="18" charset="0"/>
              </a:rPr>
              <a:t>           {&lt;∃</a:t>
            </a:r>
            <a:r>
              <a:rPr lang="en-US" sz="2400" dirty="0" err="1">
                <a:latin typeface="Times New Roman" panose="02020603050405020304" pitchFamily="18" charset="0"/>
                <a:cs typeface="Times New Roman" panose="02020603050405020304" pitchFamily="18" charset="0"/>
              </a:rPr>
              <a:t>xNominal.sem</a:t>
            </a:r>
            <a:r>
              <a:rPr lang="en-US" sz="2400" dirty="0">
                <a:latin typeface="Times New Roman" panose="02020603050405020304" pitchFamily="18" charset="0"/>
                <a:cs typeface="Times New Roman" panose="02020603050405020304" pitchFamily="18" charset="0"/>
              </a:rPr>
              <a:t>(x)∧GN(</a:t>
            </a:r>
            <a:r>
              <a:rPr lang="en-US" sz="2400" dirty="0" err="1">
                <a:latin typeface="Times New Roman" panose="02020603050405020304" pitchFamily="18" charset="0"/>
                <a:cs typeface="Times New Roman" panose="02020603050405020304" pitchFamily="18" charset="0"/>
              </a:rPr>
              <a:t>x,ComplexDet.sem</a:t>
            </a:r>
            <a:r>
              <a:rPr lang="en-US" sz="2400" dirty="0">
                <a:latin typeface="Times New Roman" panose="02020603050405020304" pitchFamily="18" charset="0"/>
                <a:cs typeface="Times New Roman" panose="02020603050405020304" pitchFamily="18" charset="0"/>
              </a:rPr>
              <a:t>)&gt;} </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Applying these rules to Atlanta’s airport results in the following complex-term:</a:t>
            </a:r>
          </a:p>
          <a:p>
            <a:pPr marL="0" indent="0">
              <a:buNone/>
            </a:pPr>
            <a:r>
              <a:rPr lang="en-US" sz="2400" dirty="0">
                <a:latin typeface="Times New Roman" panose="02020603050405020304" pitchFamily="18" charset="0"/>
                <a:cs typeface="Times New Roman" panose="02020603050405020304" pitchFamily="18" charset="0"/>
              </a:rPr>
              <a:t>         &lt; ∃</a:t>
            </a:r>
            <a:r>
              <a:rPr lang="en-US" sz="2400" dirty="0" err="1">
                <a:latin typeface="Times New Roman" panose="02020603050405020304" pitchFamily="18" charset="0"/>
                <a:cs typeface="Times New Roman" panose="02020603050405020304" pitchFamily="18" charset="0"/>
              </a:rPr>
              <a:t>xIsa</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x,Airport</a:t>
            </a:r>
            <a:r>
              <a:rPr lang="en-US" sz="2400" dirty="0">
                <a:latin typeface="Times New Roman" panose="02020603050405020304" pitchFamily="18" charset="0"/>
                <a:cs typeface="Times New Roman" panose="02020603050405020304" pitchFamily="18" charset="0"/>
              </a:rPr>
              <a:t>)∧GN(</a:t>
            </a:r>
            <a:r>
              <a:rPr lang="en-US" sz="2400" dirty="0" err="1">
                <a:latin typeface="Times New Roman" panose="02020603050405020304" pitchFamily="18" charset="0"/>
                <a:cs typeface="Times New Roman" panose="02020603050405020304" pitchFamily="18" charset="0"/>
              </a:rPr>
              <a:t>x,Atlanta</a:t>
            </a:r>
            <a:r>
              <a:rPr lang="en-US" sz="2400" dirty="0">
                <a:latin typeface="Times New Roman" panose="02020603050405020304" pitchFamily="18" charset="0"/>
                <a:cs typeface="Times New Roman" panose="02020603050405020304" pitchFamily="18" charset="0"/>
              </a:rPr>
              <a:t>) &gt;</a:t>
            </a:r>
            <a:endParaRPr lang="x-none" sz="2400" dirty="0">
              <a:latin typeface="Times New Roman" panose="02020603050405020304" pitchFamily="18" charset="0"/>
              <a:cs typeface="Times New Roman" panose="02020603050405020304" pitchFamily="18" charset="0"/>
            </a:endParaRPr>
          </a:p>
          <a:p>
            <a:pPr marL="0" indent="0">
              <a:buNone/>
            </a:pPr>
            <a:endParaRPr lang="x-none" dirty="0"/>
          </a:p>
        </p:txBody>
      </p:sp>
      <p:pic>
        <p:nvPicPr>
          <p:cNvPr id="4" name="Picture 4" descr="DSpace at Air University Islamabad: Home">
            <a:extLst>
              <a:ext uri="{FF2B5EF4-FFF2-40B4-BE49-F238E27FC236}">
                <a16:creationId xmlns="" xmlns:a16="http://schemas.microsoft.com/office/drawing/2014/main" id="{A06201DF-1438-41E7-9E3D-435AC52FC7A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1"/>
            <a:ext cx="914400"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10166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219125-F861-44FB-B5D0-08A41BFFC1AB}"/>
              </a:ext>
            </a:extLst>
          </p:cNvPr>
          <p:cNvSpPr>
            <a:spLocks noGrp="1"/>
          </p:cNvSpPr>
          <p:nvPr>
            <p:ph type="title"/>
          </p:nvPr>
        </p:nvSpPr>
        <p:spPr>
          <a:xfrm>
            <a:off x="134815" y="-126609"/>
            <a:ext cx="10515600" cy="1325563"/>
          </a:xfrm>
        </p:spPr>
        <p:txBody>
          <a:bodyPr/>
          <a:lstStyle/>
          <a:p>
            <a:pPr algn="ctr"/>
            <a:r>
              <a:rPr lang="en-US" b="1" dirty="0">
                <a:latin typeface="Algerian" panose="04020705040A02060702" pitchFamily="82" charset="0"/>
              </a:rPr>
              <a:t>3.Verb Phrases</a:t>
            </a:r>
            <a:endParaRPr lang="x-none" b="1" dirty="0">
              <a:latin typeface="Algerian" panose="04020705040A02060702" pitchFamily="82" charset="0"/>
            </a:endParaRPr>
          </a:p>
        </p:txBody>
      </p:sp>
      <p:sp>
        <p:nvSpPr>
          <p:cNvPr id="3" name="Content Placeholder 2">
            <a:extLst>
              <a:ext uri="{FF2B5EF4-FFF2-40B4-BE49-F238E27FC236}">
                <a16:creationId xmlns="" xmlns:a16="http://schemas.microsoft.com/office/drawing/2014/main" id="{1C83D416-4F09-4715-82C1-77FC402EEEBF}"/>
              </a:ext>
            </a:extLst>
          </p:cNvPr>
          <p:cNvSpPr>
            <a:spLocks noGrp="1"/>
          </p:cNvSpPr>
          <p:nvPr>
            <p:ph idx="1"/>
          </p:nvPr>
        </p:nvSpPr>
        <p:spPr>
          <a:xfrm>
            <a:off x="304800" y="873160"/>
            <a:ext cx="11049000" cy="568003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λ-expression attached to the verb is simply applied to the semantic attachments of the verb’s arguments.</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b="1" u="sng" dirty="0">
                <a:latin typeface="Times New Roman" panose="02020603050405020304" pitchFamily="18" charset="0"/>
                <a:cs typeface="Times New Roman" panose="02020603050405020304" pitchFamily="18" charset="0"/>
              </a:rPr>
              <a:t>Infinitive Verb Phrases :</a:t>
            </a:r>
          </a:p>
          <a:p>
            <a:pPr marL="0" indent="0">
              <a:buNone/>
            </a:pPr>
            <a:r>
              <a:rPr lang="en-US" sz="2400" dirty="0">
                <a:latin typeface="Times New Roman" panose="02020603050405020304" pitchFamily="18" charset="0"/>
                <a:cs typeface="Times New Roman" panose="02020603050405020304" pitchFamily="18" charset="0"/>
              </a:rPr>
              <a:t>    I told Harry to go to Maharani. </a:t>
            </a:r>
          </a:p>
          <a:p>
            <a:pPr marL="0" indent="0">
              <a:buNone/>
            </a:pPr>
            <a:r>
              <a:rPr lang="en-US" sz="2400" dirty="0">
                <a:latin typeface="Times New Roman" panose="02020603050405020304" pitchFamily="18" charset="0"/>
                <a:cs typeface="Times New Roman" panose="02020603050405020304" pitchFamily="18" charset="0"/>
              </a:rPr>
              <a:t> The meaning representation for this example should be something    like the following:</a:t>
            </a:r>
          </a:p>
          <a:p>
            <a:pPr marL="0" indent="0" algn="ctr">
              <a:buNone/>
            </a:pP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e,f,xIsa</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e,Telling</a:t>
            </a:r>
            <a:r>
              <a:rPr lang="en-US" sz="2400" dirty="0">
                <a:latin typeface="Times New Roman" panose="02020603050405020304" pitchFamily="18" charset="0"/>
                <a:cs typeface="Times New Roman" panose="02020603050405020304" pitchFamily="18" charset="0"/>
              </a:rPr>
              <a:t>)∧Isa(</a:t>
            </a:r>
            <a:r>
              <a:rPr lang="en-US" sz="2400" dirty="0" err="1">
                <a:latin typeface="Times New Roman" panose="02020603050405020304" pitchFamily="18" charset="0"/>
                <a:cs typeface="Times New Roman" panose="02020603050405020304" pitchFamily="18" charset="0"/>
              </a:rPr>
              <a:t>f,Going</a:t>
            </a:r>
            <a:r>
              <a:rPr lang="en-US" sz="2400" dirty="0">
                <a:latin typeface="Times New Roman" panose="02020603050405020304" pitchFamily="18" charset="0"/>
                <a:cs typeface="Times New Roman" panose="02020603050405020304" pitchFamily="18" charset="0"/>
              </a:rPr>
              <a:t>)∧Teller(</a:t>
            </a:r>
            <a:r>
              <a:rPr lang="en-US" sz="2400" dirty="0" err="1">
                <a:latin typeface="Times New Roman" panose="02020603050405020304" pitchFamily="18" charset="0"/>
                <a:cs typeface="Times New Roman" panose="02020603050405020304" pitchFamily="18" charset="0"/>
              </a:rPr>
              <a:t>e,Speaker</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Tellee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e,Harry</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ToldThing</a:t>
            </a:r>
            <a:r>
              <a:rPr lang="en-US" sz="2400" dirty="0">
                <a:latin typeface="Times New Roman" panose="02020603050405020304" pitchFamily="18" charset="0"/>
                <a:cs typeface="Times New Roman" panose="02020603050405020304" pitchFamily="18" charset="0"/>
              </a:rPr>
              <a:t>(e, f) ∧Goer(</a:t>
            </a:r>
            <a:r>
              <a:rPr lang="en-US" sz="2400" dirty="0" err="1">
                <a:latin typeface="Times New Roman" panose="02020603050405020304" pitchFamily="18" charset="0"/>
                <a:cs typeface="Times New Roman" panose="02020603050405020304" pitchFamily="18" charset="0"/>
              </a:rPr>
              <a:t>f,Harry</a:t>
            </a:r>
            <a:r>
              <a:rPr lang="en-US" sz="2400" dirty="0">
                <a:latin typeface="Times New Roman" panose="02020603050405020304" pitchFamily="18" charset="0"/>
                <a:cs typeface="Times New Roman" panose="02020603050405020304" pitchFamily="18" charset="0"/>
              </a:rPr>
              <a:t>)∧Destination(</a:t>
            </a:r>
            <a:r>
              <a:rPr lang="en-US" sz="2400" dirty="0" err="1">
                <a:latin typeface="Times New Roman" panose="02020603050405020304" pitchFamily="18" charset="0"/>
                <a:cs typeface="Times New Roman" panose="02020603050405020304" pitchFamily="18" charset="0"/>
              </a:rPr>
              <a:t>f,x</a:t>
            </a:r>
            <a:r>
              <a:rPr lang="en-US" sz="2400" dirty="0">
                <a:latin typeface="Times New Roman" panose="02020603050405020304" pitchFamily="18" charset="0"/>
                <a:cs typeface="Times New Roman" panose="02020603050405020304" pitchFamily="18" charset="0"/>
              </a:rPr>
              <a:t>)</a:t>
            </a:r>
            <a:endParaRPr lang="x-none"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8138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9CC315F-D705-404D-B429-069AAE0AF93A}"/>
              </a:ext>
            </a:extLst>
          </p:cNvPr>
          <p:cNvSpPr>
            <a:spLocks noGrp="1"/>
          </p:cNvSpPr>
          <p:nvPr>
            <p:ph type="title"/>
          </p:nvPr>
        </p:nvSpPr>
        <p:spPr/>
        <p:txBody>
          <a:bodyPr/>
          <a:lstStyle/>
          <a:p>
            <a:pPr algn="ctr"/>
            <a:r>
              <a:rPr lang="en-US" b="1" dirty="0">
                <a:latin typeface="Algerian" panose="04020705040A02060702" pitchFamily="82" charset="0"/>
              </a:rPr>
              <a:t>Implementation</a:t>
            </a:r>
            <a:endParaRPr lang="x-none" b="1" dirty="0">
              <a:latin typeface="Algerian" panose="04020705040A02060702" pitchFamily="82" charset="0"/>
            </a:endParaRPr>
          </a:p>
        </p:txBody>
      </p:sp>
      <p:sp>
        <p:nvSpPr>
          <p:cNvPr id="3" name="Content Placeholder 2">
            <a:extLst>
              <a:ext uri="{FF2B5EF4-FFF2-40B4-BE49-F238E27FC236}">
                <a16:creationId xmlns="" xmlns:a16="http://schemas.microsoft.com/office/drawing/2014/main" id="{C2C98285-7AE4-44B6-9C3C-A9DFAD1C76D3}"/>
              </a:ext>
            </a:extLst>
          </p:cNvPr>
          <p:cNvSpPr>
            <a:spLocks noGrp="1"/>
          </p:cNvSpPr>
          <p:nvPr>
            <p:ph idx="1"/>
          </p:nvPr>
        </p:nvSpPr>
        <p:spPr>
          <a:xfrm>
            <a:off x="404192" y="1690688"/>
            <a:ext cx="10949608" cy="4486275"/>
          </a:xfrm>
        </p:spPr>
        <p:txBody>
          <a:bodyPr>
            <a:normAutofit/>
          </a:bodyPr>
          <a:lstStyle/>
          <a:p>
            <a:pPr marL="0" indent="0">
              <a:buNone/>
            </a:pPr>
            <a:r>
              <a:rPr lang="en-US" b="1" u="sng" dirty="0">
                <a:solidFill>
                  <a:srgbClr val="000000"/>
                </a:solidFill>
                <a:latin typeface="Times New Roman" panose="02020603050405020304" pitchFamily="18" charset="0"/>
                <a:cs typeface="Times New Roman" panose="02020603050405020304" pitchFamily="18" charset="0"/>
              </a:rPr>
              <a:t>Meaning and Synonym</a:t>
            </a:r>
          </a:p>
          <a:p>
            <a:pPr marL="0" indent="0">
              <a:buNone/>
            </a:pPr>
            <a:endParaRPr lang="en-US" sz="3100" b="1" u="sng" dirty="0">
              <a:solidFill>
                <a:srgbClr val="000000"/>
              </a:solidFill>
              <a:latin typeface="Courier New" panose="02070309020205020404" pitchFamily="49" charset="0"/>
            </a:endParaRPr>
          </a:p>
          <a:p>
            <a:pPr marL="0" indent="0">
              <a:buNone/>
            </a:pPr>
            <a:endParaRPr lang="en-US" b="0" dirty="0">
              <a:solidFill>
                <a:srgbClr val="000000"/>
              </a:solidFill>
              <a:effectLst/>
              <a:latin typeface="Courier New" panose="02070309020205020404" pitchFamily="49" charset="0"/>
            </a:endParaRPr>
          </a:p>
          <a:p>
            <a:endParaRPr lang="x-none" dirty="0"/>
          </a:p>
        </p:txBody>
      </p:sp>
      <p:pic>
        <p:nvPicPr>
          <p:cNvPr id="4" name="Content Placeholder 4">
            <a:extLst>
              <a:ext uri="{FF2B5EF4-FFF2-40B4-BE49-F238E27FC236}">
                <a16:creationId xmlns="" xmlns:a16="http://schemas.microsoft.com/office/drawing/2014/main" id="{35D3146A-7443-46DF-967D-99BE4C89C6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192" y="2489545"/>
            <a:ext cx="11615530" cy="3687418"/>
          </a:xfrm>
          <a:prstGeom prst="rect">
            <a:avLst/>
          </a:prstGeom>
        </p:spPr>
      </p:pic>
      <p:pic>
        <p:nvPicPr>
          <p:cNvPr id="5" name="Picture 4" descr="DSpace at Air University Islamabad: Home">
            <a:extLst>
              <a:ext uri="{FF2B5EF4-FFF2-40B4-BE49-F238E27FC236}">
                <a16:creationId xmlns="" xmlns:a16="http://schemas.microsoft.com/office/drawing/2014/main" id="{08BEA577-B3B0-4566-A5FA-D883D94D418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 y="1"/>
            <a:ext cx="914400"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05192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22F5A1F-79A2-4016-B49C-CB4DFB57955D}"/>
              </a:ext>
            </a:extLst>
          </p:cNvPr>
          <p:cNvSpPr>
            <a:spLocks noGrp="1"/>
          </p:cNvSpPr>
          <p:nvPr>
            <p:ph type="title"/>
          </p:nvPr>
        </p:nvSpPr>
        <p:spPr/>
        <p:txBody>
          <a:bodyPr/>
          <a:lstStyle/>
          <a:p>
            <a:pPr algn="ctr"/>
            <a:r>
              <a:rPr lang="en-US" b="1" dirty="0">
                <a:latin typeface="Algerian" panose="04020705040A02060702" pitchFamily="82" charset="0"/>
              </a:rPr>
              <a:t>Synonyms And Antonyms</a:t>
            </a:r>
            <a:endParaRPr lang="x-none" b="1" dirty="0">
              <a:latin typeface="Algerian" panose="04020705040A02060702" pitchFamily="82" charset="0"/>
            </a:endParaRPr>
          </a:p>
        </p:txBody>
      </p:sp>
      <p:pic>
        <p:nvPicPr>
          <p:cNvPr id="7" name="Picture 6">
            <a:extLst>
              <a:ext uri="{FF2B5EF4-FFF2-40B4-BE49-F238E27FC236}">
                <a16:creationId xmlns="" xmlns:a16="http://schemas.microsoft.com/office/drawing/2014/main" id="{3D48E357-D7EA-46E3-98D6-9CDCE7FD1E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286" y="1789043"/>
            <a:ext cx="11834191" cy="4274132"/>
          </a:xfrm>
          <a:prstGeom prst="rect">
            <a:avLst/>
          </a:prstGeom>
        </p:spPr>
      </p:pic>
      <p:pic>
        <p:nvPicPr>
          <p:cNvPr id="4" name="Picture 4" descr="DSpace at Air University Islamabad: Home">
            <a:extLst>
              <a:ext uri="{FF2B5EF4-FFF2-40B4-BE49-F238E27FC236}">
                <a16:creationId xmlns="" xmlns:a16="http://schemas.microsoft.com/office/drawing/2014/main" id="{C3ABD8E8-D936-4417-A798-5A237930548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 y="1"/>
            <a:ext cx="914400"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9110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DA7B205-0594-448B-9769-74E2272717EF}"/>
              </a:ext>
            </a:extLst>
          </p:cNvPr>
          <p:cNvSpPr>
            <a:spLocks noGrp="1"/>
          </p:cNvSpPr>
          <p:nvPr>
            <p:ph type="title"/>
          </p:nvPr>
        </p:nvSpPr>
        <p:spPr/>
        <p:txBody>
          <a:bodyPr/>
          <a:lstStyle/>
          <a:p>
            <a:pPr algn="ctr"/>
            <a:r>
              <a:rPr lang="en-US" b="1" dirty="0">
                <a:latin typeface="Algerian" panose="04020705040A02060702" pitchFamily="82" charset="0"/>
              </a:rPr>
              <a:t>Summing Up</a:t>
            </a:r>
            <a:endParaRPr lang="x-none" b="1" dirty="0">
              <a:latin typeface="Algerian" panose="04020705040A02060702" pitchFamily="82" charset="0"/>
            </a:endParaRPr>
          </a:p>
        </p:txBody>
      </p:sp>
      <p:sp>
        <p:nvSpPr>
          <p:cNvPr id="3" name="Content Placeholder 2">
            <a:extLst>
              <a:ext uri="{FF2B5EF4-FFF2-40B4-BE49-F238E27FC236}">
                <a16:creationId xmlns="" xmlns:a16="http://schemas.microsoft.com/office/drawing/2014/main" id="{913E3CEC-3E1D-43B6-8600-B9F5E38F67D4}"/>
              </a:ext>
            </a:extLst>
          </p:cNvPr>
          <p:cNvSpPr>
            <a:spLocks noGrp="1"/>
          </p:cNvSpPr>
          <p:nvPr>
            <p:ph idx="1"/>
          </p:nvPr>
        </p:nvSpPr>
        <p:spPr/>
        <p:txBody>
          <a:bodyPr/>
          <a:lstStyle/>
          <a:p>
            <a:pPr marL="457200" indent="-4572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Principle of Compositionality</a:t>
            </a:r>
          </a:p>
          <a:p>
            <a:pPr algn="l"/>
            <a:r>
              <a:rPr lang="en-US" sz="2400" dirty="0">
                <a:latin typeface="Times New Roman" panose="02020603050405020304" pitchFamily="18" charset="0"/>
                <a:cs typeface="Times New Roman" panose="02020603050405020304" pitchFamily="18" charset="0"/>
              </a:rPr>
              <a:t>Semantics of NL sentences and phrases can be composed from the semantics of their subparts</a:t>
            </a:r>
          </a:p>
          <a:p>
            <a:pPr marL="457200" indent="-4572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Rules can be derived which map syntactic analysis to semantic representation (Rule to Rule Hypothesis)</a:t>
            </a:r>
          </a:p>
          <a:p>
            <a:pPr lvl="1" algn="l"/>
            <a:r>
              <a:rPr lang="en-US" dirty="0">
                <a:latin typeface="Times New Roman" panose="02020603050405020304" pitchFamily="18" charset="0"/>
                <a:cs typeface="Times New Roman" panose="02020603050405020304" pitchFamily="18" charset="0"/>
              </a:rPr>
              <a:t>	Lambda notation provides a way to extend FOPC 	to this end</a:t>
            </a:r>
          </a:p>
          <a:p>
            <a:pPr lvl="1" algn="l"/>
            <a:r>
              <a:rPr lang="en-US" dirty="0">
                <a:latin typeface="Times New Roman" panose="02020603050405020304" pitchFamily="18" charset="0"/>
                <a:cs typeface="Times New Roman" panose="02020603050405020304" pitchFamily="18" charset="0"/>
              </a:rPr>
              <a:t>	But coming up with rule to rule mappings is hard</a:t>
            </a:r>
          </a:p>
          <a:p>
            <a:r>
              <a:rPr lang="en-US" sz="2400" dirty="0">
                <a:latin typeface="Times New Roman" panose="02020603050405020304" pitchFamily="18" charset="0"/>
                <a:cs typeface="Times New Roman" panose="02020603050405020304" pitchFamily="18" charset="0"/>
              </a:rPr>
              <a:t>Wordnet is a large database of lexical relation for English words</a:t>
            </a:r>
          </a:p>
          <a:p>
            <a:endParaRPr lang="x-none" dirty="0"/>
          </a:p>
        </p:txBody>
      </p:sp>
      <p:pic>
        <p:nvPicPr>
          <p:cNvPr id="4" name="Picture 4" descr="DSpace at Air University Islamabad: Home">
            <a:extLst>
              <a:ext uri="{FF2B5EF4-FFF2-40B4-BE49-F238E27FC236}">
                <a16:creationId xmlns="" xmlns:a16="http://schemas.microsoft.com/office/drawing/2014/main" id="{A726E321-E89E-4DEF-96E3-A2EF59CBFB0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1"/>
            <a:ext cx="914400"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77748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1566</TotalTime>
  <Words>1715</Words>
  <Application>Microsoft Office PowerPoint</Application>
  <PresentationFormat>Widescreen</PresentationFormat>
  <Paragraphs>253</Paragraphs>
  <Slides>32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Algerian</vt:lpstr>
      <vt:lpstr>Arial</vt:lpstr>
      <vt:lpstr>Calibri</vt:lpstr>
      <vt:lpstr>Calibri Light</vt:lpstr>
      <vt:lpstr>Cambria Math</vt:lpstr>
      <vt:lpstr>Courier New</vt:lpstr>
      <vt:lpstr>Times New Roman</vt:lpstr>
      <vt:lpstr>urw-din</vt:lpstr>
      <vt:lpstr>Wingdings</vt:lpstr>
      <vt:lpstr>Office Theme</vt:lpstr>
      <vt:lpstr>Lexical Semantics &amp; Computational Semantics</vt:lpstr>
      <vt:lpstr>Lexical Semantics</vt:lpstr>
      <vt:lpstr>Relations among lexemes and senses:</vt:lpstr>
      <vt:lpstr>Relations among lexemes and their senses </vt:lpstr>
      <vt:lpstr>Relations among lexemes and their senses </vt:lpstr>
      <vt:lpstr>Relations among lexemes and their senses </vt:lpstr>
      <vt:lpstr>Relations among lexemes and their senses</vt:lpstr>
      <vt:lpstr>WordNet </vt:lpstr>
      <vt:lpstr>WordNet</vt:lpstr>
      <vt:lpstr>PowerPoint Presentation</vt:lpstr>
      <vt:lpstr>PowerPoint Presentation</vt:lpstr>
      <vt:lpstr>Semantic Analysis</vt:lpstr>
      <vt:lpstr>Compositional Semantics:</vt:lpstr>
      <vt:lpstr>Syntax- Driven Semantics</vt:lpstr>
      <vt:lpstr>What do we do with them? </vt:lpstr>
      <vt:lpstr>Example</vt:lpstr>
      <vt:lpstr>PowerPoint Presentation</vt:lpstr>
      <vt:lpstr>Lambda Notation</vt:lpstr>
      <vt:lpstr>Cont…</vt:lpstr>
      <vt:lpstr>Cont…</vt:lpstr>
      <vt:lpstr>Cont…</vt:lpstr>
      <vt:lpstr>Option1 (Integrated Semantics Analysis)</vt:lpstr>
      <vt:lpstr>NON- Compositional Language</vt:lpstr>
      <vt:lpstr>Semantic Attachments </vt:lpstr>
      <vt:lpstr>Sentences</vt:lpstr>
      <vt:lpstr>Sentences(Cont...)</vt:lpstr>
      <vt:lpstr>2. Noun Phrases</vt:lpstr>
      <vt:lpstr>2. Noun Phrases</vt:lpstr>
      <vt:lpstr>3.Verb Phrases</vt:lpstr>
      <vt:lpstr>Implementation</vt:lpstr>
      <vt:lpstr>Synonyms And Antonyms</vt:lpstr>
      <vt:lpstr>Summing Up</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Lexical Semantics</dc:title>
  <dc:creator>Rabia Basri</dc:creator>
  <cp:lastModifiedBy>Madiha Javeed</cp:lastModifiedBy>
  <cp:revision>80</cp:revision>
  <dcterms:created xsi:type="dcterms:W3CDTF">2020-12-21T16:18:03Z</dcterms:created>
  <dcterms:modified xsi:type="dcterms:W3CDTF">2020-12-28T10:27:38Z</dcterms:modified>
</cp:coreProperties>
</file>